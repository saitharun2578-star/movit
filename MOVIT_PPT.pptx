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67" r:id="rId2"/>
    <p:sldId id="257" r:id="rId3"/>
    <p:sldId id="258" r:id="rId4"/>
    <p:sldId id="259" r:id="rId5"/>
    <p:sldId id="260" r:id="rId6"/>
    <p:sldId id="261" r:id="rId7"/>
    <p:sldId id="262" r:id="rId8"/>
    <p:sldId id="263" r:id="rId9"/>
    <p:sldId id="264" r:id="rId10"/>
    <p:sldId id="265" r:id="rId11"/>
  </p:sldIdLst>
  <p:sldSz cx="7562850" cy="10688638"/>
  <p:notesSz cx="10688638" cy="7562850"/>
  <p:embeddedFontLst>
    <p:embeddedFont>
      <p:font typeface="IBM Plex Sans" panose="020B0503050203000203" pitchFamily="34" charset="0"/>
      <p:regular r:id="rId13"/>
    </p:embeddedFont>
    <p:embeddedFont>
      <p:font typeface="IBM Plex Sans Bold" panose="020B0604020202020204" charset="0"/>
      <p:regular r:id="rId14"/>
    </p:embeddedFont>
    <p:embeddedFont>
      <p:font typeface="IBM Plex Sans SemiBold" panose="020B0703050203000203" pitchFamily="34" charset="0"/>
      <p:regular r:id="rId15"/>
    </p:embeddedFont>
    <p:embeddedFont>
      <p:font typeface="Newsreader SemiBold" panose="020B0604020202020204" charset="0"/>
      <p:regular r:id="rId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2" d="100"/>
          <a:sy n="62" d="100"/>
        </p:scale>
        <p:origin x="2357"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922660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FBFAF6"/>
        </a:solidFill>
        <a:effectLst/>
      </p:bgPr>
    </p:bg>
    <p:spTree>
      <p:nvGrpSpPr>
        <p:cNvPr id="1" name=""/>
        <p:cNvGrpSpPr/>
        <p:nvPr/>
      </p:nvGrpSpPr>
      <p:grpSpPr>
        <a:xfrm>
          <a:off x="0" y="0"/>
          <a:ext cx="0" cy="0"/>
          <a:chOff x="0" y="0"/>
          <a:chExt cx="0" cy="0"/>
        </a:xfrm>
      </p:grpSpPr>
      <p:pic>
        <p:nvPicPr>
          <p:cNvPr id="2" name="Image 0" descr="preencoded.png">
            <a:hlinkClick r:id="rId2"/>
          </p:cNvPr>
          <p:cNvPicPr>
            <a:picLocks noChangeAspect="1"/>
          </p:cNvPicPr>
          <p:nvPr/>
        </p:nvPicPr>
        <p:blipFill>
          <a:blip r:embed="rId3"/>
          <a:stretch>
            <a:fillRect/>
          </a:stretch>
        </p:blipFill>
        <p:spPr>
          <a:xfrm>
            <a:off x="6447268" y="10390327"/>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gowithmovit.lovable.app"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620086B-EC9D-245A-8857-C7A03486E553}"/>
              </a:ext>
            </a:extLst>
          </p:cNvPr>
          <p:cNvPicPr>
            <a:picLocks noChangeAspect="1"/>
          </p:cNvPicPr>
          <p:nvPr/>
        </p:nvPicPr>
        <p:blipFill>
          <a:blip r:embed="rId2"/>
          <a:stretch>
            <a:fillRect/>
          </a:stretch>
        </p:blipFill>
        <p:spPr>
          <a:xfrm>
            <a:off x="0" y="0"/>
            <a:ext cx="7562850" cy="10688637"/>
          </a:xfrm>
          <a:prstGeom prst="rect">
            <a:avLst/>
          </a:prstGeom>
        </p:spPr>
      </p:pic>
    </p:spTree>
    <p:extLst>
      <p:ext uri="{BB962C8B-B14F-4D97-AF65-F5344CB8AC3E}">
        <p14:creationId xmlns:p14="http://schemas.microsoft.com/office/powerpoint/2010/main" val="38446368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0390" y="193668"/>
            <a:ext cx="773194" cy="171390"/>
          </a:xfrm>
          <a:prstGeom prst="rect">
            <a:avLst/>
          </a:prstGeom>
          <a:noFill/>
          <a:ln/>
        </p:spPr>
        <p:txBody>
          <a:bodyPr wrap="none" lIns="0" tIns="0" rIns="0" bIns="0" rtlCol="0" anchor="ctr"/>
          <a:lstStyle/>
          <a:p>
            <a:pPr marL="0" indent="0" algn="l">
              <a:lnSpc>
                <a:spcPct val="125000"/>
              </a:lnSpc>
              <a:buNone/>
            </a:pPr>
            <a:r>
              <a:rPr lang="en-US" sz="900" kern="100" spc="68" dirty="0">
                <a:solidFill>
                  <a:srgbClr val="2A2E31"/>
                </a:solidFill>
                <a:latin typeface="IBM Plex Sans" pitchFamily="34" charset="0"/>
                <a:ea typeface="IBM Plex Sans" pitchFamily="34" charset="-122"/>
                <a:cs typeface="IBM Plex Sans" pitchFamily="34" charset="-120"/>
              </a:rPr>
              <a:t>MOVIT</a:t>
            </a:r>
            <a:endParaRPr lang="en-US" sz="900" dirty="0"/>
          </a:p>
        </p:txBody>
      </p:sp>
      <p:sp>
        <p:nvSpPr>
          <p:cNvPr id="3" name="Text 1"/>
          <p:cNvSpPr/>
          <p:nvPr/>
        </p:nvSpPr>
        <p:spPr>
          <a:xfrm>
            <a:off x="6506608" y="193668"/>
            <a:ext cx="773194" cy="171390"/>
          </a:xfrm>
          <a:prstGeom prst="rect">
            <a:avLst/>
          </a:prstGeom>
          <a:noFill/>
          <a:ln/>
        </p:spPr>
        <p:txBody>
          <a:bodyPr wrap="none" lIns="0" tIns="0" rIns="0" bIns="0" rtlCol="0" anchor="ctr"/>
          <a:lstStyle/>
          <a:p>
            <a:pPr marL="0" indent="0" algn="l">
              <a:lnSpc>
                <a:spcPct val="125000"/>
              </a:lnSpc>
              <a:buNone/>
            </a:pPr>
            <a:r>
              <a:rPr lang="en-US" sz="900" kern="100" spc="68" dirty="0">
                <a:solidFill>
                  <a:srgbClr val="2A2E31"/>
                </a:solidFill>
                <a:latin typeface="IBM Plex Sans" pitchFamily="34" charset="0"/>
                <a:ea typeface="IBM Plex Sans" pitchFamily="34" charset="-122"/>
                <a:cs typeface="IBM Plex Sans" pitchFamily="34" charset="-120"/>
              </a:rPr>
              <a:t>MOVIT</a:t>
            </a:r>
            <a:endParaRPr lang="en-US" sz="900" dirty="0"/>
          </a:p>
        </p:txBody>
      </p:sp>
      <p:sp>
        <p:nvSpPr>
          <p:cNvPr id="4" name="Shape 2"/>
          <p:cNvSpPr/>
          <p:nvPr/>
        </p:nvSpPr>
        <p:spPr>
          <a:xfrm>
            <a:off x="0" y="549310"/>
            <a:ext cx="7562088" cy="9477"/>
          </a:xfrm>
          <a:prstGeom prst="rect">
            <a:avLst/>
          </a:prstGeom>
          <a:solidFill>
            <a:srgbClr val="2A2E31">
              <a:alpha val="20000"/>
            </a:srgbClr>
          </a:solidFill>
          <a:ln/>
        </p:spPr>
      </p:sp>
      <p:sp>
        <p:nvSpPr>
          <p:cNvPr id="5" name="Text 3"/>
          <p:cNvSpPr/>
          <p:nvPr/>
        </p:nvSpPr>
        <p:spPr>
          <a:xfrm>
            <a:off x="660390" y="1225132"/>
            <a:ext cx="6619412" cy="166652"/>
          </a:xfrm>
          <a:prstGeom prst="rect">
            <a:avLst/>
          </a:prstGeom>
          <a:noFill/>
          <a:ln/>
        </p:spPr>
        <p:txBody>
          <a:bodyPr wrap="none" lIns="0" tIns="0" rIns="0" bIns="0" rtlCol="0" anchor="t"/>
          <a:lstStyle/>
          <a:p>
            <a:pPr marL="0" indent="0" algn="l">
              <a:lnSpc>
                <a:spcPct val="104000"/>
              </a:lnSpc>
              <a:buNone/>
            </a:pPr>
            <a:r>
              <a:rPr lang="en-US" sz="1050" kern="100" spc="79" dirty="0">
                <a:solidFill>
                  <a:srgbClr val="2F7468"/>
                </a:solidFill>
                <a:latin typeface="IBM Plex Sans SemiBold" pitchFamily="34" charset="0"/>
                <a:ea typeface="IBM Plex Sans SemiBold" pitchFamily="34" charset="-122"/>
                <a:cs typeface="IBM Plex Sans SemiBold" pitchFamily="34" charset="-120"/>
              </a:rPr>
              <a:t>01 · ABSTRACT</a:t>
            </a:r>
            <a:endParaRPr lang="en-US" sz="1050" dirty="0"/>
          </a:p>
        </p:txBody>
      </p:sp>
      <p:sp>
        <p:nvSpPr>
          <p:cNvPr id="6" name="Text 4"/>
          <p:cNvSpPr/>
          <p:nvPr/>
        </p:nvSpPr>
        <p:spPr>
          <a:xfrm>
            <a:off x="660390" y="1462017"/>
            <a:ext cx="6241307" cy="350473"/>
          </a:xfrm>
          <a:prstGeom prst="rect">
            <a:avLst/>
          </a:prstGeom>
          <a:noFill/>
          <a:ln/>
        </p:spPr>
        <p:txBody>
          <a:bodyPr wrap="none" lIns="0" tIns="0" rIns="0" bIns="0" rtlCol="0" anchor="t"/>
          <a:lstStyle/>
          <a:p>
            <a:pPr marL="0" indent="0" algn="l">
              <a:lnSpc>
                <a:spcPct val="96000"/>
              </a:lnSpc>
              <a:buNone/>
            </a:pPr>
            <a:r>
              <a:rPr lang="en-US" sz="2400" kern="100" spc="-12" dirty="0">
                <a:solidFill>
                  <a:srgbClr val="173B5C"/>
                </a:solidFill>
                <a:latin typeface="Newsreader SemiBold" pitchFamily="34" charset="0"/>
                <a:ea typeface="Newsreader SemiBold" pitchFamily="34" charset="-122"/>
                <a:cs typeface="Newsreader SemiBold" pitchFamily="34" charset="-120"/>
              </a:rPr>
              <a:t>1. Abstract</a:t>
            </a:r>
            <a:endParaRPr lang="en-US" sz="2400" dirty="0"/>
          </a:p>
        </p:txBody>
      </p:sp>
      <p:sp>
        <p:nvSpPr>
          <p:cNvPr id="7" name="Shape 5"/>
          <p:cNvSpPr/>
          <p:nvPr/>
        </p:nvSpPr>
        <p:spPr>
          <a:xfrm>
            <a:off x="660390" y="2041052"/>
            <a:ext cx="1560296" cy="31509"/>
          </a:xfrm>
          <a:prstGeom prst="roundRect">
            <a:avLst>
              <a:gd name="adj" fmla="val 50000"/>
            </a:avLst>
          </a:prstGeom>
          <a:solidFill>
            <a:srgbClr val="B8581A"/>
          </a:solidFill>
          <a:ln/>
        </p:spPr>
      </p:sp>
      <p:sp>
        <p:nvSpPr>
          <p:cNvPr id="8" name="Text 6"/>
          <p:cNvSpPr/>
          <p:nvPr/>
        </p:nvSpPr>
        <p:spPr>
          <a:xfrm>
            <a:off x="660390" y="2282229"/>
            <a:ext cx="6095949" cy="2228442"/>
          </a:xfrm>
          <a:prstGeom prst="rect">
            <a:avLst/>
          </a:prstGeom>
          <a:noFill/>
          <a:ln/>
        </p:spPr>
        <p:txBody>
          <a:bodyPr wrap="square" lIns="0" tIns="0" rIns="0" bIns="0" rtlCol="0" anchor="t">
            <a:normAutofit/>
          </a:bodyPr>
          <a:lstStyle/>
          <a:p>
            <a:pPr marL="0" indent="0" algn="l">
              <a:lnSpc>
                <a:spcPct val="125000"/>
              </a:lnSpc>
              <a:spcAft>
                <a:spcPts val="1300"/>
              </a:spcAft>
              <a:buNone/>
            </a:pPr>
            <a:r>
              <a:rPr lang="en-US" sz="1200" dirty="0">
                <a:solidFill>
                  <a:srgbClr val="2A2E31"/>
                </a:solidFill>
                <a:latin typeface="IBM Plex Sans" pitchFamily="34" charset="0"/>
                <a:ea typeface="IBM Plex Sans" pitchFamily="34" charset="-122"/>
                <a:cs typeface="IBM Plex Sans" pitchFamily="34" charset="-120"/>
              </a:rPr>
              <a:t>MOVIT is a smart public-transport assistance web application designed to help passengers choose a suitable bus instead of automatically taking the next arriving bus. The prototype brings arrival estimates, delay, crowding, route status, passenger-reported information, and journey requirements into one decision-support experience.</a:t>
            </a:r>
            <a:endParaRPr lang="en-US" sz="1200" dirty="0"/>
          </a:p>
          <a:p>
            <a:pPr marL="0" indent="0" algn="l">
              <a:lnSpc>
                <a:spcPct val="125000"/>
              </a:lnSpc>
              <a:buNone/>
            </a:pPr>
            <a:r>
              <a:rPr lang="en-US" sz="1200" dirty="0">
                <a:solidFill>
                  <a:srgbClr val="2A2E31"/>
                </a:solidFill>
                <a:latin typeface="IBM Plex Sans" pitchFamily="34" charset="0"/>
                <a:ea typeface="IBM Plex Sans" pitchFamily="34" charset="-122"/>
                <a:cs typeface="IBM Plex Sans" pitchFamily="34" charset="-120"/>
              </a:rPr>
              <a:t>When several buses are available, passengers need more than a single arrival time. They need to understand whether waiting a little longer may produce a more reliable or comfortable journey. MOVIT presents upcoming buses within the next 60 minutes and highlights a recommended option, while remaining explicit that the current prototype is not a fully deployed live-GPS system.</a:t>
            </a:r>
            <a:endParaRPr lang="en-US" sz="1200" dirty="0"/>
          </a:p>
        </p:txBody>
      </p:sp>
      <p:sp>
        <p:nvSpPr>
          <p:cNvPr id="9" name="Shape 7"/>
          <p:cNvSpPr/>
          <p:nvPr/>
        </p:nvSpPr>
        <p:spPr>
          <a:xfrm>
            <a:off x="660390" y="4682062"/>
            <a:ext cx="6241307" cy="992033"/>
          </a:xfrm>
          <a:prstGeom prst="rect">
            <a:avLst/>
          </a:prstGeom>
          <a:solidFill>
            <a:srgbClr val="EAF1ED"/>
          </a:solidFill>
          <a:ln/>
        </p:spPr>
      </p:sp>
      <p:sp>
        <p:nvSpPr>
          <p:cNvPr id="10" name="Text 8"/>
          <p:cNvSpPr/>
          <p:nvPr/>
        </p:nvSpPr>
        <p:spPr>
          <a:xfrm>
            <a:off x="914368" y="4916576"/>
            <a:ext cx="5987330" cy="166652"/>
          </a:xfrm>
          <a:prstGeom prst="rect">
            <a:avLst/>
          </a:prstGeom>
          <a:noFill/>
          <a:ln/>
        </p:spPr>
        <p:txBody>
          <a:bodyPr wrap="none" lIns="0" tIns="0" rIns="0" bIns="0" rtlCol="0" anchor="t"/>
          <a:lstStyle/>
          <a:p>
            <a:pPr marL="0" indent="0" algn="l">
              <a:lnSpc>
                <a:spcPct val="104000"/>
              </a:lnSpc>
              <a:buNone/>
            </a:pPr>
            <a:r>
              <a:rPr lang="en-US" sz="1050" kern="100" spc="79" dirty="0">
                <a:solidFill>
                  <a:srgbClr val="000000"/>
                </a:solidFill>
                <a:latin typeface="IBM Plex Sans SemiBold" pitchFamily="34" charset="0"/>
                <a:ea typeface="IBM Plex Sans SemiBold" pitchFamily="34" charset="-122"/>
                <a:cs typeface="IBM Plex Sans SemiBold" pitchFamily="34" charset="-120"/>
              </a:rPr>
              <a:t>CENTRAL PHILOSOPHY</a:t>
            </a:r>
            <a:endParaRPr lang="en-US" sz="1050" dirty="0"/>
          </a:p>
        </p:txBody>
      </p:sp>
      <p:sp>
        <p:nvSpPr>
          <p:cNvPr id="11" name="Text 9"/>
          <p:cNvSpPr/>
          <p:nvPr/>
        </p:nvSpPr>
        <p:spPr>
          <a:xfrm>
            <a:off x="914368" y="5188355"/>
            <a:ext cx="5987330" cy="257178"/>
          </a:xfrm>
          <a:prstGeom prst="rect">
            <a:avLst/>
          </a:prstGeom>
          <a:noFill/>
          <a:ln/>
        </p:spPr>
        <p:txBody>
          <a:bodyPr wrap="none" lIns="0" tIns="0" rIns="0" bIns="0" rtlCol="0" anchor="t"/>
          <a:lstStyle/>
          <a:p>
            <a:pPr marL="0" indent="0" algn="l">
              <a:lnSpc>
                <a:spcPct val="125000"/>
              </a:lnSpc>
              <a:buNone/>
            </a:pPr>
            <a:r>
              <a:rPr lang="en-US" sz="1350" b="1" dirty="0">
                <a:solidFill>
                  <a:srgbClr val="000000"/>
                </a:solidFill>
                <a:latin typeface="IBM Plex Sans Bold" pitchFamily="34" charset="0"/>
                <a:ea typeface="IBM Plex Sans Bold" pitchFamily="34" charset="-122"/>
                <a:cs typeface="IBM Plex Sans Bold" pitchFamily="34" charset="-120"/>
              </a:rPr>
              <a:t>“The right bus. Not just the next bus.”</a:t>
            </a:r>
            <a:endParaRPr lang="en-US" sz="1350" dirty="0"/>
          </a:p>
        </p:txBody>
      </p:sp>
      <p:sp>
        <p:nvSpPr>
          <p:cNvPr id="12" name="Text 10"/>
          <p:cNvSpPr/>
          <p:nvPr/>
        </p:nvSpPr>
        <p:spPr>
          <a:xfrm>
            <a:off x="660390" y="5845770"/>
            <a:ext cx="6619412" cy="189360"/>
          </a:xfrm>
          <a:prstGeom prst="rect">
            <a:avLst/>
          </a:prstGeom>
          <a:noFill/>
          <a:ln/>
        </p:spPr>
        <p:txBody>
          <a:bodyPr wrap="none" lIns="0" tIns="0" rIns="0" bIns="0" rtlCol="0" anchor="t"/>
          <a:lstStyle/>
          <a:p>
            <a:pPr marL="0" indent="0" algn="l">
              <a:lnSpc>
                <a:spcPct val="118000"/>
              </a:lnSpc>
              <a:buNone/>
            </a:pPr>
            <a:r>
              <a:rPr lang="en-US" sz="1050" b="1" dirty="0">
                <a:solidFill>
                  <a:srgbClr val="173B5C"/>
                </a:solidFill>
                <a:latin typeface="IBM Plex Sans Bold" pitchFamily="34" charset="0"/>
                <a:ea typeface="IBM Plex Sans Bold" pitchFamily="34" charset="-122"/>
                <a:cs typeface="IBM Plex Sans Bold" pitchFamily="34" charset="-120"/>
              </a:rPr>
              <a:t>Table 1.</a:t>
            </a:r>
            <a:r>
              <a:rPr lang="en-US" sz="1050" dirty="0">
                <a:solidFill>
                  <a:srgbClr val="5F6361"/>
                </a:solidFill>
                <a:latin typeface="IBM Plex Sans" pitchFamily="34" charset="0"/>
                <a:ea typeface="IBM Plex Sans" pitchFamily="34" charset="-122"/>
                <a:cs typeface="IBM Plex Sans" pitchFamily="34" charset="-120"/>
              </a:rPr>
              <a:t> Project at a glance</a:t>
            </a:r>
            <a:endParaRPr lang="en-US" sz="10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60390" y="6206235"/>
          <a:ext cx="6241308" cy="3074742"/>
        </p:xfrm>
        <a:graphic>
          <a:graphicData uri="http://schemas.openxmlformats.org/drawingml/2006/table">
            <a:tbl>
              <a:tblPr/>
              <a:tblGrid>
                <a:gridCol w="1872368">
                  <a:extLst>
                    <a:ext uri="{9D8B030D-6E8A-4147-A177-3AD203B41FA5}">
                      <a16:colId xmlns:a16="http://schemas.microsoft.com/office/drawing/2014/main" val="20000"/>
                    </a:ext>
                  </a:extLst>
                </a:gridCol>
                <a:gridCol w="4368940">
                  <a:extLst>
                    <a:ext uri="{9D8B030D-6E8A-4147-A177-3AD203B41FA5}">
                      <a16:colId xmlns:a16="http://schemas.microsoft.com/office/drawing/2014/main" val="20001"/>
                    </a:ext>
                  </a:extLst>
                </a:gridCol>
              </a:tblGrid>
              <a:tr h="345180">
                <a:tc>
                  <a:txBody>
                    <a:bodyPr/>
                    <a:lstStyle/>
                    <a:p>
                      <a:pPr marL="0" indent="0" algn="l">
                        <a:buNone/>
                      </a:pPr>
                      <a:r>
                        <a:rPr lang="en-US" sz="950" kern="100" spc="47" dirty="0">
                          <a:solidFill>
                            <a:srgbClr val="173B5C"/>
                          </a:solidFill>
                          <a:latin typeface="IBM Plex Sans" pitchFamily="34" charset="0"/>
                          <a:ea typeface="IBM Plex Sans" pitchFamily="34" charset="-122"/>
                          <a:cs typeface="IBM Plex Sans" pitchFamily="34" charset="-120"/>
                        </a:rPr>
                        <a:t>ITEM</a:t>
                      </a:r>
                      <a:endParaRPr lang="en-US" sz="950" dirty="0">
                        <a:latin typeface="IBM Plex Sans" charset="0"/>
                        <a:ea typeface="IBM Plex Sans" charset="0"/>
                        <a:cs typeface="IBM Plex Sans" charset="0"/>
                      </a:endParaRPr>
                    </a:p>
                  </a:txBody>
                  <a:tcPr marL="90488" marR="90488" marT="76200" marB="76200" anchor="ctr">
                    <a:lnL w="12700" cap="flat" cmpd="sng" algn="ctr">
                      <a:solidFill>
                        <a:srgbClr val="FBFAF6"/>
                      </a:solidFill>
                      <a:prstDash val="solid"/>
                      <a:round/>
                      <a:headEnd type="none" w="med" len="med"/>
                      <a:tailEnd type="none" w="med" len="med"/>
                    </a:lnL>
                    <a:lnR w="12700" cap="flat" cmpd="sng" algn="ctr">
                      <a:solidFill>
                        <a:srgbClr val="FBFAF6"/>
                      </a:solidFill>
                      <a:prstDash val="solid"/>
                      <a:round/>
                      <a:headEnd type="none" w="med" len="med"/>
                      <a:tailEnd type="none" w="med" len="med"/>
                    </a:lnR>
                    <a:lnT w="12700" cap="flat" cmpd="sng" algn="ctr">
                      <a:solidFill>
                        <a:srgbClr val="FBFAF6"/>
                      </a:solidFill>
                      <a:prstDash val="solid"/>
                      <a:round/>
                      <a:headEnd type="none" w="med" len="med"/>
                      <a:tailEnd type="none" w="med" len="med"/>
                    </a:lnT>
                    <a:lnB w="12700" cap="flat" cmpd="sng" algn="ctr">
                      <a:solidFill>
                        <a:srgbClr val="173B5C"/>
                      </a:solidFill>
                      <a:prstDash val="solid"/>
                      <a:round/>
                      <a:headEnd type="none" w="med" len="med"/>
                      <a:tailEnd type="none" w="med" len="med"/>
                    </a:lnB>
                  </a:tcPr>
                </a:tc>
                <a:tc>
                  <a:txBody>
                    <a:bodyPr/>
                    <a:lstStyle/>
                    <a:p>
                      <a:pPr marL="0" indent="0" algn="l">
                        <a:buNone/>
                      </a:pPr>
                      <a:r>
                        <a:rPr lang="en-US" sz="950" kern="100" spc="47" dirty="0">
                          <a:solidFill>
                            <a:srgbClr val="173B5C"/>
                          </a:solidFill>
                          <a:latin typeface="IBM Plex Sans" pitchFamily="34" charset="0"/>
                          <a:ea typeface="IBM Plex Sans" pitchFamily="34" charset="-122"/>
                          <a:cs typeface="IBM Plex Sans" pitchFamily="34" charset="-120"/>
                        </a:rPr>
                        <a:t>DESCRIPTION</a:t>
                      </a:r>
                      <a:endParaRPr lang="en-US" sz="950" dirty="0">
                        <a:latin typeface="IBM Plex Sans" charset="0"/>
                        <a:ea typeface="IBM Plex Sans" charset="0"/>
                        <a:cs typeface="IBM Plex Sans" charset="0"/>
                      </a:endParaRPr>
                    </a:p>
                  </a:txBody>
                  <a:tcPr marL="90488" marR="90488" marT="76200" marB="76200" anchor="ctr">
                    <a:lnL w="12700" cap="flat" cmpd="sng" algn="ctr">
                      <a:solidFill>
                        <a:srgbClr val="FBFAF6"/>
                      </a:solidFill>
                      <a:prstDash val="solid"/>
                      <a:round/>
                      <a:headEnd type="none" w="med" len="med"/>
                      <a:tailEnd type="none" w="med" len="med"/>
                    </a:lnL>
                    <a:lnR w="12700" cap="flat" cmpd="sng" algn="ctr">
                      <a:solidFill>
                        <a:srgbClr val="FBFAF6"/>
                      </a:solidFill>
                      <a:prstDash val="solid"/>
                      <a:round/>
                      <a:headEnd type="none" w="med" len="med"/>
                      <a:tailEnd type="none" w="med" len="med"/>
                    </a:lnR>
                    <a:lnT w="12700" cap="flat" cmpd="sng" algn="ctr">
                      <a:solidFill>
                        <a:srgbClr val="FBFAF6"/>
                      </a:solidFill>
                      <a:prstDash val="solid"/>
                      <a:round/>
                      <a:headEnd type="none" w="med" len="med"/>
                      <a:tailEnd type="none" w="med" len="med"/>
                    </a:lnT>
                    <a:lnB w="12700" cap="flat" cmpd="sng" algn="ctr">
                      <a:solidFill>
                        <a:srgbClr val="173B5C"/>
                      </a:solidFill>
                      <a:prstDash val="solid"/>
                      <a:round/>
                      <a:headEnd type="none" w="med" len="med"/>
                      <a:tailEnd type="none" w="med" len="med"/>
                    </a:lnB>
                  </a:tcPr>
                </a:tc>
                <a:extLst>
                  <a:ext uri="{0D108BD9-81ED-4DB2-BD59-A6C34878D82A}">
                    <a16:rowId xmlns:a16="http://schemas.microsoft.com/office/drawing/2014/main" val="10000"/>
                  </a:ext>
                </a:extLst>
              </a:tr>
              <a:tr h="388812">
                <a:tc>
                  <a:txBody>
                    <a:bodyPr/>
                    <a:lstStyle/>
                    <a:p>
                      <a:pPr marL="0" indent="0" algn="l">
                        <a:buNone/>
                      </a:pPr>
                      <a:r>
                        <a:rPr lang="en-US" sz="1200" dirty="0">
                          <a:solidFill>
                            <a:srgbClr val="2A2E31"/>
                          </a:solidFill>
                          <a:latin typeface="IBM Plex Sans" pitchFamily="34" charset="0"/>
                          <a:ea typeface="IBM Plex Sans" pitchFamily="34" charset="-122"/>
                          <a:cs typeface="IBM Plex Sans" pitchFamily="34" charset="-120"/>
                        </a:rPr>
                        <a:t>Project Name</a:t>
                      </a:r>
                      <a:endParaRPr lang="en-US" sz="1200" dirty="0">
                        <a:latin typeface="IBM Plex Sans" charset="0"/>
                        <a:ea typeface="IBM Plex Sans" charset="0"/>
                        <a:cs typeface="IBM Plex Sans" charset="0"/>
                      </a:endParaRPr>
                    </a:p>
                  </a:txBody>
                  <a:tcPr marL="114300" marR="114300" marT="76200" marB="76200" anchor="ctr">
                    <a:lnL w="12700" cap="flat" cmpd="sng" algn="ctr">
                      <a:solidFill>
                        <a:srgbClr val="FBFAF6"/>
                      </a:solidFill>
                      <a:prstDash val="solid"/>
                      <a:round/>
                      <a:headEnd type="none" w="med" len="med"/>
                      <a:tailEnd type="none" w="med" len="med"/>
                    </a:lnL>
                    <a:lnR w="12700" cap="flat" cmpd="sng" algn="ctr">
                      <a:solidFill>
                        <a:srgbClr val="FBFAF6"/>
                      </a:solidFill>
                      <a:prstDash val="solid"/>
                      <a:round/>
                      <a:headEnd type="none" w="med" len="med"/>
                      <a:tailEnd type="none" w="med" len="med"/>
                    </a:lnR>
                    <a:lnT w="12700" cap="flat" cmpd="sng" algn="ctr">
                      <a:solidFill>
                        <a:srgbClr val="173B5C"/>
                      </a:solidFill>
                      <a:prstDash val="solid"/>
                      <a:round/>
                      <a:headEnd type="none" w="med" len="med"/>
                      <a:tailEnd type="none" w="med" len="med"/>
                    </a:lnT>
                    <a:lnB w="12700" cap="flat" cmpd="sng" algn="ctr">
                      <a:solidFill>
                        <a:srgbClr val="173B5C"/>
                      </a:solidFill>
                      <a:prstDash val="solid"/>
                      <a:round/>
                      <a:headEnd type="none" w="med" len="med"/>
                      <a:tailEnd type="none" w="med" len="med"/>
                    </a:lnB>
                  </a:tcPr>
                </a:tc>
                <a:tc>
                  <a:txBody>
                    <a:bodyPr/>
                    <a:lstStyle/>
                    <a:p>
                      <a:pPr marL="0" indent="0" algn="l">
                        <a:buNone/>
                      </a:pPr>
                      <a:r>
                        <a:rPr lang="en-US" sz="1200" dirty="0">
                          <a:solidFill>
                            <a:srgbClr val="2A2E31"/>
                          </a:solidFill>
                          <a:latin typeface="IBM Plex Sans" pitchFamily="34" charset="0"/>
                          <a:ea typeface="IBM Plex Sans" pitchFamily="34" charset="-122"/>
                          <a:cs typeface="IBM Plex Sans" pitchFamily="34" charset="-120"/>
                        </a:rPr>
                        <a:t>MOVIT</a:t>
                      </a:r>
                      <a:endParaRPr lang="en-US" sz="1200" dirty="0">
                        <a:latin typeface="IBM Plex Sans" charset="0"/>
                        <a:ea typeface="IBM Plex Sans" charset="0"/>
                        <a:cs typeface="IBM Plex Sans" charset="0"/>
                      </a:endParaRPr>
                    </a:p>
                  </a:txBody>
                  <a:tcPr marL="114300" marR="114300" marT="76200" marB="76200" anchor="ctr">
                    <a:lnL w="12700" cap="flat" cmpd="sng" algn="ctr">
                      <a:solidFill>
                        <a:srgbClr val="FBFAF6"/>
                      </a:solidFill>
                      <a:prstDash val="solid"/>
                      <a:round/>
                      <a:headEnd type="none" w="med" len="med"/>
                      <a:tailEnd type="none" w="med" len="med"/>
                    </a:lnL>
                    <a:lnR w="12700" cap="flat" cmpd="sng" algn="ctr">
                      <a:solidFill>
                        <a:srgbClr val="FBFAF6"/>
                      </a:solidFill>
                      <a:prstDash val="solid"/>
                      <a:round/>
                      <a:headEnd type="none" w="med" len="med"/>
                      <a:tailEnd type="none" w="med" len="med"/>
                    </a:lnR>
                    <a:lnT w="12700" cap="flat" cmpd="sng" algn="ctr">
                      <a:solidFill>
                        <a:srgbClr val="173B5C"/>
                      </a:solidFill>
                      <a:prstDash val="solid"/>
                      <a:round/>
                      <a:headEnd type="none" w="med" len="med"/>
                      <a:tailEnd type="none" w="med" len="med"/>
                    </a:lnT>
                    <a:lnB w="12700" cap="flat" cmpd="sng" algn="ctr">
                      <a:solidFill>
                        <a:srgbClr val="173B5C"/>
                      </a:solidFill>
                      <a:prstDash val="solid"/>
                      <a:round/>
                      <a:headEnd type="none" w="med" len="med"/>
                      <a:tailEnd type="none" w="med" len="med"/>
                    </a:lnB>
                  </a:tcPr>
                </a:tc>
                <a:extLst>
                  <a:ext uri="{0D108BD9-81ED-4DB2-BD59-A6C34878D82A}">
                    <a16:rowId xmlns:a16="http://schemas.microsoft.com/office/drawing/2014/main" val="10001"/>
                  </a:ext>
                </a:extLst>
              </a:tr>
              <a:tr h="388812">
                <a:tc>
                  <a:txBody>
                    <a:bodyPr/>
                    <a:lstStyle/>
                    <a:p>
                      <a:pPr marL="0" indent="0" algn="l">
                        <a:buNone/>
                      </a:pPr>
                      <a:r>
                        <a:rPr lang="en-US" sz="1200" dirty="0">
                          <a:solidFill>
                            <a:srgbClr val="2A2E31"/>
                          </a:solidFill>
                          <a:latin typeface="IBM Plex Sans" pitchFamily="34" charset="0"/>
                          <a:ea typeface="IBM Plex Sans" pitchFamily="34" charset="-122"/>
                          <a:cs typeface="IBM Plex Sans" pitchFamily="34" charset="-120"/>
                        </a:rPr>
                        <a:t>Application Type</a:t>
                      </a:r>
                      <a:endParaRPr lang="en-US" sz="1200" dirty="0">
                        <a:latin typeface="IBM Plex Sans" charset="0"/>
                        <a:ea typeface="IBM Plex Sans" charset="0"/>
                        <a:cs typeface="IBM Plex Sans" charset="0"/>
                      </a:endParaRPr>
                    </a:p>
                  </a:txBody>
                  <a:tcPr marL="114300" marR="114300" marT="76200" marB="76200" anchor="ctr">
                    <a:lnL w="12700" cap="flat" cmpd="sng" algn="ctr">
                      <a:solidFill>
                        <a:srgbClr val="FBFAF6"/>
                      </a:solidFill>
                      <a:prstDash val="solid"/>
                      <a:round/>
                      <a:headEnd type="none" w="med" len="med"/>
                      <a:tailEnd type="none" w="med" len="med"/>
                    </a:lnL>
                    <a:lnR w="12700" cap="flat" cmpd="sng" algn="ctr">
                      <a:solidFill>
                        <a:srgbClr val="FBFAF6"/>
                      </a:solidFill>
                      <a:prstDash val="solid"/>
                      <a:round/>
                      <a:headEnd type="none" w="med" len="med"/>
                      <a:tailEnd type="none" w="med" len="med"/>
                    </a:lnR>
                    <a:lnT w="12700" cap="flat" cmpd="sng" algn="ctr">
                      <a:solidFill>
                        <a:srgbClr val="173B5C"/>
                      </a:solidFill>
                      <a:prstDash val="solid"/>
                      <a:round/>
                      <a:headEnd type="none" w="med" len="med"/>
                      <a:tailEnd type="none" w="med" len="med"/>
                    </a:lnT>
                    <a:lnB w="12700" cap="flat" cmpd="sng" algn="ctr">
                      <a:solidFill>
                        <a:srgbClr val="173B5C"/>
                      </a:solidFill>
                      <a:prstDash val="solid"/>
                      <a:round/>
                      <a:headEnd type="none" w="med" len="med"/>
                      <a:tailEnd type="none" w="med" len="med"/>
                    </a:lnB>
                  </a:tcPr>
                </a:tc>
                <a:tc>
                  <a:txBody>
                    <a:bodyPr/>
                    <a:lstStyle/>
                    <a:p>
                      <a:pPr marL="0" indent="0" algn="l">
                        <a:buNone/>
                      </a:pPr>
                      <a:r>
                        <a:rPr lang="en-US" sz="1200" dirty="0">
                          <a:solidFill>
                            <a:srgbClr val="2A2E31"/>
                          </a:solidFill>
                          <a:latin typeface="IBM Plex Sans" pitchFamily="34" charset="0"/>
                          <a:ea typeface="IBM Plex Sans" pitchFamily="34" charset="-122"/>
                          <a:cs typeface="IBM Plex Sans" pitchFamily="34" charset="-120"/>
                        </a:rPr>
                        <a:t>Web Application</a:t>
                      </a:r>
                      <a:endParaRPr lang="en-US" sz="1200" dirty="0">
                        <a:latin typeface="IBM Plex Sans" charset="0"/>
                        <a:ea typeface="IBM Plex Sans" charset="0"/>
                        <a:cs typeface="IBM Plex Sans" charset="0"/>
                      </a:endParaRPr>
                    </a:p>
                  </a:txBody>
                  <a:tcPr marL="114300" marR="114300" marT="76200" marB="76200" anchor="ctr">
                    <a:lnL w="12700" cap="flat" cmpd="sng" algn="ctr">
                      <a:solidFill>
                        <a:srgbClr val="FBFAF6"/>
                      </a:solidFill>
                      <a:prstDash val="solid"/>
                      <a:round/>
                      <a:headEnd type="none" w="med" len="med"/>
                      <a:tailEnd type="none" w="med" len="med"/>
                    </a:lnL>
                    <a:lnR w="12700" cap="flat" cmpd="sng" algn="ctr">
                      <a:solidFill>
                        <a:srgbClr val="FBFAF6"/>
                      </a:solidFill>
                      <a:prstDash val="solid"/>
                      <a:round/>
                      <a:headEnd type="none" w="med" len="med"/>
                      <a:tailEnd type="none" w="med" len="med"/>
                    </a:lnR>
                    <a:lnT w="12700" cap="flat" cmpd="sng" algn="ctr">
                      <a:solidFill>
                        <a:srgbClr val="173B5C"/>
                      </a:solidFill>
                      <a:prstDash val="solid"/>
                      <a:round/>
                      <a:headEnd type="none" w="med" len="med"/>
                      <a:tailEnd type="none" w="med" len="med"/>
                    </a:lnT>
                    <a:lnB w="12700" cap="flat" cmpd="sng" algn="ctr">
                      <a:solidFill>
                        <a:srgbClr val="173B5C"/>
                      </a:solidFill>
                      <a:prstDash val="solid"/>
                      <a:round/>
                      <a:headEnd type="none" w="med" len="med"/>
                      <a:tailEnd type="none" w="med" len="med"/>
                    </a:lnB>
                  </a:tcPr>
                </a:tc>
                <a:extLst>
                  <a:ext uri="{0D108BD9-81ED-4DB2-BD59-A6C34878D82A}">
                    <a16:rowId xmlns:a16="http://schemas.microsoft.com/office/drawing/2014/main" val="10002"/>
                  </a:ext>
                </a:extLst>
              </a:tr>
              <a:tr h="388812">
                <a:tc>
                  <a:txBody>
                    <a:bodyPr/>
                    <a:lstStyle/>
                    <a:p>
                      <a:pPr marL="0" indent="0" algn="l">
                        <a:buNone/>
                      </a:pPr>
                      <a:r>
                        <a:rPr lang="en-US" sz="1200" dirty="0">
                          <a:solidFill>
                            <a:srgbClr val="2A2E31"/>
                          </a:solidFill>
                          <a:latin typeface="IBM Plex Sans" pitchFamily="34" charset="0"/>
                          <a:ea typeface="IBM Plex Sans" pitchFamily="34" charset="-122"/>
                          <a:cs typeface="IBM Plex Sans" pitchFamily="34" charset="-120"/>
                        </a:rPr>
                        <a:t>Domain</a:t>
                      </a:r>
                      <a:endParaRPr lang="en-US" sz="1200" dirty="0">
                        <a:latin typeface="IBM Plex Sans" charset="0"/>
                        <a:ea typeface="IBM Plex Sans" charset="0"/>
                        <a:cs typeface="IBM Plex Sans" charset="0"/>
                      </a:endParaRPr>
                    </a:p>
                  </a:txBody>
                  <a:tcPr marL="114300" marR="114300" marT="76200" marB="76200" anchor="ctr">
                    <a:lnL w="12700" cap="flat" cmpd="sng" algn="ctr">
                      <a:solidFill>
                        <a:srgbClr val="FBFAF6"/>
                      </a:solidFill>
                      <a:prstDash val="solid"/>
                      <a:round/>
                      <a:headEnd type="none" w="med" len="med"/>
                      <a:tailEnd type="none" w="med" len="med"/>
                    </a:lnL>
                    <a:lnR w="12700" cap="flat" cmpd="sng" algn="ctr">
                      <a:solidFill>
                        <a:srgbClr val="FBFAF6"/>
                      </a:solidFill>
                      <a:prstDash val="solid"/>
                      <a:round/>
                      <a:headEnd type="none" w="med" len="med"/>
                      <a:tailEnd type="none" w="med" len="med"/>
                    </a:lnR>
                    <a:lnT w="12700" cap="flat" cmpd="sng" algn="ctr">
                      <a:solidFill>
                        <a:srgbClr val="173B5C"/>
                      </a:solidFill>
                      <a:prstDash val="solid"/>
                      <a:round/>
                      <a:headEnd type="none" w="med" len="med"/>
                      <a:tailEnd type="none" w="med" len="med"/>
                    </a:lnT>
                    <a:lnB w="12700" cap="flat" cmpd="sng" algn="ctr">
                      <a:solidFill>
                        <a:srgbClr val="173B5C"/>
                      </a:solidFill>
                      <a:prstDash val="solid"/>
                      <a:round/>
                      <a:headEnd type="none" w="med" len="med"/>
                      <a:tailEnd type="none" w="med" len="med"/>
                    </a:lnB>
                  </a:tcPr>
                </a:tc>
                <a:tc>
                  <a:txBody>
                    <a:bodyPr/>
                    <a:lstStyle/>
                    <a:p>
                      <a:pPr marL="0" indent="0" algn="l">
                        <a:buNone/>
                      </a:pPr>
                      <a:r>
                        <a:rPr lang="en-US" sz="1200" dirty="0">
                          <a:solidFill>
                            <a:srgbClr val="2A2E31"/>
                          </a:solidFill>
                          <a:latin typeface="IBM Plex Sans" pitchFamily="34" charset="0"/>
                          <a:ea typeface="IBM Plex Sans" pitchFamily="34" charset="-122"/>
                          <a:cs typeface="IBM Plex Sans" pitchFamily="34" charset="-120"/>
                        </a:rPr>
                        <a:t>Smart Transportation</a:t>
                      </a:r>
                      <a:endParaRPr lang="en-US" sz="1200" dirty="0">
                        <a:latin typeface="IBM Plex Sans" charset="0"/>
                        <a:ea typeface="IBM Plex Sans" charset="0"/>
                        <a:cs typeface="IBM Plex Sans" charset="0"/>
                      </a:endParaRPr>
                    </a:p>
                  </a:txBody>
                  <a:tcPr marL="114300" marR="114300" marT="76200" marB="76200" anchor="ctr">
                    <a:lnL w="12700" cap="flat" cmpd="sng" algn="ctr">
                      <a:solidFill>
                        <a:srgbClr val="FBFAF6"/>
                      </a:solidFill>
                      <a:prstDash val="solid"/>
                      <a:round/>
                      <a:headEnd type="none" w="med" len="med"/>
                      <a:tailEnd type="none" w="med" len="med"/>
                    </a:lnL>
                    <a:lnR w="12700" cap="flat" cmpd="sng" algn="ctr">
                      <a:solidFill>
                        <a:srgbClr val="FBFAF6"/>
                      </a:solidFill>
                      <a:prstDash val="solid"/>
                      <a:round/>
                      <a:headEnd type="none" w="med" len="med"/>
                      <a:tailEnd type="none" w="med" len="med"/>
                    </a:lnR>
                    <a:lnT w="12700" cap="flat" cmpd="sng" algn="ctr">
                      <a:solidFill>
                        <a:srgbClr val="173B5C"/>
                      </a:solidFill>
                      <a:prstDash val="solid"/>
                      <a:round/>
                      <a:headEnd type="none" w="med" len="med"/>
                      <a:tailEnd type="none" w="med" len="med"/>
                    </a:lnT>
                    <a:lnB w="12700" cap="flat" cmpd="sng" algn="ctr">
                      <a:solidFill>
                        <a:srgbClr val="173B5C"/>
                      </a:solidFill>
                      <a:prstDash val="solid"/>
                      <a:round/>
                      <a:headEnd type="none" w="med" len="med"/>
                      <a:tailEnd type="none" w="med" len="med"/>
                    </a:lnB>
                  </a:tcPr>
                </a:tc>
                <a:extLst>
                  <a:ext uri="{0D108BD9-81ED-4DB2-BD59-A6C34878D82A}">
                    <a16:rowId xmlns:a16="http://schemas.microsoft.com/office/drawing/2014/main" val="10003"/>
                  </a:ext>
                </a:extLst>
              </a:tr>
              <a:tr h="388812">
                <a:tc>
                  <a:txBody>
                    <a:bodyPr/>
                    <a:lstStyle/>
                    <a:p>
                      <a:pPr marL="0" indent="0" algn="l">
                        <a:buNone/>
                      </a:pPr>
                      <a:r>
                        <a:rPr lang="en-US" sz="1200" dirty="0">
                          <a:solidFill>
                            <a:srgbClr val="2A2E31"/>
                          </a:solidFill>
                          <a:latin typeface="IBM Plex Sans" pitchFamily="34" charset="0"/>
                          <a:ea typeface="IBM Plex Sans" pitchFamily="34" charset="-122"/>
                          <a:cs typeface="IBM Plex Sans" pitchFamily="34" charset="-120"/>
                        </a:rPr>
                        <a:t>Primary Users</a:t>
                      </a:r>
                      <a:endParaRPr lang="en-US" sz="1200" dirty="0">
                        <a:latin typeface="IBM Plex Sans" charset="0"/>
                        <a:ea typeface="IBM Plex Sans" charset="0"/>
                        <a:cs typeface="IBM Plex Sans" charset="0"/>
                      </a:endParaRPr>
                    </a:p>
                  </a:txBody>
                  <a:tcPr marL="114300" marR="114300" marT="76200" marB="76200" anchor="ctr">
                    <a:lnL w="12700" cap="flat" cmpd="sng" algn="ctr">
                      <a:solidFill>
                        <a:srgbClr val="FBFAF6"/>
                      </a:solidFill>
                      <a:prstDash val="solid"/>
                      <a:round/>
                      <a:headEnd type="none" w="med" len="med"/>
                      <a:tailEnd type="none" w="med" len="med"/>
                    </a:lnL>
                    <a:lnR w="12700" cap="flat" cmpd="sng" algn="ctr">
                      <a:solidFill>
                        <a:srgbClr val="FBFAF6"/>
                      </a:solidFill>
                      <a:prstDash val="solid"/>
                      <a:round/>
                      <a:headEnd type="none" w="med" len="med"/>
                      <a:tailEnd type="none" w="med" len="med"/>
                    </a:lnR>
                    <a:lnT w="12700" cap="flat" cmpd="sng" algn="ctr">
                      <a:solidFill>
                        <a:srgbClr val="173B5C"/>
                      </a:solidFill>
                      <a:prstDash val="solid"/>
                      <a:round/>
                      <a:headEnd type="none" w="med" len="med"/>
                      <a:tailEnd type="none" w="med" len="med"/>
                    </a:lnT>
                    <a:lnB w="12700" cap="flat" cmpd="sng" algn="ctr">
                      <a:solidFill>
                        <a:srgbClr val="173B5C"/>
                      </a:solidFill>
                      <a:prstDash val="solid"/>
                      <a:round/>
                      <a:headEnd type="none" w="med" len="med"/>
                      <a:tailEnd type="none" w="med" len="med"/>
                    </a:lnB>
                  </a:tcPr>
                </a:tc>
                <a:tc>
                  <a:txBody>
                    <a:bodyPr/>
                    <a:lstStyle/>
                    <a:p>
                      <a:pPr marL="0" indent="0" algn="l">
                        <a:buNone/>
                      </a:pPr>
                      <a:r>
                        <a:rPr lang="en-US" sz="1200" dirty="0">
                          <a:solidFill>
                            <a:srgbClr val="2A2E31"/>
                          </a:solidFill>
                          <a:latin typeface="IBM Plex Sans" pitchFamily="34" charset="0"/>
                          <a:ea typeface="IBM Plex Sans" pitchFamily="34" charset="-122"/>
                          <a:cs typeface="IBM Plex Sans" pitchFamily="34" charset="-120"/>
                        </a:rPr>
                        <a:t>Daily Public Transport Passengers</a:t>
                      </a:r>
                      <a:endParaRPr lang="en-US" sz="1200" dirty="0">
                        <a:latin typeface="IBM Plex Sans" charset="0"/>
                        <a:ea typeface="IBM Plex Sans" charset="0"/>
                        <a:cs typeface="IBM Plex Sans" charset="0"/>
                      </a:endParaRPr>
                    </a:p>
                  </a:txBody>
                  <a:tcPr marL="114300" marR="114300" marT="76200" marB="76200" anchor="ctr">
                    <a:lnL w="12700" cap="flat" cmpd="sng" algn="ctr">
                      <a:solidFill>
                        <a:srgbClr val="FBFAF6"/>
                      </a:solidFill>
                      <a:prstDash val="solid"/>
                      <a:round/>
                      <a:headEnd type="none" w="med" len="med"/>
                      <a:tailEnd type="none" w="med" len="med"/>
                    </a:lnL>
                    <a:lnR w="12700" cap="flat" cmpd="sng" algn="ctr">
                      <a:solidFill>
                        <a:srgbClr val="FBFAF6"/>
                      </a:solidFill>
                      <a:prstDash val="solid"/>
                      <a:round/>
                      <a:headEnd type="none" w="med" len="med"/>
                      <a:tailEnd type="none" w="med" len="med"/>
                    </a:lnR>
                    <a:lnT w="12700" cap="flat" cmpd="sng" algn="ctr">
                      <a:solidFill>
                        <a:srgbClr val="173B5C"/>
                      </a:solidFill>
                      <a:prstDash val="solid"/>
                      <a:round/>
                      <a:headEnd type="none" w="med" len="med"/>
                      <a:tailEnd type="none" w="med" len="med"/>
                    </a:lnT>
                    <a:lnB w="12700" cap="flat" cmpd="sng" algn="ctr">
                      <a:solidFill>
                        <a:srgbClr val="173B5C"/>
                      </a:solidFill>
                      <a:prstDash val="solid"/>
                      <a:round/>
                      <a:headEnd type="none" w="med" len="med"/>
                      <a:tailEnd type="none" w="med" len="med"/>
                    </a:lnB>
                  </a:tcPr>
                </a:tc>
                <a:extLst>
                  <a:ext uri="{0D108BD9-81ED-4DB2-BD59-A6C34878D82A}">
                    <a16:rowId xmlns:a16="http://schemas.microsoft.com/office/drawing/2014/main" val="10004"/>
                  </a:ext>
                </a:extLst>
              </a:tr>
              <a:tr h="388812">
                <a:tc>
                  <a:txBody>
                    <a:bodyPr/>
                    <a:lstStyle/>
                    <a:p>
                      <a:pPr marL="0" indent="0" algn="l">
                        <a:buNone/>
                      </a:pPr>
                      <a:r>
                        <a:rPr lang="en-US" sz="1200" dirty="0">
                          <a:solidFill>
                            <a:srgbClr val="2A2E31"/>
                          </a:solidFill>
                          <a:latin typeface="IBM Plex Sans" pitchFamily="34" charset="0"/>
                          <a:ea typeface="IBM Plex Sans" pitchFamily="34" charset="-122"/>
                          <a:cs typeface="IBM Plex Sans" pitchFamily="34" charset="-120"/>
                        </a:rPr>
                        <a:t>Core Function</a:t>
                      </a:r>
                      <a:endParaRPr lang="en-US" sz="1200" dirty="0">
                        <a:latin typeface="IBM Plex Sans" charset="0"/>
                        <a:ea typeface="IBM Plex Sans" charset="0"/>
                        <a:cs typeface="IBM Plex Sans" charset="0"/>
                      </a:endParaRPr>
                    </a:p>
                  </a:txBody>
                  <a:tcPr marL="114300" marR="114300" marT="76200" marB="76200" anchor="ctr">
                    <a:lnL w="12700" cap="flat" cmpd="sng" algn="ctr">
                      <a:solidFill>
                        <a:srgbClr val="FBFAF6"/>
                      </a:solidFill>
                      <a:prstDash val="solid"/>
                      <a:round/>
                      <a:headEnd type="none" w="med" len="med"/>
                      <a:tailEnd type="none" w="med" len="med"/>
                    </a:lnL>
                    <a:lnR w="12700" cap="flat" cmpd="sng" algn="ctr">
                      <a:solidFill>
                        <a:srgbClr val="FBFAF6"/>
                      </a:solidFill>
                      <a:prstDash val="solid"/>
                      <a:round/>
                      <a:headEnd type="none" w="med" len="med"/>
                      <a:tailEnd type="none" w="med" len="med"/>
                    </a:lnR>
                    <a:lnT w="12700" cap="flat" cmpd="sng" algn="ctr">
                      <a:solidFill>
                        <a:srgbClr val="173B5C"/>
                      </a:solidFill>
                      <a:prstDash val="solid"/>
                      <a:round/>
                      <a:headEnd type="none" w="med" len="med"/>
                      <a:tailEnd type="none" w="med" len="med"/>
                    </a:lnT>
                    <a:lnB w="12700" cap="flat" cmpd="sng" algn="ctr">
                      <a:solidFill>
                        <a:srgbClr val="173B5C"/>
                      </a:solidFill>
                      <a:prstDash val="solid"/>
                      <a:round/>
                      <a:headEnd type="none" w="med" len="med"/>
                      <a:tailEnd type="none" w="med" len="med"/>
                    </a:lnB>
                  </a:tcPr>
                </a:tc>
                <a:tc>
                  <a:txBody>
                    <a:bodyPr/>
                    <a:lstStyle/>
                    <a:p>
                      <a:pPr marL="0" indent="0" algn="l">
                        <a:buNone/>
                      </a:pPr>
                      <a:r>
                        <a:rPr lang="en-US" sz="1200" dirty="0">
                          <a:solidFill>
                            <a:srgbClr val="2A2E31"/>
                          </a:solidFill>
                          <a:latin typeface="IBM Plex Sans" pitchFamily="34" charset="0"/>
                          <a:ea typeface="IBM Plex Sans" pitchFamily="34" charset="-122"/>
                          <a:cs typeface="IBM Plex Sans" pitchFamily="34" charset="-120"/>
                        </a:rPr>
                        <a:t>Bus discovery and decision support</a:t>
                      </a:r>
                      <a:endParaRPr lang="en-US" sz="1200" dirty="0">
                        <a:latin typeface="IBM Plex Sans" charset="0"/>
                        <a:ea typeface="IBM Plex Sans" charset="0"/>
                        <a:cs typeface="IBM Plex Sans" charset="0"/>
                      </a:endParaRPr>
                    </a:p>
                  </a:txBody>
                  <a:tcPr marL="114300" marR="114300" marT="76200" marB="76200" anchor="ctr">
                    <a:lnL w="12700" cap="flat" cmpd="sng" algn="ctr">
                      <a:solidFill>
                        <a:srgbClr val="FBFAF6"/>
                      </a:solidFill>
                      <a:prstDash val="solid"/>
                      <a:round/>
                      <a:headEnd type="none" w="med" len="med"/>
                      <a:tailEnd type="none" w="med" len="med"/>
                    </a:lnL>
                    <a:lnR w="12700" cap="flat" cmpd="sng" algn="ctr">
                      <a:solidFill>
                        <a:srgbClr val="FBFAF6"/>
                      </a:solidFill>
                      <a:prstDash val="solid"/>
                      <a:round/>
                      <a:headEnd type="none" w="med" len="med"/>
                      <a:tailEnd type="none" w="med" len="med"/>
                    </a:lnR>
                    <a:lnT w="12700" cap="flat" cmpd="sng" algn="ctr">
                      <a:solidFill>
                        <a:srgbClr val="173B5C"/>
                      </a:solidFill>
                      <a:prstDash val="solid"/>
                      <a:round/>
                      <a:headEnd type="none" w="med" len="med"/>
                      <a:tailEnd type="none" w="med" len="med"/>
                    </a:lnT>
                    <a:lnB w="12700" cap="flat" cmpd="sng" algn="ctr">
                      <a:solidFill>
                        <a:srgbClr val="173B5C"/>
                      </a:solidFill>
                      <a:prstDash val="solid"/>
                      <a:round/>
                      <a:headEnd type="none" w="med" len="med"/>
                      <a:tailEnd type="none" w="med" len="med"/>
                    </a:lnB>
                  </a:tcPr>
                </a:tc>
                <a:extLst>
                  <a:ext uri="{0D108BD9-81ED-4DB2-BD59-A6C34878D82A}">
                    <a16:rowId xmlns:a16="http://schemas.microsoft.com/office/drawing/2014/main" val="10005"/>
                  </a:ext>
                </a:extLst>
              </a:tr>
              <a:tr h="388812">
                <a:tc>
                  <a:txBody>
                    <a:bodyPr/>
                    <a:lstStyle/>
                    <a:p>
                      <a:pPr marL="0" indent="0" algn="l">
                        <a:buNone/>
                      </a:pPr>
                      <a:r>
                        <a:rPr lang="en-US" sz="1200" dirty="0">
                          <a:solidFill>
                            <a:srgbClr val="2A2E31"/>
                          </a:solidFill>
                          <a:latin typeface="IBM Plex Sans" pitchFamily="34" charset="0"/>
                          <a:ea typeface="IBM Plex Sans" pitchFamily="34" charset="-122"/>
                          <a:cs typeface="IBM Plex Sans" pitchFamily="34" charset="-120"/>
                        </a:rPr>
                        <a:t>Data Mode</a:t>
                      </a:r>
                      <a:endParaRPr lang="en-US" sz="1200" dirty="0">
                        <a:latin typeface="IBM Plex Sans" charset="0"/>
                        <a:ea typeface="IBM Plex Sans" charset="0"/>
                        <a:cs typeface="IBM Plex Sans" charset="0"/>
                      </a:endParaRPr>
                    </a:p>
                  </a:txBody>
                  <a:tcPr marL="114300" marR="114300" marT="76200" marB="76200" anchor="ctr">
                    <a:lnL w="12700" cap="flat" cmpd="sng" algn="ctr">
                      <a:solidFill>
                        <a:srgbClr val="FBFAF6"/>
                      </a:solidFill>
                      <a:prstDash val="solid"/>
                      <a:round/>
                      <a:headEnd type="none" w="med" len="med"/>
                      <a:tailEnd type="none" w="med" len="med"/>
                    </a:lnL>
                    <a:lnR w="12700" cap="flat" cmpd="sng" algn="ctr">
                      <a:solidFill>
                        <a:srgbClr val="FBFAF6"/>
                      </a:solidFill>
                      <a:prstDash val="solid"/>
                      <a:round/>
                      <a:headEnd type="none" w="med" len="med"/>
                      <a:tailEnd type="none" w="med" len="med"/>
                    </a:lnR>
                    <a:lnT w="12700" cap="flat" cmpd="sng" algn="ctr">
                      <a:solidFill>
                        <a:srgbClr val="173B5C"/>
                      </a:solidFill>
                      <a:prstDash val="solid"/>
                      <a:round/>
                      <a:headEnd type="none" w="med" len="med"/>
                      <a:tailEnd type="none" w="med" len="med"/>
                    </a:lnT>
                    <a:lnB w="12700" cap="flat" cmpd="sng" algn="ctr">
                      <a:solidFill>
                        <a:srgbClr val="173B5C"/>
                      </a:solidFill>
                      <a:prstDash val="solid"/>
                      <a:round/>
                      <a:headEnd type="none" w="med" len="med"/>
                      <a:tailEnd type="none" w="med" len="med"/>
                    </a:lnB>
                  </a:tcPr>
                </a:tc>
                <a:tc>
                  <a:txBody>
                    <a:bodyPr/>
                    <a:lstStyle/>
                    <a:p>
                      <a:pPr marL="0" indent="0" algn="l">
                        <a:buNone/>
                      </a:pPr>
                      <a:r>
                        <a:rPr lang="en-US" sz="1200" dirty="0">
                          <a:solidFill>
                            <a:srgbClr val="2A2E31"/>
                          </a:solidFill>
                          <a:latin typeface="IBM Plex Sans" pitchFamily="34" charset="0"/>
                          <a:ea typeface="IBM Plex Sans" pitchFamily="34" charset="-122"/>
                          <a:cs typeface="IBM Plex Sans" pitchFamily="34" charset="-120"/>
                        </a:rPr>
                        <a:t>Prototype / Demo Data</a:t>
                      </a:r>
                      <a:endParaRPr lang="en-US" sz="1200" dirty="0">
                        <a:latin typeface="IBM Plex Sans" charset="0"/>
                        <a:ea typeface="IBM Plex Sans" charset="0"/>
                        <a:cs typeface="IBM Plex Sans" charset="0"/>
                      </a:endParaRPr>
                    </a:p>
                  </a:txBody>
                  <a:tcPr marL="114300" marR="114300" marT="76200" marB="76200" anchor="ctr">
                    <a:lnL w="12700" cap="flat" cmpd="sng" algn="ctr">
                      <a:solidFill>
                        <a:srgbClr val="FBFAF6"/>
                      </a:solidFill>
                      <a:prstDash val="solid"/>
                      <a:round/>
                      <a:headEnd type="none" w="med" len="med"/>
                      <a:tailEnd type="none" w="med" len="med"/>
                    </a:lnL>
                    <a:lnR w="12700" cap="flat" cmpd="sng" algn="ctr">
                      <a:solidFill>
                        <a:srgbClr val="FBFAF6"/>
                      </a:solidFill>
                      <a:prstDash val="solid"/>
                      <a:round/>
                      <a:headEnd type="none" w="med" len="med"/>
                      <a:tailEnd type="none" w="med" len="med"/>
                    </a:lnR>
                    <a:lnT w="12700" cap="flat" cmpd="sng" algn="ctr">
                      <a:solidFill>
                        <a:srgbClr val="173B5C"/>
                      </a:solidFill>
                      <a:prstDash val="solid"/>
                      <a:round/>
                      <a:headEnd type="none" w="med" len="med"/>
                      <a:tailEnd type="none" w="med" len="med"/>
                    </a:lnT>
                    <a:lnB w="12700" cap="flat" cmpd="sng" algn="ctr">
                      <a:solidFill>
                        <a:srgbClr val="173B5C"/>
                      </a:solidFill>
                      <a:prstDash val="solid"/>
                      <a:round/>
                      <a:headEnd type="none" w="med" len="med"/>
                      <a:tailEnd type="none" w="med" len="med"/>
                    </a:lnB>
                  </a:tcPr>
                </a:tc>
                <a:extLst>
                  <a:ext uri="{0D108BD9-81ED-4DB2-BD59-A6C34878D82A}">
                    <a16:rowId xmlns:a16="http://schemas.microsoft.com/office/drawing/2014/main" val="10006"/>
                  </a:ext>
                </a:extLst>
              </a:tr>
              <a:tr h="396690">
                <a:tc>
                  <a:txBody>
                    <a:bodyPr/>
                    <a:lstStyle/>
                    <a:p>
                      <a:pPr marL="0" indent="0" algn="l">
                        <a:buNone/>
                      </a:pPr>
                      <a:r>
                        <a:rPr lang="en-US" sz="1200" dirty="0">
                          <a:solidFill>
                            <a:srgbClr val="2A2E31"/>
                          </a:solidFill>
                          <a:latin typeface="IBM Plex Sans" pitchFamily="34" charset="0"/>
                          <a:ea typeface="IBM Plex Sans" pitchFamily="34" charset="-122"/>
                          <a:cs typeface="IBM Plex Sans" pitchFamily="34" charset="-120"/>
                        </a:rPr>
                        <a:t>Primary Focus</a:t>
                      </a:r>
                      <a:endParaRPr lang="en-US" sz="1200" dirty="0">
                        <a:latin typeface="IBM Plex Sans" charset="0"/>
                        <a:ea typeface="IBM Plex Sans" charset="0"/>
                        <a:cs typeface="IBM Plex Sans" charset="0"/>
                      </a:endParaRPr>
                    </a:p>
                  </a:txBody>
                  <a:tcPr marL="114300" marR="114300" marT="76200" marB="76200" anchor="ctr">
                    <a:lnL w="12700" cap="flat" cmpd="sng" algn="ctr">
                      <a:solidFill>
                        <a:srgbClr val="FBFAF6"/>
                      </a:solidFill>
                      <a:prstDash val="solid"/>
                      <a:round/>
                      <a:headEnd type="none" w="med" len="med"/>
                      <a:tailEnd type="none" w="med" len="med"/>
                    </a:lnL>
                    <a:lnR w="12700" cap="flat" cmpd="sng" algn="ctr">
                      <a:solidFill>
                        <a:srgbClr val="FBFAF6"/>
                      </a:solidFill>
                      <a:prstDash val="solid"/>
                      <a:round/>
                      <a:headEnd type="none" w="med" len="med"/>
                      <a:tailEnd type="none" w="med" len="med"/>
                    </a:lnR>
                    <a:lnT w="12700" cap="flat" cmpd="sng" algn="ctr">
                      <a:solidFill>
                        <a:srgbClr val="173B5C"/>
                      </a:solidFill>
                      <a:prstDash val="solid"/>
                      <a:round/>
                      <a:headEnd type="none" w="med" len="med"/>
                      <a:tailEnd type="none" w="med" len="med"/>
                    </a:lnT>
                    <a:lnB w="12700" cap="flat" cmpd="sng" algn="ctr">
                      <a:solidFill>
                        <a:srgbClr val="FBFAF6"/>
                      </a:solidFill>
                      <a:prstDash val="solid"/>
                      <a:round/>
                      <a:headEnd type="none" w="med" len="med"/>
                      <a:tailEnd type="none" w="med" len="med"/>
                    </a:lnB>
                  </a:tcPr>
                </a:tc>
                <a:tc>
                  <a:txBody>
                    <a:bodyPr/>
                    <a:lstStyle/>
                    <a:p>
                      <a:pPr marL="0" indent="0" algn="l">
                        <a:buNone/>
                      </a:pPr>
                      <a:r>
                        <a:rPr lang="en-US" sz="1200" dirty="0">
                          <a:solidFill>
                            <a:srgbClr val="2A2E31"/>
                          </a:solidFill>
                          <a:latin typeface="IBM Plex Sans" pitchFamily="34" charset="0"/>
                          <a:ea typeface="IBM Plex Sans" pitchFamily="34" charset="-122"/>
                          <a:cs typeface="IBM Plex Sans" pitchFamily="34" charset="-120"/>
                        </a:rPr>
                        <a:t>Arrival, delay, crowding and route information</a:t>
                      </a:r>
                      <a:endParaRPr lang="en-US" sz="1200" dirty="0">
                        <a:latin typeface="IBM Plex Sans" charset="0"/>
                        <a:ea typeface="IBM Plex Sans" charset="0"/>
                        <a:cs typeface="IBM Plex Sans" charset="0"/>
                      </a:endParaRPr>
                    </a:p>
                  </a:txBody>
                  <a:tcPr marL="114300" marR="114300" marT="76200" marB="76200" anchor="ctr">
                    <a:lnL w="12700" cap="flat" cmpd="sng" algn="ctr">
                      <a:solidFill>
                        <a:srgbClr val="FBFAF6"/>
                      </a:solidFill>
                      <a:prstDash val="solid"/>
                      <a:round/>
                      <a:headEnd type="none" w="med" len="med"/>
                      <a:tailEnd type="none" w="med" len="med"/>
                    </a:lnL>
                    <a:lnR w="12700" cap="flat" cmpd="sng" algn="ctr">
                      <a:solidFill>
                        <a:srgbClr val="FBFAF6"/>
                      </a:solidFill>
                      <a:prstDash val="solid"/>
                      <a:round/>
                      <a:headEnd type="none" w="med" len="med"/>
                      <a:tailEnd type="none" w="med" len="med"/>
                    </a:lnR>
                    <a:lnT w="12700" cap="flat" cmpd="sng" algn="ctr">
                      <a:solidFill>
                        <a:srgbClr val="173B5C"/>
                      </a:solidFill>
                      <a:prstDash val="solid"/>
                      <a:round/>
                      <a:headEnd type="none" w="med" len="med"/>
                      <a:tailEnd type="none" w="med" len="med"/>
                    </a:lnT>
                    <a:lnB w="12700" cap="flat" cmpd="sng" algn="ctr">
                      <a:solidFill>
                        <a:srgbClr val="FBFAF6"/>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14" name="Shape 11"/>
          <p:cNvSpPr/>
          <p:nvPr/>
        </p:nvSpPr>
        <p:spPr>
          <a:xfrm>
            <a:off x="0" y="10130548"/>
            <a:ext cx="7562088" cy="9477"/>
          </a:xfrm>
          <a:prstGeom prst="rect">
            <a:avLst/>
          </a:prstGeom>
          <a:solidFill>
            <a:srgbClr val="2A2E31">
              <a:alpha val="20000"/>
            </a:srgbClr>
          </a:solidFill>
          <a:ln/>
        </p:spPr>
      </p:sp>
      <p:sp>
        <p:nvSpPr>
          <p:cNvPr id="15" name="Text 12"/>
          <p:cNvSpPr/>
          <p:nvPr/>
        </p:nvSpPr>
        <p:spPr>
          <a:xfrm>
            <a:off x="660390" y="10324216"/>
            <a:ext cx="773194" cy="171390"/>
          </a:xfrm>
          <a:prstGeom prst="rect">
            <a:avLst/>
          </a:prstGeom>
          <a:noFill/>
          <a:ln/>
        </p:spPr>
        <p:txBody>
          <a:bodyPr wrap="none" lIns="0" tIns="0" rIns="0" bIns="0" rtlCol="0" anchor="ctr"/>
          <a:lstStyle/>
          <a:p>
            <a:pPr marL="0" indent="0" algn="l">
              <a:lnSpc>
                <a:spcPct val="125000"/>
              </a:lnSpc>
              <a:buNone/>
            </a:pPr>
            <a:r>
              <a:rPr lang="en-US" sz="900" kern="100" spc="68" dirty="0">
                <a:solidFill>
                  <a:srgbClr val="2A2E31"/>
                </a:solidFill>
                <a:latin typeface="IBM Plex Sans" pitchFamily="34" charset="0"/>
                <a:ea typeface="IBM Plex Sans" pitchFamily="34" charset="-122"/>
                <a:cs typeface="IBM Plex Sans" pitchFamily="34" charset="-120"/>
              </a:rPr>
              <a:t>MOVIT</a:t>
            </a:r>
            <a:endParaRPr lang="en-US" sz="900" dirty="0"/>
          </a:p>
        </p:txBody>
      </p:sp>
      <p:sp>
        <p:nvSpPr>
          <p:cNvPr id="16" name="Text 13"/>
          <p:cNvSpPr/>
          <p:nvPr/>
        </p:nvSpPr>
        <p:spPr>
          <a:xfrm>
            <a:off x="6747416" y="10324216"/>
            <a:ext cx="532386" cy="171390"/>
          </a:xfrm>
          <a:prstGeom prst="rect">
            <a:avLst/>
          </a:prstGeom>
          <a:noFill/>
          <a:ln/>
        </p:spPr>
        <p:txBody>
          <a:bodyPr wrap="none" lIns="0" tIns="0" rIns="0" bIns="0" rtlCol="0" anchor="ctr"/>
          <a:lstStyle/>
          <a:p>
            <a:pPr marL="0" indent="0" algn="l">
              <a:lnSpc>
                <a:spcPct val="125000"/>
              </a:lnSpc>
              <a:buNone/>
            </a:pPr>
            <a:r>
              <a:rPr lang="en-US" sz="900" kern="100" spc="68" dirty="0">
                <a:solidFill>
                  <a:srgbClr val="2A2E31"/>
                </a:solidFill>
                <a:latin typeface="IBM Plex Sans" pitchFamily="34" charset="0"/>
                <a:ea typeface="IBM Plex Sans" pitchFamily="34" charset="-122"/>
                <a:cs typeface="IBM Plex Sans"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0390" y="193668"/>
            <a:ext cx="773194" cy="171390"/>
          </a:xfrm>
          <a:prstGeom prst="rect">
            <a:avLst/>
          </a:prstGeom>
          <a:noFill/>
          <a:ln/>
        </p:spPr>
        <p:txBody>
          <a:bodyPr wrap="none" lIns="0" tIns="0" rIns="0" bIns="0" rtlCol="0" anchor="ctr"/>
          <a:lstStyle/>
          <a:p>
            <a:pPr marL="0" indent="0" algn="l">
              <a:lnSpc>
                <a:spcPct val="125000"/>
              </a:lnSpc>
              <a:buNone/>
            </a:pPr>
            <a:r>
              <a:rPr lang="en-US" sz="900" kern="100" spc="68" dirty="0">
                <a:solidFill>
                  <a:srgbClr val="2A2E31"/>
                </a:solidFill>
                <a:latin typeface="IBM Plex Sans" pitchFamily="34" charset="0"/>
                <a:ea typeface="IBM Plex Sans" pitchFamily="34" charset="-122"/>
                <a:cs typeface="IBM Plex Sans" pitchFamily="34" charset="-120"/>
              </a:rPr>
              <a:t>MOVIT</a:t>
            </a:r>
            <a:endParaRPr lang="en-US" sz="900" dirty="0"/>
          </a:p>
        </p:txBody>
      </p:sp>
      <p:sp>
        <p:nvSpPr>
          <p:cNvPr id="3" name="Text 1"/>
          <p:cNvSpPr/>
          <p:nvPr/>
        </p:nvSpPr>
        <p:spPr>
          <a:xfrm>
            <a:off x="6506608" y="193668"/>
            <a:ext cx="773194" cy="171390"/>
          </a:xfrm>
          <a:prstGeom prst="rect">
            <a:avLst/>
          </a:prstGeom>
          <a:noFill/>
          <a:ln/>
        </p:spPr>
        <p:txBody>
          <a:bodyPr wrap="none" lIns="0" tIns="0" rIns="0" bIns="0" rtlCol="0" anchor="ctr"/>
          <a:lstStyle/>
          <a:p>
            <a:pPr marL="0" indent="0" algn="l">
              <a:lnSpc>
                <a:spcPct val="125000"/>
              </a:lnSpc>
              <a:buNone/>
            </a:pPr>
            <a:r>
              <a:rPr lang="en-US" sz="900" kern="100" spc="68" dirty="0">
                <a:solidFill>
                  <a:srgbClr val="2A2E31"/>
                </a:solidFill>
                <a:latin typeface="IBM Plex Sans" pitchFamily="34" charset="0"/>
                <a:ea typeface="IBM Plex Sans" pitchFamily="34" charset="-122"/>
                <a:cs typeface="IBM Plex Sans" pitchFamily="34" charset="-120"/>
              </a:rPr>
              <a:t>MOVIT</a:t>
            </a:r>
            <a:endParaRPr lang="en-US" sz="900" dirty="0"/>
          </a:p>
        </p:txBody>
      </p:sp>
      <p:sp>
        <p:nvSpPr>
          <p:cNvPr id="4" name="Shape 2"/>
          <p:cNvSpPr/>
          <p:nvPr/>
        </p:nvSpPr>
        <p:spPr>
          <a:xfrm>
            <a:off x="0" y="549310"/>
            <a:ext cx="7562088" cy="9477"/>
          </a:xfrm>
          <a:prstGeom prst="rect">
            <a:avLst/>
          </a:prstGeom>
          <a:solidFill>
            <a:srgbClr val="2A2E31">
              <a:alpha val="20000"/>
            </a:srgbClr>
          </a:solidFill>
          <a:ln/>
        </p:spPr>
      </p:sp>
      <p:sp>
        <p:nvSpPr>
          <p:cNvPr id="5" name="Text 3"/>
          <p:cNvSpPr/>
          <p:nvPr/>
        </p:nvSpPr>
        <p:spPr>
          <a:xfrm>
            <a:off x="660390" y="1225132"/>
            <a:ext cx="6619412" cy="166652"/>
          </a:xfrm>
          <a:prstGeom prst="rect">
            <a:avLst/>
          </a:prstGeom>
          <a:noFill/>
          <a:ln/>
        </p:spPr>
        <p:txBody>
          <a:bodyPr wrap="none" lIns="0" tIns="0" rIns="0" bIns="0" rtlCol="0" anchor="t"/>
          <a:lstStyle/>
          <a:p>
            <a:pPr marL="0" indent="0" algn="l">
              <a:lnSpc>
                <a:spcPct val="104000"/>
              </a:lnSpc>
              <a:buNone/>
            </a:pPr>
            <a:r>
              <a:rPr lang="en-US" sz="1050" kern="100" spc="79" dirty="0">
                <a:solidFill>
                  <a:srgbClr val="2F7468"/>
                </a:solidFill>
                <a:latin typeface="IBM Plex Sans SemiBold" pitchFamily="34" charset="0"/>
                <a:ea typeface="IBM Plex Sans SemiBold" pitchFamily="34" charset="-122"/>
                <a:cs typeface="IBM Plex Sans SemiBold" pitchFamily="34" charset="-120"/>
              </a:rPr>
              <a:t>02 · THE USER PROBLEM</a:t>
            </a:r>
            <a:endParaRPr lang="en-US" sz="1050" dirty="0"/>
          </a:p>
        </p:txBody>
      </p:sp>
      <p:sp>
        <p:nvSpPr>
          <p:cNvPr id="6" name="Text 4"/>
          <p:cNvSpPr/>
          <p:nvPr/>
        </p:nvSpPr>
        <p:spPr>
          <a:xfrm>
            <a:off x="660390" y="1462017"/>
            <a:ext cx="6241307" cy="350473"/>
          </a:xfrm>
          <a:prstGeom prst="rect">
            <a:avLst/>
          </a:prstGeom>
          <a:noFill/>
          <a:ln/>
        </p:spPr>
        <p:txBody>
          <a:bodyPr wrap="none" lIns="0" tIns="0" rIns="0" bIns="0" rtlCol="0" anchor="t"/>
          <a:lstStyle/>
          <a:p>
            <a:pPr marL="0" indent="0" algn="l">
              <a:lnSpc>
                <a:spcPct val="96000"/>
              </a:lnSpc>
              <a:buNone/>
            </a:pPr>
            <a:r>
              <a:rPr lang="en-US" sz="2400" kern="100" spc="-12" dirty="0">
                <a:solidFill>
                  <a:srgbClr val="173B5C"/>
                </a:solidFill>
                <a:latin typeface="Newsreader SemiBold" pitchFamily="34" charset="0"/>
                <a:ea typeface="Newsreader SemiBold" pitchFamily="34" charset="-122"/>
                <a:cs typeface="Newsreader SemiBold" pitchFamily="34" charset="-120"/>
              </a:rPr>
              <a:t>2. Problem Statement</a:t>
            </a:r>
            <a:endParaRPr lang="en-US" sz="2400" dirty="0"/>
          </a:p>
        </p:txBody>
      </p:sp>
      <p:sp>
        <p:nvSpPr>
          <p:cNvPr id="7" name="Shape 5"/>
          <p:cNvSpPr/>
          <p:nvPr/>
        </p:nvSpPr>
        <p:spPr>
          <a:xfrm>
            <a:off x="660390" y="2041052"/>
            <a:ext cx="1560296" cy="31509"/>
          </a:xfrm>
          <a:prstGeom prst="roundRect">
            <a:avLst>
              <a:gd name="adj" fmla="val 50000"/>
            </a:avLst>
          </a:prstGeom>
          <a:solidFill>
            <a:srgbClr val="B8581A"/>
          </a:solidFill>
          <a:ln/>
        </p:spPr>
      </p:sp>
      <p:sp>
        <p:nvSpPr>
          <p:cNvPr id="8" name="Text 6"/>
          <p:cNvSpPr/>
          <p:nvPr/>
        </p:nvSpPr>
        <p:spPr>
          <a:xfrm>
            <a:off x="660390" y="2282229"/>
            <a:ext cx="6095949" cy="914245"/>
          </a:xfrm>
          <a:prstGeom prst="rect">
            <a:avLst/>
          </a:prstGeom>
          <a:noFill/>
          <a:ln/>
        </p:spPr>
        <p:txBody>
          <a:bodyPr wrap="square" lIns="0" tIns="0" rIns="0" bIns="0" rtlCol="0" anchor="t">
            <a:normAutofit/>
          </a:bodyPr>
          <a:lstStyle/>
          <a:p>
            <a:pPr marL="0" indent="0" algn="l">
              <a:lnSpc>
                <a:spcPct val="125000"/>
              </a:lnSpc>
              <a:buNone/>
            </a:pPr>
            <a:r>
              <a:rPr lang="en-US" sz="1200" dirty="0">
                <a:solidFill>
                  <a:srgbClr val="2A2E31"/>
                </a:solidFill>
                <a:latin typeface="IBM Plex Sans" pitchFamily="34" charset="0"/>
                <a:ea typeface="IBM Plex Sans" pitchFamily="34" charset="-122"/>
                <a:cs typeface="IBM Plex Sans" pitchFamily="34" charset="-120"/>
              </a:rPr>
              <a:t>Public-transport passengers often make a time-sensitive decision with incomplete information. They may see one bus approaching without knowing whether another service is arriving shortly, whether the first bus is delayed, or whether it is likely to be crowded. Route changes and scattered status information add to the uncertainty.</a:t>
            </a:r>
            <a:endParaRPr lang="en-US" sz="1200" dirty="0"/>
          </a:p>
        </p:txBody>
      </p:sp>
      <p:sp>
        <p:nvSpPr>
          <p:cNvPr id="9" name="Shape 7"/>
          <p:cNvSpPr/>
          <p:nvPr/>
        </p:nvSpPr>
        <p:spPr>
          <a:xfrm>
            <a:off x="660390" y="3367865"/>
            <a:ext cx="2968280" cy="1910340"/>
          </a:xfrm>
          <a:prstGeom prst="rect">
            <a:avLst/>
          </a:prstGeom>
          <a:solidFill>
            <a:srgbClr val="EAF1ED"/>
          </a:solidFill>
          <a:ln/>
        </p:spPr>
      </p:sp>
      <p:sp>
        <p:nvSpPr>
          <p:cNvPr id="10" name="Text 8"/>
          <p:cNvSpPr/>
          <p:nvPr/>
        </p:nvSpPr>
        <p:spPr>
          <a:xfrm>
            <a:off x="914368" y="3602379"/>
            <a:ext cx="2714302" cy="166652"/>
          </a:xfrm>
          <a:prstGeom prst="rect">
            <a:avLst/>
          </a:prstGeom>
          <a:noFill/>
          <a:ln/>
        </p:spPr>
        <p:txBody>
          <a:bodyPr wrap="none" lIns="0" tIns="0" rIns="0" bIns="0" rtlCol="0" anchor="t"/>
          <a:lstStyle/>
          <a:p>
            <a:pPr marL="0" indent="0" algn="l">
              <a:lnSpc>
                <a:spcPct val="104000"/>
              </a:lnSpc>
              <a:buNone/>
            </a:pPr>
            <a:r>
              <a:rPr lang="en-US" sz="1050" kern="100" spc="79" dirty="0">
                <a:solidFill>
                  <a:srgbClr val="000000"/>
                </a:solidFill>
                <a:latin typeface="IBM Plex Sans SemiBold" pitchFamily="34" charset="0"/>
                <a:ea typeface="IBM Plex Sans SemiBold" pitchFamily="34" charset="-122"/>
                <a:cs typeface="IBM Plex Sans SemiBold" pitchFamily="34" charset="-120"/>
              </a:rPr>
              <a:t>2.1 EXISTING SITUATION</a:t>
            </a:r>
            <a:endParaRPr lang="en-US" sz="1050" dirty="0"/>
          </a:p>
        </p:txBody>
      </p:sp>
      <p:sp>
        <p:nvSpPr>
          <p:cNvPr id="11" name="Text 9"/>
          <p:cNvSpPr/>
          <p:nvPr/>
        </p:nvSpPr>
        <p:spPr>
          <a:xfrm>
            <a:off x="914368" y="3874158"/>
            <a:ext cx="2460325" cy="685684"/>
          </a:xfrm>
          <a:prstGeom prst="rect">
            <a:avLst/>
          </a:prstGeom>
          <a:noFill/>
          <a:ln/>
        </p:spPr>
        <p:txBody>
          <a:bodyPr wrap="square" lIns="0" tIns="0" rIns="0" bIns="0" rtlCol="0" anchor="t">
            <a:normAutofit/>
          </a:bodyPr>
          <a:lstStyle/>
          <a:p>
            <a:pPr marL="0" indent="0" algn="l">
              <a:lnSpc>
                <a:spcPct val="125000"/>
              </a:lnSpc>
              <a:buNone/>
            </a:pPr>
            <a:r>
              <a:rPr lang="en-US" sz="1200" dirty="0">
                <a:solidFill>
                  <a:srgbClr val="000000"/>
                </a:solidFill>
                <a:latin typeface="IBM Plex Sans" pitchFamily="34" charset="0"/>
                <a:ea typeface="IBM Plex Sans" pitchFamily="34" charset="-122"/>
                <a:cs typeface="IBM Plex Sans" pitchFamily="34" charset="-120"/>
              </a:rPr>
              <a:t>Passenger reaches a stop → waits → sees a bus → decides whether to board.</a:t>
            </a:r>
            <a:endParaRPr lang="en-US" sz="1200" dirty="0"/>
          </a:p>
        </p:txBody>
      </p:sp>
      <p:sp>
        <p:nvSpPr>
          <p:cNvPr id="12" name="Text 10"/>
          <p:cNvSpPr/>
          <p:nvPr/>
        </p:nvSpPr>
        <p:spPr>
          <a:xfrm>
            <a:off x="914368" y="4671209"/>
            <a:ext cx="2460325" cy="378720"/>
          </a:xfrm>
          <a:prstGeom prst="rect">
            <a:avLst/>
          </a:prstGeom>
          <a:noFill/>
          <a:ln/>
        </p:spPr>
        <p:txBody>
          <a:bodyPr wrap="square" lIns="0" tIns="0" rIns="0" bIns="0" rtlCol="0" anchor="t">
            <a:normAutofit/>
          </a:bodyPr>
          <a:lstStyle/>
          <a:p>
            <a:pPr marL="0" indent="0" algn="l">
              <a:lnSpc>
                <a:spcPct val="118000"/>
              </a:lnSpc>
              <a:buNone/>
            </a:pPr>
            <a:r>
              <a:rPr lang="en-US" sz="1050" dirty="0">
                <a:solidFill>
                  <a:srgbClr val="000000"/>
                </a:solidFill>
                <a:latin typeface="IBM Plex Sans" pitchFamily="34" charset="0"/>
                <a:ea typeface="IBM Plex Sans" pitchFamily="34" charset="-122"/>
                <a:cs typeface="IBM Plex Sans" pitchFamily="34" charset="-120"/>
              </a:rPr>
              <a:t>The missing step is a consolidated view of near-term alternatives.</a:t>
            </a:r>
            <a:endParaRPr lang="en-US" sz="1050" dirty="0"/>
          </a:p>
        </p:txBody>
      </p:sp>
      <p:sp>
        <p:nvSpPr>
          <p:cNvPr id="13" name="Text 11"/>
          <p:cNvSpPr/>
          <p:nvPr/>
        </p:nvSpPr>
        <p:spPr>
          <a:xfrm>
            <a:off x="3933418" y="3602379"/>
            <a:ext cx="2968280" cy="166652"/>
          </a:xfrm>
          <a:prstGeom prst="rect">
            <a:avLst/>
          </a:prstGeom>
          <a:noFill/>
          <a:ln/>
        </p:spPr>
        <p:txBody>
          <a:bodyPr wrap="none" lIns="0" tIns="0" rIns="0" bIns="0" rtlCol="0" anchor="t"/>
          <a:lstStyle/>
          <a:p>
            <a:pPr marL="0" indent="0" algn="l">
              <a:lnSpc>
                <a:spcPct val="104000"/>
              </a:lnSpc>
              <a:buNone/>
            </a:pPr>
            <a:r>
              <a:rPr lang="en-US" sz="1050" kern="100" spc="79" dirty="0">
                <a:solidFill>
                  <a:srgbClr val="2F7468"/>
                </a:solidFill>
                <a:latin typeface="IBM Plex Sans SemiBold" pitchFamily="34" charset="0"/>
                <a:ea typeface="IBM Plex Sans SemiBold" pitchFamily="34" charset="-122"/>
                <a:cs typeface="IBM Plex Sans SemiBold" pitchFamily="34" charset="-120"/>
              </a:rPr>
              <a:t>DECISION GAP</a:t>
            </a:r>
            <a:endParaRPr lang="en-US" sz="1050" dirty="0"/>
          </a:p>
        </p:txBody>
      </p:sp>
      <p:sp>
        <p:nvSpPr>
          <p:cNvPr id="14" name="Text 12"/>
          <p:cNvSpPr/>
          <p:nvPr/>
        </p:nvSpPr>
        <p:spPr>
          <a:xfrm>
            <a:off x="3933418" y="3874158"/>
            <a:ext cx="2968280" cy="685684"/>
          </a:xfrm>
          <a:prstGeom prst="rect">
            <a:avLst/>
          </a:prstGeom>
          <a:noFill/>
          <a:ln/>
        </p:spPr>
        <p:txBody>
          <a:bodyPr wrap="square" lIns="0" tIns="0" rIns="0" bIns="0" rtlCol="0" anchor="t">
            <a:normAutofit/>
          </a:bodyPr>
          <a:lstStyle/>
          <a:p>
            <a:pPr marL="0" indent="0" algn="l">
              <a:lnSpc>
                <a:spcPct val="125000"/>
              </a:lnSpc>
              <a:buNone/>
            </a:pPr>
            <a:r>
              <a:rPr lang="en-US" sz="1200" dirty="0">
                <a:solidFill>
                  <a:srgbClr val="2A2E31"/>
                </a:solidFill>
                <a:latin typeface="IBM Plex Sans" pitchFamily="34" charset="0"/>
                <a:ea typeface="IBM Plex Sans" pitchFamily="34" charset="-122"/>
                <a:cs typeface="IBM Plex Sans" pitchFamily="34" charset="-120"/>
              </a:rPr>
              <a:t>A passenger may choose the first visible bus even when a slightly later service would better fit the journey.</a:t>
            </a:r>
            <a:endParaRPr lang="en-US" sz="1200" dirty="0"/>
          </a:p>
        </p:txBody>
      </p:sp>
      <p:sp>
        <p:nvSpPr>
          <p:cNvPr id="15" name="Text 13"/>
          <p:cNvSpPr/>
          <p:nvPr/>
        </p:nvSpPr>
        <p:spPr>
          <a:xfrm>
            <a:off x="660390" y="5605169"/>
            <a:ext cx="6241307" cy="335826"/>
          </a:xfrm>
          <a:prstGeom prst="rect">
            <a:avLst/>
          </a:prstGeom>
          <a:noFill/>
          <a:ln/>
        </p:spPr>
        <p:txBody>
          <a:bodyPr wrap="none" lIns="0" tIns="0" rIns="0" bIns="0" rtlCol="0" anchor="t"/>
          <a:lstStyle/>
          <a:p>
            <a:pPr marL="0" indent="0" algn="l">
              <a:lnSpc>
                <a:spcPct val="96000"/>
              </a:lnSpc>
              <a:buNone/>
            </a:pPr>
            <a:r>
              <a:rPr lang="en-US" sz="2300" kern="100" spc="-11" dirty="0">
                <a:solidFill>
                  <a:srgbClr val="173B5C"/>
                </a:solidFill>
                <a:latin typeface="Newsreader SemiBold" pitchFamily="34" charset="0"/>
                <a:ea typeface="Newsreader SemiBold" pitchFamily="34" charset="-122"/>
                <a:cs typeface="Newsreader SemiBold" pitchFamily="34" charset="-120"/>
              </a:rPr>
              <a:t>2.2 Project objectives</a:t>
            </a:r>
            <a:endParaRPr lang="en-US" sz="2300" dirty="0"/>
          </a:p>
        </p:txBody>
      </p:sp>
      <p:sp>
        <p:nvSpPr>
          <p:cNvPr id="16" name="Text 14"/>
          <p:cNvSpPr/>
          <p:nvPr/>
        </p:nvSpPr>
        <p:spPr>
          <a:xfrm>
            <a:off x="660390" y="6131463"/>
            <a:ext cx="6241307" cy="2713751"/>
          </a:xfrm>
          <a:prstGeom prst="rect">
            <a:avLst/>
          </a:prstGeom>
          <a:noFill/>
          <a:ln/>
        </p:spPr>
        <p:txBody>
          <a:bodyPr wrap="square" lIns="0" tIns="0" rIns="0" bIns="0" rtlCol="0" anchor="t">
            <a:normAutofit/>
          </a:bodyPr>
          <a:lstStyle/>
          <a:p>
            <a:pPr marL="243840" indent="-243840" algn="l">
              <a:lnSpc>
                <a:spcPct val="125000"/>
              </a:lnSpc>
              <a:buSzPct val="100000"/>
              <a:buFont typeface="+mj-lt"/>
              <a:buAutoNum type="arabicPeriod"/>
            </a:pPr>
            <a:r>
              <a:rPr lang="en-US" sz="1200" dirty="0">
                <a:solidFill>
                  <a:srgbClr val="2A2E31"/>
                </a:solidFill>
                <a:latin typeface="IBM Plex Sans" pitchFamily="34" charset="0"/>
                <a:ea typeface="IBM Plex Sans" pitchFamily="34" charset="-122"/>
                <a:cs typeface="IBM Plex Sans" pitchFamily="34" charset="-120"/>
              </a:rPr>
              <a:t>Display buses arriving within the next hour.</a:t>
            </a:r>
            <a:endParaRPr lang="en-US" sz="1200" dirty="0"/>
          </a:p>
          <a:p>
            <a:pPr marL="243840" indent="-243840" algn="l">
              <a:lnSpc>
                <a:spcPct val="125000"/>
              </a:lnSpc>
              <a:buSzPct val="100000"/>
              <a:buFont typeface="+mj-lt"/>
              <a:buAutoNum type="arabicPeriod" startAt="2"/>
            </a:pPr>
            <a:r>
              <a:rPr lang="en-US" sz="1200" dirty="0">
                <a:solidFill>
                  <a:srgbClr val="2A2E31"/>
                </a:solidFill>
                <a:latin typeface="IBM Plex Sans" pitchFamily="34" charset="0"/>
                <a:ea typeface="IBM Plex Sans" pitchFamily="34" charset="-122"/>
                <a:cs typeface="IBM Plex Sans" pitchFamily="34" charset="-120"/>
              </a:rPr>
              <a:t>Present useful information for each available bus.</a:t>
            </a:r>
            <a:endParaRPr lang="en-US" sz="1200" dirty="0"/>
          </a:p>
          <a:p>
            <a:pPr marL="243840" indent="-243840" algn="l">
              <a:lnSpc>
                <a:spcPct val="125000"/>
              </a:lnSpc>
              <a:buSzPct val="100000"/>
              <a:buFont typeface="+mj-lt"/>
              <a:buAutoNum type="arabicPeriod" startAt="3"/>
            </a:pPr>
            <a:r>
              <a:rPr lang="en-US" sz="1200" dirty="0">
                <a:solidFill>
                  <a:srgbClr val="2A2E31"/>
                </a:solidFill>
                <a:latin typeface="IBM Plex Sans" pitchFamily="34" charset="0"/>
                <a:ea typeface="IBM Plex Sans" pitchFamily="34" charset="-122"/>
                <a:cs typeface="IBM Plex Sans" pitchFamily="34" charset="-120"/>
              </a:rPr>
              <a:t>Show arrival estimates clearly.</a:t>
            </a:r>
            <a:endParaRPr lang="en-US" sz="1200" dirty="0"/>
          </a:p>
          <a:p>
            <a:pPr marL="243840" indent="-243840" algn="l">
              <a:lnSpc>
                <a:spcPct val="125000"/>
              </a:lnSpc>
              <a:buSzPct val="100000"/>
              <a:buFont typeface="+mj-lt"/>
              <a:buAutoNum type="arabicPeriod" startAt="4"/>
            </a:pPr>
            <a:r>
              <a:rPr lang="en-US" sz="1200" dirty="0">
                <a:solidFill>
                  <a:srgbClr val="2A2E31"/>
                </a:solidFill>
                <a:latin typeface="IBM Plex Sans" pitchFamily="34" charset="0"/>
                <a:ea typeface="IBM Plex Sans" pitchFamily="34" charset="-122"/>
                <a:cs typeface="IBM Plex Sans" pitchFamily="34" charset="-120"/>
              </a:rPr>
              <a:t>Indicate delay and crowding conditions.</a:t>
            </a:r>
            <a:endParaRPr lang="en-US" sz="1200" dirty="0"/>
          </a:p>
          <a:p>
            <a:pPr marL="243840" indent="-243840" algn="l">
              <a:lnSpc>
                <a:spcPct val="125000"/>
              </a:lnSpc>
              <a:buSzPct val="100000"/>
              <a:buFont typeface="+mj-lt"/>
              <a:buAutoNum type="arabicPeriod" startAt="5"/>
            </a:pPr>
            <a:r>
              <a:rPr lang="en-US" sz="1200" dirty="0">
                <a:solidFill>
                  <a:srgbClr val="2A2E31"/>
                </a:solidFill>
                <a:latin typeface="IBM Plex Sans" pitchFamily="34" charset="0"/>
                <a:ea typeface="IBM Plex Sans" pitchFamily="34" charset="-122"/>
                <a:cs typeface="IBM Plex Sans" pitchFamily="34" charset="-120"/>
              </a:rPr>
              <a:t>Highlight route-related information.</a:t>
            </a:r>
            <a:endParaRPr lang="en-US" sz="1200" dirty="0"/>
          </a:p>
          <a:p>
            <a:pPr marL="243840" indent="-243840" algn="l">
              <a:lnSpc>
                <a:spcPct val="125000"/>
              </a:lnSpc>
              <a:buSzPct val="100000"/>
              <a:buFont typeface="+mj-lt"/>
              <a:buAutoNum type="arabicPeriod" startAt="6"/>
            </a:pPr>
            <a:r>
              <a:rPr lang="en-US" sz="1200" dirty="0">
                <a:solidFill>
                  <a:srgbClr val="2A2E31"/>
                </a:solidFill>
                <a:latin typeface="IBM Plex Sans" pitchFamily="34" charset="0"/>
                <a:ea typeface="IBM Plex Sans" pitchFamily="34" charset="-122"/>
                <a:cs typeface="IBM Plex Sans" pitchFamily="34" charset="-120"/>
              </a:rPr>
              <a:t>Recommend an appropriate or optimal bus.</a:t>
            </a:r>
            <a:endParaRPr lang="en-US" sz="1200" dirty="0"/>
          </a:p>
          <a:p>
            <a:pPr marL="243840" indent="-243840" algn="l">
              <a:lnSpc>
                <a:spcPct val="125000"/>
              </a:lnSpc>
              <a:buSzPct val="100000"/>
              <a:buFont typeface="+mj-lt"/>
              <a:buAutoNum type="arabicPeriod" startAt="7"/>
            </a:pPr>
            <a:r>
              <a:rPr lang="en-US" sz="1200" dirty="0">
                <a:solidFill>
                  <a:srgbClr val="2A2E31"/>
                </a:solidFill>
                <a:latin typeface="IBM Plex Sans" pitchFamily="34" charset="0"/>
                <a:ea typeface="IBM Plex Sans" pitchFamily="34" charset="-122"/>
                <a:cs typeface="IBM Plex Sans" pitchFamily="34" charset="-120"/>
              </a:rPr>
              <a:t>Allow passengers to contribute transport updates.</a:t>
            </a:r>
            <a:endParaRPr lang="en-US" sz="1200" dirty="0"/>
          </a:p>
          <a:p>
            <a:pPr marL="243840" indent="-243840" algn="l">
              <a:lnSpc>
                <a:spcPct val="125000"/>
              </a:lnSpc>
              <a:buSzPct val="100000"/>
              <a:buFont typeface="+mj-lt"/>
              <a:buAutoNum type="arabicPeriod" startAt="8"/>
            </a:pPr>
            <a:r>
              <a:rPr lang="en-US" sz="1200" dirty="0">
                <a:solidFill>
                  <a:srgbClr val="2A2E31"/>
                </a:solidFill>
                <a:latin typeface="IBM Plex Sans" pitchFamily="34" charset="0"/>
                <a:ea typeface="IBM Plex Sans" pitchFamily="34" charset="-122"/>
                <a:cs typeface="IBM Plex Sans" pitchFamily="34" charset="-120"/>
              </a:rPr>
              <a:t>Reduce unnecessary waiting and uncertainty.</a:t>
            </a:r>
            <a:endParaRPr lang="en-US" sz="1200" dirty="0"/>
          </a:p>
          <a:p>
            <a:pPr marL="243840" indent="-243840" algn="l">
              <a:lnSpc>
                <a:spcPct val="125000"/>
              </a:lnSpc>
              <a:buSzPct val="100000"/>
              <a:buFont typeface="+mj-lt"/>
              <a:buAutoNum type="arabicPeriod" startAt="9"/>
            </a:pPr>
            <a:r>
              <a:rPr lang="en-US" sz="1200" dirty="0">
                <a:solidFill>
                  <a:srgbClr val="2A2E31"/>
                </a:solidFill>
                <a:latin typeface="IBM Plex Sans" pitchFamily="34" charset="0"/>
                <a:ea typeface="IBM Plex Sans" pitchFamily="34" charset="-122"/>
                <a:cs typeface="IBM Plex Sans" pitchFamily="34" charset="-120"/>
              </a:rPr>
              <a:t>Provide a simple and understandable interface.</a:t>
            </a:r>
            <a:endParaRPr lang="en-US" sz="1200" dirty="0"/>
          </a:p>
          <a:p>
            <a:pPr marL="243840" indent="-243840" algn="l">
              <a:lnSpc>
                <a:spcPct val="125000"/>
              </a:lnSpc>
              <a:buSzPct val="100000"/>
              <a:buFont typeface="+mj-lt"/>
              <a:buAutoNum type="arabicPeriod" startAt="10"/>
            </a:pPr>
            <a:r>
              <a:rPr lang="en-US" sz="1200" dirty="0">
                <a:solidFill>
                  <a:srgbClr val="2A2E31"/>
                </a:solidFill>
                <a:latin typeface="IBM Plex Sans" pitchFamily="34" charset="0"/>
                <a:ea typeface="IBM Plex Sans" pitchFamily="34" charset="-122"/>
                <a:cs typeface="IBM Plex Sans" pitchFamily="34" charset="-120"/>
              </a:rPr>
              <a:t>Create a foundation for future real-time transport integration.</a:t>
            </a:r>
            <a:endParaRPr lang="en-US" sz="1200" dirty="0"/>
          </a:p>
        </p:txBody>
      </p:sp>
      <p:sp>
        <p:nvSpPr>
          <p:cNvPr id="17" name="Text 15"/>
          <p:cNvSpPr/>
          <p:nvPr/>
        </p:nvSpPr>
        <p:spPr>
          <a:xfrm>
            <a:off x="660390" y="9016890"/>
            <a:ext cx="6241307" cy="378720"/>
          </a:xfrm>
          <a:prstGeom prst="rect">
            <a:avLst/>
          </a:prstGeom>
          <a:noFill/>
          <a:ln/>
        </p:spPr>
        <p:txBody>
          <a:bodyPr wrap="square" lIns="0" tIns="0" rIns="0" bIns="0" rtlCol="0" anchor="t">
            <a:normAutofit/>
          </a:bodyPr>
          <a:lstStyle/>
          <a:p>
            <a:pPr marL="0" indent="0" algn="l">
              <a:lnSpc>
                <a:spcPct val="118000"/>
              </a:lnSpc>
              <a:buNone/>
            </a:pPr>
            <a:r>
              <a:rPr lang="en-US" sz="1050" b="1" dirty="0">
                <a:solidFill>
                  <a:srgbClr val="173B5C"/>
                </a:solidFill>
                <a:latin typeface="IBM Plex Sans Bold" pitchFamily="34" charset="0"/>
                <a:ea typeface="IBM Plex Sans Bold" pitchFamily="34" charset="-122"/>
                <a:cs typeface="IBM Plex Sans Bold" pitchFamily="34" charset="-120"/>
              </a:rPr>
              <a:t>Problem → solution.</a:t>
            </a:r>
            <a:r>
              <a:rPr lang="en-US" sz="1050" dirty="0">
                <a:solidFill>
                  <a:srgbClr val="5F6361"/>
                </a:solidFill>
                <a:latin typeface="IBM Plex Sans" pitchFamily="34" charset="0"/>
                <a:ea typeface="IBM Plex Sans" pitchFamily="34" charset="-122"/>
                <a:cs typeface="IBM Plex Sans" pitchFamily="34" charset="-120"/>
              </a:rPr>
              <a:t> Fragmented transport information → consolidated journey view → informed passenger choice.</a:t>
            </a:r>
            <a:endParaRPr lang="en-US" sz="1050" dirty="0"/>
          </a:p>
        </p:txBody>
      </p:sp>
      <p:sp>
        <p:nvSpPr>
          <p:cNvPr id="18" name="Shape 16"/>
          <p:cNvSpPr/>
          <p:nvPr/>
        </p:nvSpPr>
        <p:spPr>
          <a:xfrm>
            <a:off x="0" y="10130548"/>
            <a:ext cx="7562088" cy="9477"/>
          </a:xfrm>
          <a:prstGeom prst="rect">
            <a:avLst/>
          </a:prstGeom>
          <a:solidFill>
            <a:srgbClr val="2A2E31">
              <a:alpha val="20000"/>
            </a:srgbClr>
          </a:solidFill>
          <a:ln/>
        </p:spPr>
      </p:sp>
      <p:sp>
        <p:nvSpPr>
          <p:cNvPr id="19" name="Text 17"/>
          <p:cNvSpPr/>
          <p:nvPr/>
        </p:nvSpPr>
        <p:spPr>
          <a:xfrm>
            <a:off x="660390" y="10324216"/>
            <a:ext cx="773194" cy="171390"/>
          </a:xfrm>
          <a:prstGeom prst="rect">
            <a:avLst/>
          </a:prstGeom>
          <a:noFill/>
          <a:ln/>
        </p:spPr>
        <p:txBody>
          <a:bodyPr wrap="none" lIns="0" tIns="0" rIns="0" bIns="0" rtlCol="0" anchor="ctr"/>
          <a:lstStyle/>
          <a:p>
            <a:pPr marL="0" indent="0" algn="l">
              <a:lnSpc>
                <a:spcPct val="125000"/>
              </a:lnSpc>
              <a:buNone/>
            </a:pPr>
            <a:r>
              <a:rPr lang="en-US" sz="900" kern="100" spc="68" dirty="0">
                <a:solidFill>
                  <a:srgbClr val="2A2E31"/>
                </a:solidFill>
                <a:latin typeface="IBM Plex Sans" pitchFamily="34" charset="0"/>
                <a:ea typeface="IBM Plex Sans" pitchFamily="34" charset="-122"/>
                <a:cs typeface="IBM Plex Sans" pitchFamily="34" charset="-120"/>
              </a:rPr>
              <a:t>MOVIT</a:t>
            </a:r>
            <a:endParaRPr lang="en-US" sz="900" dirty="0"/>
          </a:p>
        </p:txBody>
      </p:sp>
      <p:sp>
        <p:nvSpPr>
          <p:cNvPr id="20" name="Text 18"/>
          <p:cNvSpPr/>
          <p:nvPr/>
        </p:nvSpPr>
        <p:spPr>
          <a:xfrm>
            <a:off x="6747416" y="10324216"/>
            <a:ext cx="532386" cy="171390"/>
          </a:xfrm>
          <a:prstGeom prst="rect">
            <a:avLst/>
          </a:prstGeom>
          <a:noFill/>
          <a:ln/>
        </p:spPr>
        <p:txBody>
          <a:bodyPr wrap="none" lIns="0" tIns="0" rIns="0" bIns="0" rtlCol="0" anchor="ctr"/>
          <a:lstStyle/>
          <a:p>
            <a:pPr marL="0" indent="0" algn="l">
              <a:lnSpc>
                <a:spcPct val="125000"/>
              </a:lnSpc>
              <a:buNone/>
            </a:pPr>
            <a:r>
              <a:rPr lang="en-US" sz="900" kern="100" spc="68" dirty="0">
                <a:solidFill>
                  <a:srgbClr val="2A2E31"/>
                </a:solidFill>
                <a:latin typeface="IBM Plex Sans" pitchFamily="34" charset="0"/>
                <a:ea typeface="IBM Plex Sans" pitchFamily="34" charset="-122"/>
                <a:cs typeface="IBM Plex Sans"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0390" y="193668"/>
            <a:ext cx="773194" cy="171390"/>
          </a:xfrm>
          <a:prstGeom prst="rect">
            <a:avLst/>
          </a:prstGeom>
          <a:noFill/>
          <a:ln/>
        </p:spPr>
        <p:txBody>
          <a:bodyPr wrap="none" lIns="0" tIns="0" rIns="0" bIns="0" rtlCol="0" anchor="ctr"/>
          <a:lstStyle/>
          <a:p>
            <a:pPr marL="0" indent="0" algn="l">
              <a:lnSpc>
                <a:spcPct val="125000"/>
              </a:lnSpc>
              <a:buNone/>
            </a:pPr>
            <a:r>
              <a:rPr lang="en-US" sz="900" kern="100" spc="68" dirty="0">
                <a:solidFill>
                  <a:srgbClr val="2A2E31"/>
                </a:solidFill>
                <a:latin typeface="IBM Plex Sans" pitchFamily="34" charset="0"/>
                <a:ea typeface="IBM Plex Sans" pitchFamily="34" charset="-122"/>
                <a:cs typeface="IBM Plex Sans" pitchFamily="34" charset="-120"/>
              </a:rPr>
              <a:t>MOVIT</a:t>
            </a:r>
            <a:endParaRPr lang="en-US" sz="900" dirty="0"/>
          </a:p>
        </p:txBody>
      </p:sp>
      <p:sp>
        <p:nvSpPr>
          <p:cNvPr id="3" name="Text 1"/>
          <p:cNvSpPr/>
          <p:nvPr/>
        </p:nvSpPr>
        <p:spPr>
          <a:xfrm>
            <a:off x="6506608" y="193668"/>
            <a:ext cx="773194" cy="171390"/>
          </a:xfrm>
          <a:prstGeom prst="rect">
            <a:avLst/>
          </a:prstGeom>
          <a:noFill/>
          <a:ln/>
        </p:spPr>
        <p:txBody>
          <a:bodyPr wrap="none" lIns="0" tIns="0" rIns="0" bIns="0" rtlCol="0" anchor="ctr"/>
          <a:lstStyle/>
          <a:p>
            <a:pPr marL="0" indent="0" algn="l">
              <a:lnSpc>
                <a:spcPct val="125000"/>
              </a:lnSpc>
              <a:buNone/>
            </a:pPr>
            <a:r>
              <a:rPr lang="en-US" sz="900" kern="100" spc="68" dirty="0">
                <a:solidFill>
                  <a:srgbClr val="2A2E31"/>
                </a:solidFill>
                <a:latin typeface="IBM Plex Sans" pitchFamily="34" charset="0"/>
                <a:ea typeface="IBM Plex Sans" pitchFamily="34" charset="-122"/>
                <a:cs typeface="IBM Plex Sans" pitchFamily="34" charset="-120"/>
              </a:rPr>
              <a:t>MOVIT</a:t>
            </a:r>
            <a:endParaRPr lang="en-US" sz="900" dirty="0"/>
          </a:p>
        </p:txBody>
      </p:sp>
      <p:sp>
        <p:nvSpPr>
          <p:cNvPr id="4" name="Shape 2"/>
          <p:cNvSpPr/>
          <p:nvPr/>
        </p:nvSpPr>
        <p:spPr>
          <a:xfrm>
            <a:off x="0" y="549310"/>
            <a:ext cx="7562088" cy="9477"/>
          </a:xfrm>
          <a:prstGeom prst="rect">
            <a:avLst/>
          </a:prstGeom>
          <a:solidFill>
            <a:srgbClr val="2A2E31">
              <a:alpha val="20000"/>
            </a:srgbClr>
          </a:solidFill>
          <a:ln/>
        </p:spPr>
      </p:sp>
      <p:sp>
        <p:nvSpPr>
          <p:cNvPr id="5" name="Text 3"/>
          <p:cNvSpPr/>
          <p:nvPr/>
        </p:nvSpPr>
        <p:spPr>
          <a:xfrm>
            <a:off x="660390" y="1225132"/>
            <a:ext cx="6619412" cy="166652"/>
          </a:xfrm>
          <a:prstGeom prst="rect">
            <a:avLst/>
          </a:prstGeom>
          <a:noFill/>
          <a:ln/>
        </p:spPr>
        <p:txBody>
          <a:bodyPr wrap="none" lIns="0" tIns="0" rIns="0" bIns="0" rtlCol="0" anchor="t"/>
          <a:lstStyle/>
          <a:p>
            <a:pPr marL="0" indent="0" algn="l">
              <a:lnSpc>
                <a:spcPct val="104000"/>
              </a:lnSpc>
              <a:buNone/>
            </a:pPr>
            <a:r>
              <a:rPr lang="en-US" sz="1050" kern="100" spc="79" dirty="0">
                <a:solidFill>
                  <a:srgbClr val="2F7468"/>
                </a:solidFill>
                <a:latin typeface="IBM Plex Sans SemiBold" pitchFamily="34" charset="0"/>
                <a:ea typeface="IBM Plex Sans SemiBold" pitchFamily="34" charset="-122"/>
                <a:cs typeface="IBM Plex Sans SemiBold" pitchFamily="34" charset="-120"/>
              </a:rPr>
              <a:t>03 · SYSTEM CONCEPT</a:t>
            </a:r>
            <a:endParaRPr lang="en-US" sz="1050" dirty="0"/>
          </a:p>
        </p:txBody>
      </p:sp>
      <p:sp>
        <p:nvSpPr>
          <p:cNvPr id="6" name="Text 4"/>
          <p:cNvSpPr/>
          <p:nvPr/>
        </p:nvSpPr>
        <p:spPr>
          <a:xfrm>
            <a:off x="660390" y="1462017"/>
            <a:ext cx="6241307" cy="350473"/>
          </a:xfrm>
          <a:prstGeom prst="rect">
            <a:avLst/>
          </a:prstGeom>
          <a:noFill/>
          <a:ln/>
        </p:spPr>
        <p:txBody>
          <a:bodyPr wrap="none" lIns="0" tIns="0" rIns="0" bIns="0" rtlCol="0" anchor="t"/>
          <a:lstStyle/>
          <a:p>
            <a:pPr marL="0" indent="0" algn="l">
              <a:lnSpc>
                <a:spcPct val="96000"/>
              </a:lnSpc>
              <a:buNone/>
            </a:pPr>
            <a:r>
              <a:rPr lang="en-US" sz="2400" kern="100" spc="-12" dirty="0">
                <a:solidFill>
                  <a:srgbClr val="173B5C"/>
                </a:solidFill>
                <a:latin typeface="Newsreader SemiBold" pitchFamily="34" charset="0"/>
                <a:ea typeface="Newsreader SemiBold" pitchFamily="34" charset="-122"/>
                <a:cs typeface="Newsreader SemiBold" pitchFamily="34" charset="-120"/>
              </a:rPr>
              <a:t>3. Proposed System</a:t>
            </a:r>
            <a:endParaRPr lang="en-US" sz="2400" dirty="0"/>
          </a:p>
        </p:txBody>
      </p:sp>
      <p:sp>
        <p:nvSpPr>
          <p:cNvPr id="7" name="Shape 5"/>
          <p:cNvSpPr/>
          <p:nvPr/>
        </p:nvSpPr>
        <p:spPr>
          <a:xfrm>
            <a:off x="660390" y="2041052"/>
            <a:ext cx="1560296" cy="31509"/>
          </a:xfrm>
          <a:prstGeom prst="roundRect">
            <a:avLst>
              <a:gd name="adj" fmla="val 50000"/>
            </a:avLst>
          </a:prstGeom>
          <a:solidFill>
            <a:srgbClr val="B8581A"/>
          </a:solidFill>
          <a:ln/>
        </p:spPr>
      </p:sp>
      <p:sp>
        <p:nvSpPr>
          <p:cNvPr id="8" name="Text 6"/>
          <p:cNvSpPr/>
          <p:nvPr/>
        </p:nvSpPr>
        <p:spPr>
          <a:xfrm>
            <a:off x="660390" y="2282229"/>
            <a:ext cx="6095949" cy="1142807"/>
          </a:xfrm>
          <a:prstGeom prst="rect">
            <a:avLst/>
          </a:prstGeom>
          <a:noFill/>
          <a:ln/>
        </p:spPr>
        <p:txBody>
          <a:bodyPr wrap="square" lIns="0" tIns="0" rIns="0" bIns="0" rtlCol="0" anchor="t">
            <a:normAutofit/>
          </a:bodyPr>
          <a:lstStyle/>
          <a:p>
            <a:pPr marL="0" indent="0" algn="l">
              <a:lnSpc>
                <a:spcPct val="125000"/>
              </a:lnSpc>
              <a:buNone/>
            </a:pPr>
            <a:r>
              <a:rPr lang="en-US" sz="1200" dirty="0">
                <a:solidFill>
                  <a:srgbClr val="2A2E31"/>
                </a:solidFill>
                <a:latin typeface="IBM Plex Sans" pitchFamily="34" charset="0"/>
                <a:ea typeface="IBM Plex Sans" pitchFamily="34" charset="-122"/>
                <a:cs typeface="IBM Plex Sans" pitchFamily="34" charset="-120"/>
              </a:rPr>
              <a:t>MOVIT is structured around a simple passenger journey. The user selects an origin and destination, requests available buses, reviews services arriving within the next 60 minutes, compares conditions, and chooses the option that best fits the journey. The public prototype describes the same flow through journey selection, bus options, status information, and passenger reporting sections.</a:t>
            </a:r>
            <a:endParaRPr lang="en-US" sz="1200" dirty="0"/>
          </a:p>
        </p:txBody>
      </p:sp>
      <p:sp>
        <p:nvSpPr>
          <p:cNvPr id="9" name="Shape 7"/>
          <p:cNvSpPr/>
          <p:nvPr/>
        </p:nvSpPr>
        <p:spPr>
          <a:xfrm>
            <a:off x="660390" y="3697968"/>
            <a:ext cx="274840" cy="274840"/>
          </a:xfrm>
          <a:prstGeom prst="ellipse">
            <a:avLst/>
          </a:prstGeom>
          <a:solidFill>
            <a:srgbClr val="B8581A"/>
          </a:solidFill>
          <a:ln w="7877">
            <a:solidFill>
              <a:srgbClr val="D5D3CA"/>
            </a:solidFill>
            <a:prstDash val="solid"/>
          </a:ln>
        </p:spPr>
      </p:sp>
      <p:sp>
        <p:nvSpPr>
          <p:cNvPr id="10" name="Text 8"/>
          <p:cNvSpPr/>
          <p:nvPr/>
        </p:nvSpPr>
        <p:spPr>
          <a:xfrm>
            <a:off x="706361" y="3759200"/>
            <a:ext cx="561003" cy="152374"/>
          </a:xfrm>
          <a:prstGeom prst="rect">
            <a:avLst/>
          </a:prstGeom>
          <a:noFill/>
          <a:ln/>
        </p:spPr>
        <p:txBody>
          <a:bodyPr wrap="none" lIns="0" tIns="0" rIns="0" bIns="0" rtlCol="0" anchor="t"/>
          <a:lstStyle/>
          <a:p>
            <a:pPr marL="0" indent="0" algn="l">
              <a:lnSpc>
                <a:spcPct val="83000"/>
              </a:lnSpc>
              <a:buNone/>
            </a:pPr>
            <a:r>
              <a:rPr lang="en-US" sz="1200" dirty="0">
                <a:solidFill>
                  <a:srgbClr val="FFFFFF"/>
                </a:solidFill>
                <a:latin typeface="IBM Plex Sans SemiBold" pitchFamily="34" charset="0"/>
                <a:ea typeface="IBM Plex Sans SemiBold" pitchFamily="34" charset="-122"/>
                <a:cs typeface="IBM Plex Sans SemiBold" pitchFamily="34" charset="-120"/>
              </a:rPr>
              <a:t>01</a:t>
            </a:r>
            <a:endParaRPr lang="en-US" sz="1200" dirty="0"/>
          </a:p>
        </p:txBody>
      </p:sp>
      <p:sp>
        <p:nvSpPr>
          <p:cNvPr id="11" name="Text 9"/>
          <p:cNvSpPr/>
          <p:nvPr/>
        </p:nvSpPr>
        <p:spPr>
          <a:xfrm>
            <a:off x="1087604" y="3719815"/>
            <a:ext cx="5814094" cy="228561"/>
          </a:xfrm>
          <a:prstGeom prst="rect">
            <a:avLst/>
          </a:prstGeom>
          <a:noFill/>
          <a:ln/>
        </p:spPr>
        <p:txBody>
          <a:bodyPr wrap="none" lIns="0" tIns="0" rIns="0" bIns="0" rtlCol="0" anchor="t"/>
          <a:lstStyle/>
          <a:p>
            <a:pPr marL="0" indent="0" algn="l">
              <a:lnSpc>
                <a:spcPct val="125000"/>
              </a:lnSpc>
              <a:buNone/>
            </a:pPr>
            <a:r>
              <a:rPr lang="en-US" sz="1200" dirty="0">
                <a:solidFill>
                  <a:srgbClr val="2A2E31"/>
                </a:solidFill>
                <a:latin typeface="IBM Plex Sans" pitchFamily="34" charset="0"/>
                <a:ea typeface="IBM Plex Sans" pitchFamily="34" charset="-122"/>
                <a:cs typeface="IBM Plex Sans" pitchFamily="34" charset="-120"/>
              </a:rPr>
              <a:t>Select FROM location.</a:t>
            </a:r>
            <a:endParaRPr lang="en-US" sz="1200" dirty="0"/>
          </a:p>
        </p:txBody>
      </p:sp>
      <p:sp>
        <p:nvSpPr>
          <p:cNvPr id="12" name="Shape 10"/>
          <p:cNvSpPr/>
          <p:nvPr/>
        </p:nvSpPr>
        <p:spPr>
          <a:xfrm>
            <a:off x="660390" y="4175891"/>
            <a:ext cx="274840" cy="274840"/>
          </a:xfrm>
          <a:prstGeom prst="ellipse">
            <a:avLst/>
          </a:prstGeom>
          <a:solidFill>
            <a:srgbClr val="B8581A"/>
          </a:solidFill>
          <a:ln w="7877">
            <a:solidFill>
              <a:srgbClr val="D5D3CA"/>
            </a:solidFill>
            <a:prstDash val="solid"/>
          </a:ln>
        </p:spPr>
      </p:sp>
      <p:sp>
        <p:nvSpPr>
          <p:cNvPr id="13" name="Text 11"/>
          <p:cNvSpPr/>
          <p:nvPr/>
        </p:nvSpPr>
        <p:spPr>
          <a:xfrm>
            <a:off x="706361" y="4237124"/>
            <a:ext cx="561003" cy="152374"/>
          </a:xfrm>
          <a:prstGeom prst="rect">
            <a:avLst/>
          </a:prstGeom>
          <a:noFill/>
          <a:ln/>
        </p:spPr>
        <p:txBody>
          <a:bodyPr wrap="none" lIns="0" tIns="0" rIns="0" bIns="0" rtlCol="0" anchor="t"/>
          <a:lstStyle/>
          <a:p>
            <a:pPr marL="0" indent="0" algn="l">
              <a:lnSpc>
                <a:spcPct val="83000"/>
              </a:lnSpc>
              <a:buNone/>
            </a:pPr>
            <a:r>
              <a:rPr lang="en-US" sz="1200" dirty="0">
                <a:solidFill>
                  <a:srgbClr val="FFFFFF"/>
                </a:solidFill>
                <a:latin typeface="IBM Plex Sans SemiBold" pitchFamily="34" charset="0"/>
                <a:ea typeface="IBM Plex Sans SemiBold" pitchFamily="34" charset="-122"/>
                <a:cs typeface="IBM Plex Sans SemiBold" pitchFamily="34" charset="-120"/>
              </a:rPr>
              <a:t>02</a:t>
            </a:r>
            <a:endParaRPr lang="en-US" sz="1200" dirty="0"/>
          </a:p>
        </p:txBody>
      </p:sp>
      <p:sp>
        <p:nvSpPr>
          <p:cNvPr id="14" name="Text 12"/>
          <p:cNvSpPr/>
          <p:nvPr/>
        </p:nvSpPr>
        <p:spPr>
          <a:xfrm>
            <a:off x="1087604" y="4197738"/>
            <a:ext cx="5814094" cy="228561"/>
          </a:xfrm>
          <a:prstGeom prst="rect">
            <a:avLst/>
          </a:prstGeom>
          <a:noFill/>
          <a:ln/>
        </p:spPr>
        <p:txBody>
          <a:bodyPr wrap="none" lIns="0" tIns="0" rIns="0" bIns="0" rtlCol="0" anchor="t"/>
          <a:lstStyle/>
          <a:p>
            <a:pPr marL="0" indent="0" algn="l">
              <a:lnSpc>
                <a:spcPct val="125000"/>
              </a:lnSpc>
              <a:buNone/>
            </a:pPr>
            <a:r>
              <a:rPr lang="en-US" sz="1200" dirty="0">
                <a:solidFill>
                  <a:srgbClr val="2A2E31"/>
                </a:solidFill>
                <a:latin typeface="IBM Plex Sans" pitchFamily="34" charset="0"/>
                <a:ea typeface="IBM Plex Sans" pitchFamily="34" charset="-122"/>
                <a:cs typeface="IBM Plex Sans" pitchFamily="34" charset="-120"/>
              </a:rPr>
              <a:t>Select TO location.</a:t>
            </a:r>
            <a:endParaRPr lang="en-US" sz="1200" dirty="0"/>
          </a:p>
        </p:txBody>
      </p:sp>
      <p:sp>
        <p:nvSpPr>
          <p:cNvPr id="15" name="Shape 13"/>
          <p:cNvSpPr/>
          <p:nvPr/>
        </p:nvSpPr>
        <p:spPr>
          <a:xfrm>
            <a:off x="660390" y="4653815"/>
            <a:ext cx="274840" cy="274840"/>
          </a:xfrm>
          <a:prstGeom prst="ellipse">
            <a:avLst/>
          </a:prstGeom>
          <a:solidFill>
            <a:srgbClr val="B8581A"/>
          </a:solidFill>
          <a:ln w="7877">
            <a:solidFill>
              <a:srgbClr val="D5D3CA"/>
            </a:solidFill>
            <a:prstDash val="solid"/>
          </a:ln>
        </p:spPr>
      </p:sp>
      <p:sp>
        <p:nvSpPr>
          <p:cNvPr id="16" name="Text 14"/>
          <p:cNvSpPr/>
          <p:nvPr/>
        </p:nvSpPr>
        <p:spPr>
          <a:xfrm>
            <a:off x="706361" y="4715047"/>
            <a:ext cx="561003" cy="152374"/>
          </a:xfrm>
          <a:prstGeom prst="rect">
            <a:avLst/>
          </a:prstGeom>
          <a:noFill/>
          <a:ln/>
        </p:spPr>
        <p:txBody>
          <a:bodyPr wrap="none" lIns="0" tIns="0" rIns="0" bIns="0" rtlCol="0" anchor="t"/>
          <a:lstStyle/>
          <a:p>
            <a:pPr marL="0" indent="0" algn="l">
              <a:lnSpc>
                <a:spcPct val="83000"/>
              </a:lnSpc>
              <a:buNone/>
            </a:pPr>
            <a:r>
              <a:rPr lang="en-US" sz="1200" dirty="0">
                <a:solidFill>
                  <a:srgbClr val="FFFFFF"/>
                </a:solidFill>
                <a:latin typeface="IBM Plex Sans SemiBold" pitchFamily="34" charset="0"/>
                <a:ea typeface="IBM Plex Sans SemiBold" pitchFamily="34" charset="-122"/>
                <a:cs typeface="IBM Plex Sans SemiBold" pitchFamily="34" charset="-120"/>
              </a:rPr>
              <a:t>03</a:t>
            </a:r>
            <a:endParaRPr lang="en-US" sz="1200" dirty="0"/>
          </a:p>
        </p:txBody>
      </p:sp>
      <p:sp>
        <p:nvSpPr>
          <p:cNvPr id="17" name="Text 15"/>
          <p:cNvSpPr/>
          <p:nvPr/>
        </p:nvSpPr>
        <p:spPr>
          <a:xfrm>
            <a:off x="1087604" y="4675661"/>
            <a:ext cx="5814094" cy="228561"/>
          </a:xfrm>
          <a:prstGeom prst="rect">
            <a:avLst/>
          </a:prstGeom>
          <a:noFill/>
          <a:ln/>
        </p:spPr>
        <p:txBody>
          <a:bodyPr wrap="none" lIns="0" tIns="0" rIns="0" bIns="0" rtlCol="0" anchor="t"/>
          <a:lstStyle/>
          <a:p>
            <a:pPr marL="0" indent="0" algn="l">
              <a:lnSpc>
                <a:spcPct val="125000"/>
              </a:lnSpc>
              <a:buNone/>
            </a:pPr>
            <a:r>
              <a:rPr lang="en-US" sz="1200" dirty="0">
                <a:solidFill>
                  <a:srgbClr val="2A2E31"/>
                </a:solidFill>
                <a:latin typeface="IBM Plex Sans" pitchFamily="34" charset="0"/>
                <a:ea typeface="IBM Plex Sans" pitchFamily="34" charset="-122"/>
                <a:cs typeface="IBM Plex Sans" pitchFamily="34" charset="-120"/>
              </a:rPr>
              <a:t>Request available buses.</a:t>
            </a:r>
            <a:endParaRPr lang="en-US" sz="1200" dirty="0"/>
          </a:p>
        </p:txBody>
      </p:sp>
      <p:sp>
        <p:nvSpPr>
          <p:cNvPr id="18" name="Shape 16"/>
          <p:cNvSpPr/>
          <p:nvPr/>
        </p:nvSpPr>
        <p:spPr>
          <a:xfrm>
            <a:off x="660390" y="5131738"/>
            <a:ext cx="274840" cy="274840"/>
          </a:xfrm>
          <a:prstGeom prst="ellipse">
            <a:avLst/>
          </a:prstGeom>
          <a:solidFill>
            <a:srgbClr val="B8581A"/>
          </a:solidFill>
          <a:ln w="7877">
            <a:solidFill>
              <a:srgbClr val="D5D3CA"/>
            </a:solidFill>
            <a:prstDash val="solid"/>
          </a:ln>
        </p:spPr>
      </p:sp>
      <p:sp>
        <p:nvSpPr>
          <p:cNvPr id="19" name="Text 17"/>
          <p:cNvSpPr/>
          <p:nvPr/>
        </p:nvSpPr>
        <p:spPr>
          <a:xfrm>
            <a:off x="706361" y="5192971"/>
            <a:ext cx="561003" cy="152374"/>
          </a:xfrm>
          <a:prstGeom prst="rect">
            <a:avLst/>
          </a:prstGeom>
          <a:noFill/>
          <a:ln/>
        </p:spPr>
        <p:txBody>
          <a:bodyPr wrap="none" lIns="0" tIns="0" rIns="0" bIns="0" rtlCol="0" anchor="t"/>
          <a:lstStyle/>
          <a:p>
            <a:pPr marL="0" indent="0" algn="l">
              <a:lnSpc>
                <a:spcPct val="83000"/>
              </a:lnSpc>
              <a:buNone/>
            </a:pPr>
            <a:r>
              <a:rPr lang="en-US" sz="1200" dirty="0">
                <a:solidFill>
                  <a:srgbClr val="FFFFFF"/>
                </a:solidFill>
                <a:latin typeface="IBM Plex Sans SemiBold" pitchFamily="34" charset="0"/>
                <a:ea typeface="IBM Plex Sans SemiBold" pitchFamily="34" charset="-122"/>
                <a:cs typeface="IBM Plex Sans SemiBold" pitchFamily="34" charset="-120"/>
              </a:rPr>
              <a:t>04</a:t>
            </a:r>
            <a:endParaRPr lang="en-US" sz="1200" dirty="0"/>
          </a:p>
        </p:txBody>
      </p:sp>
      <p:sp>
        <p:nvSpPr>
          <p:cNvPr id="20" name="Text 18"/>
          <p:cNvSpPr/>
          <p:nvPr/>
        </p:nvSpPr>
        <p:spPr>
          <a:xfrm>
            <a:off x="1087604" y="5153585"/>
            <a:ext cx="5814094" cy="228561"/>
          </a:xfrm>
          <a:prstGeom prst="rect">
            <a:avLst/>
          </a:prstGeom>
          <a:noFill/>
          <a:ln/>
        </p:spPr>
        <p:txBody>
          <a:bodyPr wrap="none" lIns="0" tIns="0" rIns="0" bIns="0" rtlCol="0" anchor="t"/>
          <a:lstStyle/>
          <a:p>
            <a:pPr marL="0" indent="0" algn="l">
              <a:lnSpc>
                <a:spcPct val="125000"/>
              </a:lnSpc>
              <a:buNone/>
            </a:pPr>
            <a:r>
              <a:rPr lang="en-US" sz="1200" dirty="0">
                <a:solidFill>
                  <a:srgbClr val="2A2E31"/>
                </a:solidFill>
                <a:latin typeface="IBM Plex Sans" pitchFamily="34" charset="0"/>
                <a:ea typeface="IBM Plex Sans" pitchFamily="34" charset="-122"/>
                <a:cs typeface="IBM Plex Sans" pitchFamily="34" charset="-120"/>
              </a:rPr>
              <a:t>View buses arriving within the next 60 minutes.</a:t>
            </a:r>
            <a:endParaRPr lang="en-US" sz="1200" dirty="0"/>
          </a:p>
        </p:txBody>
      </p:sp>
      <p:sp>
        <p:nvSpPr>
          <p:cNvPr id="21" name="Shape 19"/>
          <p:cNvSpPr/>
          <p:nvPr/>
        </p:nvSpPr>
        <p:spPr>
          <a:xfrm>
            <a:off x="660390" y="5609661"/>
            <a:ext cx="274840" cy="274840"/>
          </a:xfrm>
          <a:prstGeom prst="ellipse">
            <a:avLst/>
          </a:prstGeom>
          <a:solidFill>
            <a:srgbClr val="B8581A"/>
          </a:solidFill>
          <a:ln w="7877">
            <a:solidFill>
              <a:srgbClr val="D5D3CA"/>
            </a:solidFill>
            <a:prstDash val="solid"/>
          </a:ln>
        </p:spPr>
      </p:sp>
      <p:sp>
        <p:nvSpPr>
          <p:cNvPr id="22" name="Text 20"/>
          <p:cNvSpPr/>
          <p:nvPr/>
        </p:nvSpPr>
        <p:spPr>
          <a:xfrm>
            <a:off x="706361" y="5670894"/>
            <a:ext cx="561003" cy="152374"/>
          </a:xfrm>
          <a:prstGeom prst="rect">
            <a:avLst/>
          </a:prstGeom>
          <a:noFill/>
          <a:ln/>
        </p:spPr>
        <p:txBody>
          <a:bodyPr wrap="none" lIns="0" tIns="0" rIns="0" bIns="0" rtlCol="0" anchor="t"/>
          <a:lstStyle/>
          <a:p>
            <a:pPr marL="0" indent="0" algn="l">
              <a:lnSpc>
                <a:spcPct val="83000"/>
              </a:lnSpc>
              <a:buNone/>
            </a:pPr>
            <a:r>
              <a:rPr lang="en-US" sz="1200" dirty="0">
                <a:solidFill>
                  <a:srgbClr val="FFFFFF"/>
                </a:solidFill>
                <a:latin typeface="IBM Plex Sans SemiBold" pitchFamily="34" charset="0"/>
                <a:ea typeface="IBM Plex Sans SemiBold" pitchFamily="34" charset="-122"/>
                <a:cs typeface="IBM Plex Sans SemiBold" pitchFamily="34" charset="-120"/>
              </a:rPr>
              <a:t>05</a:t>
            </a:r>
            <a:endParaRPr lang="en-US" sz="1200" dirty="0"/>
          </a:p>
        </p:txBody>
      </p:sp>
      <p:sp>
        <p:nvSpPr>
          <p:cNvPr id="23" name="Text 21"/>
          <p:cNvSpPr/>
          <p:nvPr/>
        </p:nvSpPr>
        <p:spPr>
          <a:xfrm>
            <a:off x="1087604" y="5631508"/>
            <a:ext cx="5814094" cy="228561"/>
          </a:xfrm>
          <a:prstGeom prst="rect">
            <a:avLst/>
          </a:prstGeom>
          <a:noFill/>
          <a:ln/>
        </p:spPr>
        <p:txBody>
          <a:bodyPr wrap="none" lIns="0" tIns="0" rIns="0" bIns="0" rtlCol="0" anchor="t"/>
          <a:lstStyle/>
          <a:p>
            <a:pPr marL="0" indent="0" algn="l">
              <a:lnSpc>
                <a:spcPct val="125000"/>
              </a:lnSpc>
              <a:buNone/>
            </a:pPr>
            <a:r>
              <a:rPr lang="en-US" sz="1200" dirty="0">
                <a:solidFill>
                  <a:srgbClr val="2A2E31"/>
                </a:solidFill>
                <a:latin typeface="IBM Plex Sans" pitchFamily="34" charset="0"/>
                <a:ea typeface="IBM Plex Sans" pitchFamily="34" charset="-122"/>
                <a:cs typeface="IBM Plex Sans" pitchFamily="34" charset="-120"/>
              </a:rPr>
              <a:t>Compare arrival, delay, crowding, and route information.</a:t>
            </a:r>
            <a:endParaRPr lang="en-US" sz="1200" dirty="0"/>
          </a:p>
        </p:txBody>
      </p:sp>
      <p:sp>
        <p:nvSpPr>
          <p:cNvPr id="24" name="Shape 22"/>
          <p:cNvSpPr/>
          <p:nvPr/>
        </p:nvSpPr>
        <p:spPr>
          <a:xfrm>
            <a:off x="660390" y="6087585"/>
            <a:ext cx="274840" cy="274840"/>
          </a:xfrm>
          <a:prstGeom prst="ellipse">
            <a:avLst/>
          </a:prstGeom>
          <a:solidFill>
            <a:srgbClr val="B8581A"/>
          </a:solidFill>
          <a:ln w="7877">
            <a:solidFill>
              <a:srgbClr val="D5D3CA"/>
            </a:solidFill>
            <a:prstDash val="solid"/>
          </a:ln>
        </p:spPr>
      </p:sp>
      <p:sp>
        <p:nvSpPr>
          <p:cNvPr id="25" name="Text 23"/>
          <p:cNvSpPr/>
          <p:nvPr/>
        </p:nvSpPr>
        <p:spPr>
          <a:xfrm>
            <a:off x="706361" y="6148818"/>
            <a:ext cx="561003" cy="152374"/>
          </a:xfrm>
          <a:prstGeom prst="rect">
            <a:avLst/>
          </a:prstGeom>
          <a:noFill/>
          <a:ln/>
        </p:spPr>
        <p:txBody>
          <a:bodyPr wrap="none" lIns="0" tIns="0" rIns="0" bIns="0" rtlCol="0" anchor="t"/>
          <a:lstStyle/>
          <a:p>
            <a:pPr marL="0" indent="0" algn="l">
              <a:lnSpc>
                <a:spcPct val="83000"/>
              </a:lnSpc>
              <a:buNone/>
            </a:pPr>
            <a:r>
              <a:rPr lang="en-US" sz="1200" dirty="0">
                <a:solidFill>
                  <a:srgbClr val="FFFFFF"/>
                </a:solidFill>
                <a:latin typeface="IBM Plex Sans SemiBold" pitchFamily="34" charset="0"/>
                <a:ea typeface="IBM Plex Sans SemiBold" pitchFamily="34" charset="-122"/>
                <a:cs typeface="IBM Plex Sans SemiBold" pitchFamily="34" charset="-120"/>
              </a:rPr>
              <a:t>06</a:t>
            </a:r>
            <a:endParaRPr lang="en-US" sz="1200" dirty="0"/>
          </a:p>
        </p:txBody>
      </p:sp>
      <p:sp>
        <p:nvSpPr>
          <p:cNvPr id="26" name="Text 24"/>
          <p:cNvSpPr/>
          <p:nvPr/>
        </p:nvSpPr>
        <p:spPr>
          <a:xfrm>
            <a:off x="1087604" y="6109432"/>
            <a:ext cx="5814094" cy="228561"/>
          </a:xfrm>
          <a:prstGeom prst="rect">
            <a:avLst/>
          </a:prstGeom>
          <a:noFill/>
          <a:ln/>
        </p:spPr>
        <p:txBody>
          <a:bodyPr wrap="none" lIns="0" tIns="0" rIns="0" bIns="0" rtlCol="0" anchor="t"/>
          <a:lstStyle/>
          <a:p>
            <a:pPr marL="0" indent="0" algn="l">
              <a:lnSpc>
                <a:spcPct val="125000"/>
              </a:lnSpc>
              <a:buNone/>
            </a:pPr>
            <a:r>
              <a:rPr lang="en-US" sz="1200" dirty="0">
                <a:solidFill>
                  <a:srgbClr val="2A2E31"/>
                </a:solidFill>
                <a:latin typeface="IBM Plex Sans" pitchFamily="34" charset="0"/>
                <a:ea typeface="IBM Plex Sans" pitchFamily="34" charset="-122"/>
                <a:cs typeface="IBM Plex Sans" pitchFamily="34" charset="-120"/>
              </a:rPr>
              <a:t>Identify the recommended option.</a:t>
            </a:r>
            <a:endParaRPr lang="en-US" sz="1200" dirty="0"/>
          </a:p>
        </p:txBody>
      </p:sp>
      <p:sp>
        <p:nvSpPr>
          <p:cNvPr id="27" name="Shape 25"/>
          <p:cNvSpPr/>
          <p:nvPr/>
        </p:nvSpPr>
        <p:spPr>
          <a:xfrm>
            <a:off x="660390" y="6565508"/>
            <a:ext cx="274840" cy="274840"/>
          </a:xfrm>
          <a:prstGeom prst="ellipse">
            <a:avLst/>
          </a:prstGeom>
          <a:solidFill>
            <a:srgbClr val="B8581A"/>
          </a:solidFill>
          <a:ln w="7877">
            <a:solidFill>
              <a:srgbClr val="D5D3CA"/>
            </a:solidFill>
            <a:prstDash val="solid"/>
          </a:ln>
        </p:spPr>
      </p:sp>
      <p:sp>
        <p:nvSpPr>
          <p:cNvPr id="28" name="Text 26"/>
          <p:cNvSpPr/>
          <p:nvPr/>
        </p:nvSpPr>
        <p:spPr>
          <a:xfrm>
            <a:off x="706361" y="6626741"/>
            <a:ext cx="561003" cy="152374"/>
          </a:xfrm>
          <a:prstGeom prst="rect">
            <a:avLst/>
          </a:prstGeom>
          <a:noFill/>
          <a:ln/>
        </p:spPr>
        <p:txBody>
          <a:bodyPr wrap="none" lIns="0" tIns="0" rIns="0" bIns="0" rtlCol="0" anchor="t"/>
          <a:lstStyle/>
          <a:p>
            <a:pPr marL="0" indent="0" algn="l">
              <a:lnSpc>
                <a:spcPct val="83000"/>
              </a:lnSpc>
              <a:buNone/>
            </a:pPr>
            <a:r>
              <a:rPr lang="en-US" sz="1200" dirty="0">
                <a:solidFill>
                  <a:srgbClr val="FFFFFF"/>
                </a:solidFill>
                <a:latin typeface="IBM Plex Sans SemiBold" pitchFamily="34" charset="0"/>
                <a:ea typeface="IBM Plex Sans SemiBold" pitchFamily="34" charset="-122"/>
                <a:cs typeface="IBM Plex Sans SemiBold" pitchFamily="34" charset="-120"/>
              </a:rPr>
              <a:t>07</a:t>
            </a:r>
            <a:endParaRPr lang="en-US" sz="1200" dirty="0"/>
          </a:p>
        </p:txBody>
      </p:sp>
      <p:sp>
        <p:nvSpPr>
          <p:cNvPr id="29" name="Text 27"/>
          <p:cNvSpPr/>
          <p:nvPr/>
        </p:nvSpPr>
        <p:spPr>
          <a:xfrm>
            <a:off x="1087604" y="6587355"/>
            <a:ext cx="5814094" cy="228561"/>
          </a:xfrm>
          <a:prstGeom prst="rect">
            <a:avLst/>
          </a:prstGeom>
          <a:noFill/>
          <a:ln/>
        </p:spPr>
        <p:txBody>
          <a:bodyPr wrap="none" lIns="0" tIns="0" rIns="0" bIns="0" rtlCol="0" anchor="t"/>
          <a:lstStyle/>
          <a:p>
            <a:pPr marL="0" indent="0" algn="l">
              <a:lnSpc>
                <a:spcPct val="125000"/>
              </a:lnSpc>
              <a:buNone/>
            </a:pPr>
            <a:r>
              <a:rPr lang="en-US" sz="1200" dirty="0">
                <a:solidFill>
                  <a:srgbClr val="2A2E31"/>
                </a:solidFill>
                <a:latin typeface="IBM Plex Sans" pitchFamily="34" charset="0"/>
                <a:ea typeface="IBM Plex Sans" pitchFamily="34" charset="-122"/>
                <a:cs typeface="IBM Plex Sans" pitchFamily="34" charset="-120"/>
              </a:rPr>
              <a:t>Review transport status when required.</a:t>
            </a:r>
            <a:endParaRPr lang="en-US" sz="1200" dirty="0"/>
          </a:p>
        </p:txBody>
      </p:sp>
      <p:sp>
        <p:nvSpPr>
          <p:cNvPr id="30" name="Shape 28"/>
          <p:cNvSpPr/>
          <p:nvPr/>
        </p:nvSpPr>
        <p:spPr>
          <a:xfrm>
            <a:off x="660390" y="7043432"/>
            <a:ext cx="274840" cy="274840"/>
          </a:xfrm>
          <a:prstGeom prst="ellipse">
            <a:avLst/>
          </a:prstGeom>
          <a:solidFill>
            <a:srgbClr val="B8581A"/>
          </a:solidFill>
          <a:ln w="7877">
            <a:solidFill>
              <a:srgbClr val="D5D3CA"/>
            </a:solidFill>
            <a:prstDash val="solid"/>
          </a:ln>
        </p:spPr>
      </p:sp>
      <p:sp>
        <p:nvSpPr>
          <p:cNvPr id="31" name="Text 29"/>
          <p:cNvSpPr/>
          <p:nvPr/>
        </p:nvSpPr>
        <p:spPr>
          <a:xfrm>
            <a:off x="706361" y="7104664"/>
            <a:ext cx="561003" cy="152374"/>
          </a:xfrm>
          <a:prstGeom prst="rect">
            <a:avLst/>
          </a:prstGeom>
          <a:noFill/>
          <a:ln/>
        </p:spPr>
        <p:txBody>
          <a:bodyPr wrap="none" lIns="0" tIns="0" rIns="0" bIns="0" rtlCol="0" anchor="t"/>
          <a:lstStyle/>
          <a:p>
            <a:pPr marL="0" indent="0" algn="l">
              <a:lnSpc>
                <a:spcPct val="83000"/>
              </a:lnSpc>
              <a:buNone/>
            </a:pPr>
            <a:r>
              <a:rPr lang="en-US" sz="1200" dirty="0">
                <a:solidFill>
                  <a:srgbClr val="FFFFFF"/>
                </a:solidFill>
                <a:latin typeface="IBM Plex Sans SemiBold" pitchFamily="34" charset="0"/>
                <a:ea typeface="IBM Plex Sans SemiBold" pitchFamily="34" charset="-122"/>
                <a:cs typeface="IBM Plex Sans SemiBold" pitchFamily="34" charset="-120"/>
              </a:rPr>
              <a:t>08</a:t>
            </a:r>
            <a:endParaRPr lang="en-US" sz="1200" dirty="0"/>
          </a:p>
        </p:txBody>
      </p:sp>
      <p:sp>
        <p:nvSpPr>
          <p:cNvPr id="32" name="Text 30"/>
          <p:cNvSpPr/>
          <p:nvPr/>
        </p:nvSpPr>
        <p:spPr>
          <a:xfrm>
            <a:off x="1087604" y="7065278"/>
            <a:ext cx="5814094" cy="228561"/>
          </a:xfrm>
          <a:prstGeom prst="rect">
            <a:avLst/>
          </a:prstGeom>
          <a:noFill/>
          <a:ln/>
        </p:spPr>
        <p:txBody>
          <a:bodyPr wrap="none" lIns="0" tIns="0" rIns="0" bIns="0" rtlCol="0" anchor="t"/>
          <a:lstStyle/>
          <a:p>
            <a:pPr marL="0" indent="0" algn="l">
              <a:lnSpc>
                <a:spcPct val="125000"/>
              </a:lnSpc>
              <a:buNone/>
            </a:pPr>
            <a:r>
              <a:rPr lang="en-US" sz="1200" dirty="0">
                <a:solidFill>
                  <a:srgbClr val="2A2E31"/>
                </a:solidFill>
                <a:latin typeface="IBM Plex Sans" pitchFamily="34" charset="0"/>
                <a:ea typeface="IBM Plex Sans" pitchFamily="34" charset="-122"/>
                <a:cs typeface="IBM Plex Sans" pitchFamily="34" charset="-120"/>
              </a:rPr>
              <a:t>Submit a passenger observation when appropriate.</a:t>
            </a:r>
            <a:endParaRPr lang="en-US" sz="1200" dirty="0"/>
          </a:p>
        </p:txBody>
      </p:sp>
      <p:sp>
        <p:nvSpPr>
          <p:cNvPr id="33" name="Text 31"/>
          <p:cNvSpPr/>
          <p:nvPr/>
        </p:nvSpPr>
        <p:spPr>
          <a:xfrm>
            <a:off x="660390" y="7746778"/>
            <a:ext cx="6241307" cy="335826"/>
          </a:xfrm>
          <a:prstGeom prst="rect">
            <a:avLst/>
          </a:prstGeom>
          <a:noFill/>
          <a:ln/>
        </p:spPr>
        <p:txBody>
          <a:bodyPr wrap="none" lIns="0" tIns="0" rIns="0" bIns="0" rtlCol="0" anchor="t"/>
          <a:lstStyle/>
          <a:p>
            <a:pPr marL="0" indent="0" algn="l">
              <a:lnSpc>
                <a:spcPct val="96000"/>
              </a:lnSpc>
              <a:buNone/>
            </a:pPr>
            <a:r>
              <a:rPr lang="en-US" sz="2300" kern="100" spc="-11" dirty="0">
                <a:solidFill>
                  <a:srgbClr val="173B5C"/>
                </a:solidFill>
                <a:latin typeface="Newsreader SemiBold" pitchFamily="34" charset="0"/>
                <a:ea typeface="Newsreader SemiBold" pitchFamily="34" charset="-122"/>
                <a:cs typeface="Newsreader SemiBold" pitchFamily="34" charset="-120"/>
              </a:rPr>
              <a:t>Next bus versus better bus</a:t>
            </a:r>
            <a:endParaRPr lang="en-US" sz="23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660390" y="8273072"/>
          <a:ext cx="6241308" cy="2365430"/>
        </p:xfrm>
        <a:graphic>
          <a:graphicData uri="http://schemas.openxmlformats.org/drawingml/2006/table">
            <a:tbl>
              <a:tblPr/>
              <a:tblGrid>
                <a:gridCol w="1747564">
                  <a:extLst>
                    <a:ext uri="{9D8B030D-6E8A-4147-A177-3AD203B41FA5}">
                      <a16:colId xmlns:a16="http://schemas.microsoft.com/office/drawing/2014/main" val="20000"/>
                    </a:ext>
                  </a:extLst>
                </a:gridCol>
                <a:gridCol w="1872368">
                  <a:extLst>
                    <a:ext uri="{9D8B030D-6E8A-4147-A177-3AD203B41FA5}">
                      <a16:colId xmlns:a16="http://schemas.microsoft.com/office/drawing/2014/main" val="20001"/>
                    </a:ext>
                  </a:extLst>
                </a:gridCol>
                <a:gridCol w="2621376">
                  <a:extLst>
                    <a:ext uri="{9D8B030D-6E8A-4147-A177-3AD203B41FA5}">
                      <a16:colId xmlns:a16="http://schemas.microsoft.com/office/drawing/2014/main" val="20002"/>
                    </a:ext>
                  </a:extLst>
                </a:gridCol>
              </a:tblGrid>
              <a:tr h="345180">
                <a:tc>
                  <a:txBody>
                    <a:bodyPr/>
                    <a:lstStyle/>
                    <a:p>
                      <a:pPr marL="0" indent="0" algn="l">
                        <a:buNone/>
                      </a:pPr>
                      <a:r>
                        <a:rPr lang="en-US" sz="950" kern="100" spc="47" dirty="0">
                          <a:solidFill>
                            <a:srgbClr val="173B5C"/>
                          </a:solidFill>
                          <a:latin typeface="IBM Plex Sans" pitchFamily="34" charset="0"/>
                          <a:ea typeface="IBM Plex Sans" pitchFamily="34" charset="-122"/>
                          <a:cs typeface="IBM Plex Sans" pitchFamily="34" charset="-120"/>
                        </a:rPr>
                        <a:t>DIMENSION</a:t>
                      </a:r>
                      <a:endParaRPr lang="en-US" sz="950" dirty="0">
                        <a:latin typeface="IBM Plex Sans" charset="0"/>
                        <a:ea typeface="IBM Plex Sans" charset="0"/>
                        <a:cs typeface="IBM Plex Sans" charset="0"/>
                      </a:endParaRPr>
                    </a:p>
                  </a:txBody>
                  <a:tcPr marL="90488" marR="90488" marT="76200" marB="76200" anchor="ctr">
                    <a:lnL w="12700" cap="flat" cmpd="sng" algn="ctr">
                      <a:solidFill>
                        <a:srgbClr val="FBFAF6"/>
                      </a:solidFill>
                      <a:prstDash val="solid"/>
                      <a:round/>
                      <a:headEnd type="none" w="med" len="med"/>
                      <a:tailEnd type="none" w="med" len="med"/>
                    </a:lnL>
                    <a:lnR w="12700" cap="flat" cmpd="sng" algn="ctr">
                      <a:solidFill>
                        <a:srgbClr val="FBFAF6"/>
                      </a:solidFill>
                      <a:prstDash val="solid"/>
                      <a:round/>
                      <a:headEnd type="none" w="med" len="med"/>
                      <a:tailEnd type="none" w="med" len="med"/>
                    </a:lnR>
                    <a:lnT w="12700" cap="flat" cmpd="sng" algn="ctr">
                      <a:solidFill>
                        <a:srgbClr val="FBFAF6"/>
                      </a:solidFill>
                      <a:prstDash val="solid"/>
                      <a:round/>
                      <a:headEnd type="none" w="med" len="med"/>
                      <a:tailEnd type="none" w="med" len="med"/>
                    </a:lnT>
                    <a:lnB w="12700" cap="flat" cmpd="sng" algn="ctr">
                      <a:solidFill>
                        <a:srgbClr val="173B5C"/>
                      </a:solidFill>
                      <a:prstDash val="solid"/>
                      <a:round/>
                      <a:headEnd type="none" w="med" len="med"/>
                      <a:tailEnd type="none" w="med" len="med"/>
                    </a:lnB>
                  </a:tcPr>
                </a:tc>
                <a:tc>
                  <a:txBody>
                    <a:bodyPr/>
                    <a:lstStyle/>
                    <a:p>
                      <a:pPr marL="0" indent="0" algn="l">
                        <a:buNone/>
                      </a:pPr>
                      <a:r>
                        <a:rPr lang="en-US" sz="950" kern="100" spc="47" dirty="0">
                          <a:solidFill>
                            <a:srgbClr val="173B5C"/>
                          </a:solidFill>
                          <a:latin typeface="IBM Plex Sans" pitchFamily="34" charset="0"/>
                          <a:ea typeface="IBM Plex Sans" pitchFamily="34" charset="-122"/>
                          <a:cs typeface="IBM Plex Sans" pitchFamily="34" charset="-120"/>
                        </a:rPr>
                        <a:t>NEXT BUS</a:t>
                      </a:r>
                      <a:endParaRPr lang="en-US" sz="950" dirty="0">
                        <a:latin typeface="IBM Plex Sans" charset="0"/>
                        <a:ea typeface="IBM Plex Sans" charset="0"/>
                        <a:cs typeface="IBM Plex Sans" charset="0"/>
                      </a:endParaRPr>
                    </a:p>
                  </a:txBody>
                  <a:tcPr marL="90488" marR="90488" marT="76200" marB="76200" anchor="ctr">
                    <a:lnL w="12700" cap="flat" cmpd="sng" algn="ctr">
                      <a:solidFill>
                        <a:srgbClr val="FBFAF6"/>
                      </a:solidFill>
                      <a:prstDash val="solid"/>
                      <a:round/>
                      <a:headEnd type="none" w="med" len="med"/>
                      <a:tailEnd type="none" w="med" len="med"/>
                    </a:lnL>
                    <a:lnR w="12700" cap="flat" cmpd="sng" algn="ctr">
                      <a:solidFill>
                        <a:srgbClr val="FBFAF6"/>
                      </a:solidFill>
                      <a:prstDash val="solid"/>
                      <a:round/>
                      <a:headEnd type="none" w="med" len="med"/>
                      <a:tailEnd type="none" w="med" len="med"/>
                    </a:lnR>
                    <a:lnT w="12700" cap="flat" cmpd="sng" algn="ctr">
                      <a:solidFill>
                        <a:srgbClr val="FBFAF6"/>
                      </a:solidFill>
                      <a:prstDash val="solid"/>
                      <a:round/>
                      <a:headEnd type="none" w="med" len="med"/>
                      <a:tailEnd type="none" w="med" len="med"/>
                    </a:lnT>
                    <a:lnB w="12700" cap="flat" cmpd="sng" algn="ctr">
                      <a:solidFill>
                        <a:srgbClr val="173B5C"/>
                      </a:solidFill>
                      <a:prstDash val="solid"/>
                      <a:round/>
                      <a:headEnd type="none" w="med" len="med"/>
                      <a:tailEnd type="none" w="med" len="med"/>
                    </a:lnB>
                  </a:tcPr>
                </a:tc>
                <a:tc>
                  <a:txBody>
                    <a:bodyPr/>
                    <a:lstStyle/>
                    <a:p>
                      <a:pPr marL="0" indent="0" algn="l">
                        <a:buNone/>
                      </a:pPr>
                      <a:r>
                        <a:rPr lang="en-US" sz="950" kern="100" spc="47" dirty="0">
                          <a:solidFill>
                            <a:srgbClr val="173B5C"/>
                          </a:solidFill>
                          <a:latin typeface="IBM Plex Sans" pitchFamily="34" charset="0"/>
                          <a:ea typeface="IBM Plex Sans" pitchFamily="34" charset="-122"/>
                          <a:cs typeface="IBM Plex Sans" pitchFamily="34" charset="-120"/>
                        </a:rPr>
                        <a:t>MOVIT DECISION SUPPORT</a:t>
                      </a:r>
                      <a:endParaRPr lang="en-US" sz="950" dirty="0">
                        <a:latin typeface="IBM Plex Sans" charset="0"/>
                        <a:ea typeface="IBM Plex Sans" charset="0"/>
                        <a:cs typeface="IBM Plex Sans" charset="0"/>
                      </a:endParaRPr>
                    </a:p>
                  </a:txBody>
                  <a:tcPr marL="90488" marR="90488" marT="76200" marB="76200" anchor="ctr">
                    <a:lnL w="12700" cap="flat" cmpd="sng" algn="ctr">
                      <a:solidFill>
                        <a:srgbClr val="FBFAF6"/>
                      </a:solidFill>
                      <a:prstDash val="solid"/>
                      <a:round/>
                      <a:headEnd type="none" w="med" len="med"/>
                      <a:tailEnd type="none" w="med" len="med"/>
                    </a:lnL>
                    <a:lnR w="12700" cap="flat" cmpd="sng" algn="ctr">
                      <a:solidFill>
                        <a:srgbClr val="FBFAF6"/>
                      </a:solidFill>
                      <a:prstDash val="solid"/>
                      <a:round/>
                      <a:headEnd type="none" w="med" len="med"/>
                      <a:tailEnd type="none" w="med" len="med"/>
                    </a:lnR>
                    <a:lnT w="12700" cap="flat" cmpd="sng" algn="ctr">
                      <a:solidFill>
                        <a:srgbClr val="FBFAF6"/>
                      </a:solidFill>
                      <a:prstDash val="solid"/>
                      <a:round/>
                      <a:headEnd type="none" w="med" len="med"/>
                      <a:tailEnd type="none" w="med" len="med"/>
                    </a:lnT>
                    <a:lnB w="12700" cap="flat" cmpd="sng" algn="ctr">
                      <a:solidFill>
                        <a:srgbClr val="173B5C"/>
                      </a:solidFill>
                      <a:prstDash val="solid"/>
                      <a:round/>
                      <a:headEnd type="none" w="med" len="med"/>
                      <a:tailEnd type="none" w="med" len="med"/>
                    </a:lnB>
                  </a:tcPr>
                </a:tc>
                <a:extLst>
                  <a:ext uri="{0D108BD9-81ED-4DB2-BD59-A6C34878D82A}">
                    <a16:rowId xmlns:a16="http://schemas.microsoft.com/office/drawing/2014/main" val="10000"/>
                  </a:ext>
                </a:extLst>
              </a:tr>
              <a:tr h="388812">
                <a:tc>
                  <a:txBody>
                    <a:bodyPr/>
                    <a:lstStyle/>
                    <a:p>
                      <a:pPr marL="0" indent="0" algn="l">
                        <a:buNone/>
                      </a:pPr>
                      <a:r>
                        <a:rPr lang="en-US" sz="1200" dirty="0">
                          <a:solidFill>
                            <a:srgbClr val="2A2E31"/>
                          </a:solidFill>
                          <a:latin typeface="IBM Plex Sans" pitchFamily="34" charset="0"/>
                          <a:ea typeface="IBM Plex Sans" pitchFamily="34" charset="-122"/>
                          <a:cs typeface="IBM Plex Sans" pitchFamily="34" charset="-120"/>
                        </a:rPr>
                        <a:t>Primary focus</a:t>
                      </a:r>
                      <a:endParaRPr lang="en-US" sz="1200" dirty="0">
                        <a:latin typeface="IBM Plex Sans" charset="0"/>
                        <a:ea typeface="IBM Plex Sans" charset="0"/>
                        <a:cs typeface="IBM Plex Sans" charset="0"/>
                      </a:endParaRPr>
                    </a:p>
                  </a:txBody>
                  <a:tcPr marL="114300" marR="114300" marT="76200" marB="76200" anchor="ctr">
                    <a:lnL w="12700" cap="flat" cmpd="sng" algn="ctr">
                      <a:solidFill>
                        <a:srgbClr val="FBFAF6"/>
                      </a:solidFill>
                      <a:prstDash val="solid"/>
                      <a:round/>
                      <a:headEnd type="none" w="med" len="med"/>
                      <a:tailEnd type="none" w="med" len="med"/>
                    </a:lnL>
                    <a:lnR w="12700" cap="flat" cmpd="sng" algn="ctr">
                      <a:solidFill>
                        <a:srgbClr val="FBFAF6"/>
                      </a:solidFill>
                      <a:prstDash val="solid"/>
                      <a:round/>
                      <a:headEnd type="none" w="med" len="med"/>
                      <a:tailEnd type="none" w="med" len="med"/>
                    </a:lnR>
                    <a:lnT w="12700" cap="flat" cmpd="sng" algn="ctr">
                      <a:solidFill>
                        <a:srgbClr val="173B5C"/>
                      </a:solidFill>
                      <a:prstDash val="solid"/>
                      <a:round/>
                      <a:headEnd type="none" w="med" len="med"/>
                      <a:tailEnd type="none" w="med" len="med"/>
                    </a:lnT>
                    <a:lnB w="12700" cap="flat" cmpd="sng" algn="ctr">
                      <a:solidFill>
                        <a:srgbClr val="173B5C"/>
                      </a:solidFill>
                      <a:prstDash val="solid"/>
                      <a:round/>
                      <a:headEnd type="none" w="med" len="med"/>
                      <a:tailEnd type="none" w="med" len="med"/>
                    </a:lnB>
                  </a:tcPr>
                </a:tc>
                <a:tc>
                  <a:txBody>
                    <a:bodyPr/>
                    <a:lstStyle/>
                    <a:p>
                      <a:pPr marL="0" indent="0" algn="l">
                        <a:buNone/>
                      </a:pPr>
                      <a:r>
                        <a:rPr lang="en-US" sz="1200" dirty="0">
                          <a:solidFill>
                            <a:srgbClr val="2A2E31"/>
                          </a:solidFill>
                          <a:latin typeface="IBM Plex Sans" pitchFamily="34" charset="0"/>
                          <a:ea typeface="IBM Plex Sans" pitchFamily="34" charset="-122"/>
                          <a:cs typeface="IBM Plex Sans" pitchFamily="34" charset="-120"/>
                        </a:rPr>
                        <a:t>Earliest arrival</a:t>
                      </a:r>
                      <a:endParaRPr lang="en-US" sz="1200" dirty="0">
                        <a:latin typeface="IBM Plex Sans" charset="0"/>
                        <a:ea typeface="IBM Plex Sans" charset="0"/>
                        <a:cs typeface="IBM Plex Sans" charset="0"/>
                      </a:endParaRPr>
                    </a:p>
                  </a:txBody>
                  <a:tcPr marL="114300" marR="114300" marT="76200" marB="76200" anchor="ctr">
                    <a:lnL w="12700" cap="flat" cmpd="sng" algn="ctr">
                      <a:solidFill>
                        <a:srgbClr val="FBFAF6"/>
                      </a:solidFill>
                      <a:prstDash val="solid"/>
                      <a:round/>
                      <a:headEnd type="none" w="med" len="med"/>
                      <a:tailEnd type="none" w="med" len="med"/>
                    </a:lnL>
                    <a:lnR w="12700" cap="flat" cmpd="sng" algn="ctr">
                      <a:solidFill>
                        <a:srgbClr val="FBFAF6"/>
                      </a:solidFill>
                      <a:prstDash val="solid"/>
                      <a:round/>
                      <a:headEnd type="none" w="med" len="med"/>
                      <a:tailEnd type="none" w="med" len="med"/>
                    </a:lnR>
                    <a:lnT w="12700" cap="flat" cmpd="sng" algn="ctr">
                      <a:solidFill>
                        <a:srgbClr val="173B5C"/>
                      </a:solidFill>
                      <a:prstDash val="solid"/>
                      <a:round/>
                      <a:headEnd type="none" w="med" len="med"/>
                      <a:tailEnd type="none" w="med" len="med"/>
                    </a:lnT>
                    <a:lnB w="12700" cap="flat" cmpd="sng" algn="ctr">
                      <a:solidFill>
                        <a:srgbClr val="173B5C"/>
                      </a:solidFill>
                      <a:prstDash val="solid"/>
                      <a:round/>
                      <a:headEnd type="none" w="med" len="med"/>
                      <a:tailEnd type="none" w="med" len="med"/>
                    </a:lnB>
                  </a:tcPr>
                </a:tc>
                <a:tc>
                  <a:txBody>
                    <a:bodyPr/>
                    <a:lstStyle/>
                    <a:p>
                      <a:pPr marL="0" indent="0" algn="l">
                        <a:buNone/>
                      </a:pPr>
                      <a:r>
                        <a:rPr lang="en-US" sz="1200" dirty="0">
                          <a:solidFill>
                            <a:srgbClr val="2A2E31"/>
                          </a:solidFill>
                          <a:latin typeface="IBM Plex Sans" pitchFamily="34" charset="0"/>
                          <a:ea typeface="IBM Plex Sans" pitchFamily="34" charset="-122"/>
                          <a:cs typeface="IBM Plex Sans" pitchFamily="34" charset="-120"/>
                        </a:rPr>
                        <a:t>Overall suitability for the journey</a:t>
                      </a:r>
                      <a:endParaRPr lang="en-US" sz="1200" dirty="0">
                        <a:latin typeface="IBM Plex Sans" charset="0"/>
                        <a:ea typeface="IBM Plex Sans" charset="0"/>
                        <a:cs typeface="IBM Plex Sans" charset="0"/>
                      </a:endParaRPr>
                    </a:p>
                  </a:txBody>
                  <a:tcPr marL="114300" marR="114300" marT="76200" marB="76200" anchor="ctr">
                    <a:lnL w="12700" cap="flat" cmpd="sng" algn="ctr">
                      <a:solidFill>
                        <a:srgbClr val="FBFAF6"/>
                      </a:solidFill>
                      <a:prstDash val="solid"/>
                      <a:round/>
                      <a:headEnd type="none" w="med" len="med"/>
                      <a:tailEnd type="none" w="med" len="med"/>
                    </a:lnL>
                    <a:lnR w="12700" cap="flat" cmpd="sng" algn="ctr">
                      <a:solidFill>
                        <a:srgbClr val="FBFAF6"/>
                      </a:solidFill>
                      <a:prstDash val="solid"/>
                      <a:round/>
                      <a:headEnd type="none" w="med" len="med"/>
                      <a:tailEnd type="none" w="med" len="med"/>
                    </a:lnR>
                    <a:lnT w="12700" cap="flat" cmpd="sng" algn="ctr">
                      <a:solidFill>
                        <a:srgbClr val="173B5C"/>
                      </a:solidFill>
                      <a:prstDash val="solid"/>
                      <a:round/>
                      <a:headEnd type="none" w="med" len="med"/>
                      <a:tailEnd type="none" w="med" len="med"/>
                    </a:lnT>
                    <a:lnB w="12700" cap="flat" cmpd="sng" algn="ctr">
                      <a:solidFill>
                        <a:srgbClr val="173B5C"/>
                      </a:solidFill>
                      <a:prstDash val="solid"/>
                      <a:round/>
                      <a:headEnd type="none" w="med" len="med"/>
                      <a:tailEnd type="none" w="med" len="med"/>
                    </a:lnB>
                  </a:tcPr>
                </a:tc>
                <a:extLst>
                  <a:ext uri="{0D108BD9-81ED-4DB2-BD59-A6C34878D82A}">
                    <a16:rowId xmlns:a16="http://schemas.microsoft.com/office/drawing/2014/main" val="10001"/>
                  </a:ext>
                </a:extLst>
              </a:tr>
              <a:tr h="617374">
                <a:tc>
                  <a:txBody>
                    <a:bodyPr/>
                    <a:lstStyle/>
                    <a:p>
                      <a:pPr marL="0" indent="0" algn="l">
                        <a:buNone/>
                      </a:pPr>
                      <a:r>
                        <a:rPr lang="en-US" sz="1200" dirty="0">
                          <a:solidFill>
                            <a:srgbClr val="2A2E31"/>
                          </a:solidFill>
                          <a:latin typeface="IBM Plex Sans" pitchFamily="34" charset="0"/>
                          <a:ea typeface="IBM Plex Sans" pitchFamily="34" charset="-122"/>
                          <a:cs typeface="IBM Plex Sans" pitchFamily="34" charset="-120"/>
                        </a:rPr>
                        <a:t>Information used</a:t>
                      </a:r>
                      <a:endParaRPr lang="en-US" sz="1200" dirty="0">
                        <a:latin typeface="IBM Plex Sans" charset="0"/>
                        <a:ea typeface="IBM Plex Sans" charset="0"/>
                        <a:cs typeface="IBM Plex Sans" charset="0"/>
                      </a:endParaRPr>
                    </a:p>
                  </a:txBody>
                  <a:tcPr marL="114300" marR="114300" marT="76200" marB="76200" anchor="ctr">
                    <a:lnL w="12700" cap="flat" cmpd="sng" algn="ctr">
                      <a:solidFill>
                        <a:srgbClr val="FBFAF6"/>
                      </a:solidFill>
                      <a:prstDash val="solid"/>
                      <a:round/>
                      <a:headEnd type="none" w="med" len="med"/>
                      <a:tailEnd type="none" w="med" len="med"/>
                    </a:lnL>
                    <a:lnR w="12700" cap="flat" cmpd="sng" algn="ctr">
                      <a:solidFill>
                        <a:srgbClr val="FBFAF6"/>
                      </a:solidFill>
                      <a:prstDash val="solid"/>
                      <a:round/>
                      <a:headEnd type="none" w="med" len="med"/>
                      <a:tailEnd type="none" w="med" len="med"/>
                    </a:lnR>
                    <a:lnT w="12700" cap="flat" cmpd="sng" algn="ctr">
                      <a:solidFill>
                        <a:srgbClr val="173B5C"/>
                      </a:solidFill>
                      <a:prstDash val="solid"/>
                      <a:round/>
                      <a:headEnd type="none" w="med" len="med"/>
                      <a:tailEnd type="none" w="med" len="med"/>
                    </a:lnT>
                    <a:lnB w="12700" cap="flat" cmpd="sng" algn="ctr">
                      <a:solidFill>
                        <a:srgbClr val="173B5C"/>
                      </a:solidFill>
                      <a:prstDash val="solid"/>
                      <a:round/>
                      <a:headEnd type="none" w="med" len="med"/>
                      <a:tailEnd type="none" w="med" len="med"/>
                    </a:lnB>
                  </a:tcPr>
                </a:tc>
                <a:tc>
                  <a:txBody>
                    <a:bodyPr/>
                    <a:lstStyle/>
                    <a:p>
                      <a:pPr marL="0" indent="0" algn="l">
                        <a:buNone/>
                      </a:pPr>
                      <a:r>
                        <a:rPr lang="en-US" sz="1200" dirty="0">
                          <a:solidFill>
                            <a:srgbClr val="2A2E31"/>
                          </a:solidFill>
                          <a:latin typeface="IBM Plex Sans" pitchFamily="34" charset="0"/>
                          <a:ea typeface="IBM Plex Sans" pitchFamily="34" charset="-122"/>
                          <a:cs typeface="IBM Plex Sans" pitchFamily="34" charset="-120"/>
                        </a:rPr>
                        <a:t>Usually arrival time</a:t>
                      </a:r>
                      <a:endParaRPr lang="en-US" sz="1200" dirty="0">
                        <a:latin typeface="IBM Plex Sans" charset="0"/>
                        <a:ea typeface="IBM Plex Sans" charset="0"/>
                        <a:cs typeface="IBM Plex Sans" charset="0"/>
                      </a:endParaRPr>
                    </a:p>
                  </a:txBody>
                  <a:tcPr marL="114300" marR="114300" marT="76200" marB="76200" anchor="ctr">
                    <a:lnL w="12700" cap="flat" cmpd="sng" algn="ctr">
                      <a:solidFill>
                        <a:srgbClr val="FBFAF6"/>
                      </a:solidFill>
                      <a:prstDash val="solid"/>
                      <a:round/>
                      <a:headEnd type="none" w="med" len="med"/>
                      <a:tailEnd type="none" w="med" len="med"/>
                    </a:lnL>
                    <a:lnR w="12700" cap="flat" cmpd="sng" algn="ctr">
                      <a:solidFill>
                        <a:srgbClr val="FBFAF6"/>
                      </a:solidFill>
                      <a:prstDash val="solid"/>
                      <a:round/>
                      <a:headEnd type="none" w="med" len="med"/>
                      <a:tailEnd type="none" w="med" len="med"/>
                    </a:lnR>
                    <a:lnT w="12700" cap="flat" cmpd="sng" algn="ctr">
                      <a:solidFill>
                        <a:srgbClr val="173B5C"/>
                      </a:solidFill>
                      <a:prstDash val="solid"/>
                      <a:round/>
                      <a:headEnd type="none" w="med" len="med"/>
                      <a:tailEnd type="none" w="med" len="med"/>
                    </a:lnT>
                    <a:lnB w="12700" cap="flat" cmpd="sng" algn="ctr">
                      <a:solidFill>
                        <a:srgbClr val="173B5C"/>
                      </a:solidFill>
                      <a:prstDash val="solid"/>
                      <a:round/>
                      <a:headEnd type="none" w="med" len="med"/>
                      <a:tailEnd type="none" w="med" len="med"/>
                    </a:lnB>
                  </a:tcPr>
                </a:tc>
                <a:tc>
                  <a:txBody>
                    <a:bodyPr/>
                    <a:lstStyle/>
                    <a:p>
                      <a:pPr marL="0" indent="0" algn="l">
                        <a:buNone/>
                      </a:pPr>
                      <a:r>
                        <a:rPr lang="en-US" sz="1200" dirty="0">
                          <a:solidFill>
                            <a:srgbClr val="2A2E31"/>
                          </a:solidFill>
                          <a:latin typeface="IBM Plex Sans" pitchFamily="34" charset="0"/>
                          <a:ea typeface="IBM Plex Sans" pitchFamily="34" charset="-122"/>
                          <a:cs typeface="IBM Plex Sans" pitchFamily="34" charset="-120"/>
                        </a:rPr>
                        <a:t>Arrival, delay, crowding and route conditions</a:t>
                      </a:r>
                      <a:endParaRPr lang="en-US" sz="1200" dirty="0">
                        <a:latin typeface="IBM Plex Sans" charset="0"/>
                        <a:ea typeface="IBM Plex Sans" charset="0"/>
                        <a:cs typeface="IBM Plex Sans" charset="0"/>
                      </a:endParaRPr>
                    </a:p>
                  </a:txBody>
                  <a:tcPr marL="114300" marR="114300" marT="76200" marB="76200" anchor="ctr">
                    <a:lnL w="12700" cap="flat" cmpd="sng" algn="ctr">
                      <a:solidFill>
                        <a:srgbClr val="FBFAF6"/>
                      </a:solidFill>
                      <a:prstDash val="solid"/>
                      <a:round/>
                      <a:headEnd type="none" w="med" len="med"/>
                      <a:tailEnd type="none" w="med" len="med"/>
                    </a:lnL>
                    <a:lnR w="12700" cap="flat" cmpd="sng" algn="ctr">
                      <a:solidFill>
                        <a:srgbClr val="FBFAF6"/>
                      </a:solidFill>
                      <a:prstDash val="solid"/>
                      <a:round/>
                      <a:headEnd type="none" w="med" len="med"/>
                      <a:tailEnd type="none" w="med" len="med"/>
                    </a:lnR>
                    <a:lnT w="12700" cap="flat" cmpd="sng" algn="ctr">
                      <a:solidFill>
                        <a:srgbClr val="173B5C"/>
                      </a:solidFill>
                      <a:prstDash val="solid"/>
                      <a:round/>
                      <a:headEnd type="none" w="med" len="med"/>
                      <a:tailEnd type="none" w="med" len="med"/>
                    </a:lnT>
                    <a:lnB w="12700" cap="flat" cmpd="sng" algn="ctr">
                      <a:solidFill>
                        <a:srgbClr val="173B5C"/>
                      </a:solidFill>
                      <a:prstDash val="solid"/>
                      <a:round/>
                      <a:headEnd type="none" w="med" len="med"/>
                      <a:tailEnd type="none" w="med" len="med"/>
                    </a:lnB>
                  </a:tcPr>
                </a:tc>
                <a:extLst>
                  <a:ext uri="{0D108BD9-81ED-4DB2-BD59-A6C34878D82A}">
                    <a16:rowId xmlns:a16="http://schemas.microsoft.com/office/drawing/2014/main" val="10002"/>
                  </a:ext>
                </a:extLst>
              </a:tr>
              <a:tr h="617374">
                <a:tc>
                  <a:txBody>
                    <a:bodyPr/>
                    <a:lstStyle/>
                    <a:p>
                      <a:pPr marL="0" indent="0" algn="l">
                        <a:buNone/>
                      </a:pPr>
                      <a:r>
                        <a:rPr lang="en-US" sz="1200" dirty="0">
                          <a:solidFill>
                            <a:srgbClr val="2A2E31"/>
                          </a:solidFill>
                          <a:latin typeface="IBM Plex Sans" pitchFamily="34" charset="0"/>
                          <a:ea typeface="IBM Plex Sans" pitchFamily="34" charset="-122"/>
                          <a:cs typeface="IBM Plex Sans" pitchFamily="34" charset="-120"/>
                        </a:rPr>
                        <a:t>Passenger choice</a:t>
                      </a:r>
                      <a:endParaRPr lang="en-US" sz="1200" dirty="0">
                        <a:latin typeface="IBM Plex Sans" charset="0"/>
                        <a:ea typeface="IBM Plex Sans" charset="0"/>
                        <a:cs typeface="IBM Plex Sans" charset="0"/>
                      </a:endParaRPr>
                    </a:p>
                  </a:txBody>
                  <a:tcPr marL="114300" marR="114300" marT="76200" marB="76200" anchor="ctr">
                    <a:lnL w="12700" cap="flat" cmpd="sng" algn="ctr">
                      <a:solidFill>
                        <a:srgbClr val="FBFAF6"/>
                      </a:solidFill>
                      <a:prstDash val="solid"/>
                      <a:round/>
                      <a:headEnd type="none" w="med" len="med"/>
                      <a:tailEnd type="none" w="med" len="med"/>
                    </a:lnL>
                    <a:lnR w="12700" cap="flat" cmpd="sng" algn="ctr">
                      <a:solidFill>
                        <a:srgbClr val="FBFAF6"/>
                      </a:solidFill>
                      <a:prstDash val="solid"/>
                      <a:round/>
                      <a:headEnd type="none" w="med" len="med"/>
                      <a:tailEnd type="none" w="med" len="med"/>
                    </a:lnR>
                    <a:lnT w="12700" cap="flat" cmpd="sng" algn="ctr">
                      <a:solidFill>
                        <a:srgbClr val="173B5C"/>
                      </a:solidFill>
                      <a:prstDash val="solid"/>
                      <a:round/>
                      <a:headEnd type="none" w="med" len="med"/>
                      <a:tailEnd type="none" w="med" len="med"/>
                    </a:lnT>
                    <a:lnB w="12700" cap="flat" cmpd="sng" algn="ctr">
                      <a:solidFill>
                        <a:srgbClr val="173B5C"/>
                      </a:solidFill>
                      <a:prstDash val="solid"/>
                      <a:round/>
                      <a:headEnd type="none" w="med" len="med"/>
                      <a:tailEnd type="none" w="med" len="med"/>
                    </a:lnB>
                  </a:tcPr>
                </a:tc>
                <a:tc>
                  <a:txBody>
                    <a:bodyPr/>
                    <a:lstStyle/>
                    <a:p>
                      <a:pPr marL="0" indent="0" algn="l">
                        <a:buNone/>
                      </a:pPr>
                      <a:r>
                        <a:rPr lang="en-US" sz="1200" dirty="0">
                          <a:solidFill>
                            <a:srgbClr val="2A2E31"/>
                          </a:solidFill>
                          <a:latin typeface="IBM Plex Sans" pitchFamily="34" charset="0"/>
                          <a:ea typeface="IBM Plex Sans" pitchFamily="34" charset="-122"/>
                          <a:cs typeface="IBM Plex Sans" pitchFamily="34" charset="-120"/>
                        </a:rPr>
                        <a:t>Board the first available service</a:t>
                      </a:r>
                      <a:endParaRPr lang="en-US" sz="1200" dirty="0">
                        <a:latin typeface="IBM Plex Sans" charset="0"/>
                        <a:ea typeface="IBM Plex Sans" charset="0"/>
                        <a:cs typeface="IBM Plex Sans" charset="0"/>
                      </a:endParaRPr>
                    </a:p>
                  </a:txBody>
                  <a:tcPr marL="114300" marR="114300" marT="76200" marB="76200" anchor="ctr">
                    <a:lnL w="12700" cap="flat" cmpd="sng" algn="ctr">
                      <a:solidFill>
                        <a:srgbClr val="FBFAF6"/>
                      </a:solidFill>
                      <a:prstDash val="solid"/>
                      <a:round/>
                      <a:headEnd type="none" w="med" len="med"/>
                      <a:tailEnd type="none" w="med" len="med"/>
                    </a:lnL>
                    <a:lnR w="12700" cap="flat" cmpd="sng" algn="ctr">
                      <a:solidFill>
                        <a:srgbClr val="FBFAF6"/>
                      </a:solidFill>
                      <a:prstDash val="solid"/>
                      <a:round/>
                      <a:headEnd type="none" w="med" len="med"/>
                      <a:tailEnd type="none" w="med" len="med"/>
                    </a:lnR>
                    <a:lnT w="12700" cap="flat" cmpd="sng" algn="ctr">
                      <a:solidFill>
                        <a:srgbClr val="173B5C"/>
                      </a:solidFill>
                      <a:prstDash val="solid"/>
                      <a:round/>
                      <a:headEnd type="none" w="med" len="med"/>
                      <a:tailEnd type="none" w="med" len="med"/>
                    </a:lnT>
                    <a:lnB w="12700" cap="flat" cmpd="sng" algn="ctr">
                      <a:solidFill>
                        <a:srgbClr val="173B5C"/>
                      </a:solidFill>
                      <a:prstDash val="solid"/>
                      <a:round/>
                      <a:headEnd type="none" w="med" len="med"/>
                      <a:tailEnd type="none" w="med" len="med"/>
                    </a:lnB>
                  </a:tcPr>
                </a:tc>
                <a:tc>
                  <a:txBody>
                    <a:bodyPr/>
                    <a:lstStyle/>
                    <a:p>
                      <a:pPr marL="0" indent="0" algn="l">
                        <a:buNone/>
                      </a:pPr>
                      <a:r>
                        <a:rPr lang="en-US" sz="1200" dirty="0">
                          <a:solidFill>
                            <a:srgbClr val="2A2E31"/>
                          </a:solidFill>
                          <a:latin typeface="IBM Plex Sans" pitchFamily="34" charset="0"/>
                          <a:ea typeface="IBM Plex Sans" pitchFamily="34" charset="-122"/>
                          <a:cs typeface="IBM Plex Sans" pitchFamily="34" charset="-120"/>
                        </a:rPr>
                        <a:t>Compare alternatives before deciding</a:t>
                      </a:r>
                      <a:endParaRPr lang="en-US" sz="1200" dirty="0">
                        <a:latin typeface="IBM Plex Sans" charset="0"/>
                        <a:ea typeface="IBM Plex Sans" charset="0"/>
                        <a:cs typeface="IBM Plex Sans" charset="0"/>
                      </a:endParaRPr>
                    </a:p>
                  </a:txBody>
                  <a:tcPr marL="114300" marR="114300" marT="76200" marB="76200" anchor="ctr">
                    <a:lnL w="12700" cap="flat" cmpd="sng" algn="ctr">
                      <a:solidFill>
                        <a:srgbClr val="FBFAF6"/>
                      </a:solidFill>
                      <a:prstDash val="solid"/>
                      <a:round/>
                      <a:headEnd type="none" w="med" len="med"/>
                      <a:tailEnd type="none" w="med" len="med"/>
                    </a:lnL>
                    <a:lnR w="12700" cap="flat" cmpd="sng" algn="ctr">
                      <a:solidFill>
                        <a:srgbClr val="FBFAF6"/>
                      </a:solidFill>
                      <a:prstDash val="solid"/>
                      <a:round/>
                      <a:headEnd type="none" w="med" len="med"/>
                      <a:tailEnd type="none" w="med" len="med"/>
                    </a:lnR>
                    <a:lnT w="12700" cap="flat" cmpd="sng" algn="ctr">
                      <a:solidFill>
                        <a:srgbClr val="173B5C"/>
                      </a:solidFill>
                      <a:prstDash val="solid"/>
                      <a:round/>
                      <a:headEnd type="none" w="med" len="med"/>
                      <a:tailEnd type="none" w="med" len="med"/>
                    </a:lnT>
                    <a:lnB w="12700" cap="flat" cmpd="sng" algn="ctr">
                      <a:solidFill>
                        <a:srgbClr val="173B5C"/>
                      </a:solidFill>
                      <a:prstDash val="solid"/>
                      <a:round/>
                      <a:headEnd type="none" w="med" len="med"/>
                      <a:tailEnd type="none" w="med" len="med"/>
                    </a:lnB>
                  </a:tcPr>
                </a:tc>
                <a:extLst>
                  <a:ext uri="{0D108BD9-81ED-4DB2-BD59-A6C34878D82A}">
                    <a16:rowId xmlns:a16="http://schemas.microsoft.com/office/drawing/2014/main" val="10003"/>
                  </a:ext>
                </a:extLst>
              </a:tr>
              <a:tr h="396690">
                <a:tc>
                  <a:txBody>
                    <a:bodyPr/>
                    <a:lstStyle/>
                    <a:p>
                      <a:pPr marL="0" indent="0" algn="l">
                        <a:buNone/>
                      </a:pPr>
                      <a:r>
                        <a:rPr lang="en-US" sz="1200" dirty="0">
                          <a:solidFill>
                            <a:srgbClr val="2A2E31"/>
                          </a:solidFill>
                          <a:latin typeface="IBM Plex Sans" pitchFamily="34" charset="0"/>
                          <a:ea typeface="IBM Plex Sans" pitchFamily="34" charset="-122"/>
                          <a:cs typeface="IBM Plex Sans" pitchFamily="34" charset="-120"/>
                        </a:rPr>
                        <a:t>Role of the system</a:t>
                      </a:r>
                      <a:endParaRPr lang="en-US" sz="1200" dirty="0">
                        <a:latin typeface="IBM Plex Sans" charset="0"/>
                        <a:ea typeface="IBM Plex Sans" charset="0"/>
                        <a:cs typeface="IBM Plex Sans" charset="0"/>
                      </a:endParaRPr>
                    </a:p>
                  </a:txBody>
                  <a:tcPr marL="114300" marR="114300" marT="76200" marB="76200" anchor="ctr">
                    <a:lnL w="12700" cap="flat" cmpd="sng" algn="ctr">
                      <a:solidFill>
                        <a:srgbClr val="FBFAF6"/>
                      </a:solidFill>
                      <a:prstDash val="solid"/>
                      <a:round/>
                      <a:headEnd type="none" w="med" len="med"/>
                      <a:tailEnd type="none" w="med" len="med"/>
                    </a:lnL>
                    <a:lnR w="12700" cap="flat" cmpd="sng" algn="ctr">
                      <a:solidFill>
                        <a:srgbClr val="FBFAF6"/>
                      </a:solidFill>
                      <a:prstDash val="solid"/>
                      <a:round/>
                      <a:headEnd type="none" w="med" len="med"/>
                      <a:tailEnd type="none" w="med" len="med"/>
                    </a:lnR>
                    <a:lnT w="12700" cap="flat" cmpd="sng" algn="ctr">
                      <a:solidFill>
                        <a:srgbClr val="173B5C"/>
                      </a:solidFill>
                      <a:prstDash val="solid"/>
                      <a:round/>
                      <a:headEnd type="none" w="med" len="med"/>
                      <a:tailEnd type="none" w="med" len="med"/>
                    </a:lnT>
                    <a:lnB w="12700" cap="flat" cmpd="sng" algn="ctr">
                      <a:solidFill>
                        <a:srgbClr val="FBFAF6"/>
                      </a:solidFill>
                      <a:prstDash val="solid"/>
                      <a:round/>
                      <a:headEnd type="none" w="med" len="med"/>
                      <a:tailEnd type="none" w="med" len="med"/>
                    </a:lnB>
                  </a:tcPr>
                </a:tc>
                <a:tc>
                  <a:txBody>
                    <a:bodyPr/>
                    <a:lstStyle/>
                    <a:p>
                      <a:pPr marL="0" indent="0" algn="l">
                        <a:buNone/>
                      </a:pPr>
                      <a:r>
                        <a:rPr lang="en-US" sz="1200" dirty="0">
                          <a:solidFill>
                            <a:srgbClr val="2A2E31"/>
                          </a:solidFill>
                          <a:latin typeface="IBM Plex Sans" pitchFamily="34" charset="0"/>
                          <a:ea typeface="IBM Plex Sans" pitchFamily="34" charset="-122"/>
                          <a:cs typeface="IBM Plex Sans" pitchFamily="34" charset="-120"/>
                        </a:rPr>
                        <a:t>Listing</a:t>
                      </a:r>
                      <a:endParaRPr lang="en-US" sz="1200" dirty="0">
                        <a:latin typeface="IBM Plex Sans" charset="0"/>
                        <a:ea typeface="IBM Plex Sans" charset="0"/>
                        <a:cs typeface="IBM Plex Sans" charset="0"/>
                      </a:endParaRPr>
                    </a:p>
                  </a:txBody>
                  <a:tcPr marL="114300" marR="114300" marT="76200" marB="76200" anchor="ctr">
                    <a:lnL w="12700" cap="flat" cmpd="sng" algn="ctr">
                      <a:solidFill>
                        <a:srgbClr val="FBFAF6"/>
                      </a:solidFill>
                      <a:prstDash val="solid"/>
                      <a:round/>
                      <a:headEnd type="none" w="med" len="med"/>
                      <a:tailEnd type="none" w="med" len="med"/>
                    </a:lnL>
                    <a:lnR w="12700" cap="flat" cmpd="sng" algn="ctr">
                      <a:solidFill>
                        <a:srgbClr val="FBFAF6"/>
                      </a:solidFill>
                      <a:prstDash val="solid"/>
                      <a:round/>
                      <a:headEnd type="none" w="med" len="med"/>
                      <a:tailEnd type="none" w="med" len="med"/>
                    </a:lnR>
                    <a:lnT w="12700" cap="flat" cmpd="sng" algn="ctr">
                      <a:solidFill>
                        <a:srgbClr val="173B5C"/>
                      </a:solidFill>
                      <a:prstDash val="solid"/>
                      <a:round/>
                      <a:headEnd type="none" w="med" len="med"/>
                      <a:tailEnd type="none" w="med" len="med"/>
                    </a:lnT>
                    <a:lnB w="12700" cap="flat" cmpd="sng" algn="ctr">
                      <a:solidFill>
                        <a:srgbClr val="FBFAF6"/>
                      </a:solidFill>
                      <a:prstDash val="solid"/>
                      <a:round/>
                      <a:headEnd type="none" w="med" len="med"/>
                      <a:tailEnd type="none" w="med" len="med"/>
                    </a:lnB>
                  </a:tcPr>
                </a:tc>
                <a:tc>
                  <a:txBody>
                    <a:bodyPr/>
                    <a:lstStyle/>
                    <a:p>
                      <a:pPr marL="0" indent="0" algn="l">
                        <a:buNone/>
                      </a:pPr>
                      <a:r>
                        <a:rPr lang="en-US" sz="1200" dirty="0">
                          <a:solidFill>
                            <a:srgbClr val="2A2E31"/>
                          </a:solidFill>
                          <a:latin typeface="IBM Plex Sans" pitchFamily="34" charset="0"/>
                          <a:ea typeface="IBM Plex Sans" pitchFamily="34" charset="-122"/>
                          <a:cs typeface="IBM Plex Sans" pitchFamily="34" charset="-120"/>
                        </a:rPr>
                        <a:t>Decision support</a:t>
                      </a:r>
                      <a:endParaRPr lang="en-US" sz="1200" dirty="0">
                        <a:latin typeface="IBM Plex Sans" charset="0"/>
                        <a:ea typeface="IBM Plex Sans" charset="0"/>
                        <a:cs typeface="IBM Plex Sans" charset="0"/>
                      </a:endParaRPr>
                    </a:p>
                  </a:txBody>
                  <a:tcPr marL="114300" marR="114300" marT="76200" marB="76200" anchor="ctr">
                    <a:lnL w="12700" cap="flat" cmpd="sng" algn="ctr">
                      <a:solidFill>
                        <a:srgbClr val="FBFAF6"/>
                      </a:solidFill>
                      <a:prstDash val="solid"/>
                      <a:round/>
                      <a:headEnd type="none" w="med" len="med"/>
                      <a:tailEnd type="none" w="med" len="med"/>
                    </a:lnL>
                    <a:lnR w="12700" cap="flat" cmpd="sng" algn="ctr">
                      <a:solidFill>
                        <a:srgbClr val="FBFAF6"/>
                      </a:solidFill>
                      <a:prstDash val="solid"/>
                      <a:round/>
                      <a:headEnd type="none" w="med" len="med"/>
                      <a:tailEnd type="none" w="med" len="med"/>
                    </a:lnR>
                    <a:lnT w="12700" cap="flat" cmpd="sng" algn="ctr">
                      <a:solidFill>
                        <a:srgbClr val="173B5C"/>
                      </a:solidFill>
                      <a:prstDash val="solid"/>
                      <a:round/>
                      <a:headEnd type="none" w="med" len="med"/>
                      <a:tailEnd type="none" w="med" len="med"/>
                    </a:lnT>
                    <a:lnB w="12700" cap="flat" cmpd="sng" algn="ctr">
                      <a:solidFill>
                        <a:srgbClr val="FBFAF6"/>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35" name="Shape 32"/>
          <p:cNvSpPr/>
          <p:nvPr/>
        </p:nvSpPr>
        <p:spPr>
          <a:xfrm>
            <a:off x="0" y="10130548"/>
            <a:ext cx="7562088" cy="9477"/>
          </a:xfrm>
          <a:prstGeom prst="rect">
            <a:avLst/>
          </a:prstGeom>
          <a:solidFill>
            <a:srgbClr val="2A2E31">
              <a:alpha val="20000"/>
            </a:srgbClr>
          </a:solidFill>
          <a:ln/>
        </p:spPr>
      </p:sp>
      <p:sp>
        <p:nvSpPr>
          <p:cNvPr id="36" name="Text 33"/>
          <p:cNvSpPr/>
          <p:nvPr/>
        </p:nvSpPr>
        <p:spPr>
          <a:xfrm>
            <a:off x="660390" y="10324216"/>
            <a:ext cx="773194" cy="171390"/>
          </a:xfrm>
          <a:prstGeom prst="rect">
            <a:avLst/>
          </a:prstGeom>
          <a:noFill/>
          <a:ln/>
        </p:spPr>
        <p:txBody>
          <a:bodyPr wrap="none" lIns="0" tIns="0" rIns="0" bIns="0" rtlCol="0" anchor="ctr"/>
          <a:lstStyle/>
          <a:p>
            <a:pPr marL="0" indent="0" algn="l">
              <a:lnSpc>
                <a:spcPct val="125000"/>
              </a:lnSpc>
              <a:buNone/>
            </a:pPr>
            <a:r>
              <a:rPr lang="en-US" sz="900" kern="100" spc="68" dirty="0">
                <a:solidFill>
                  <a:srgbClr val="2A2E31"/>
                </a:solidFill>
                <a:latin typeface="IBM Plex Sans" pitchFamily="34" charset="0"/>
                <a:ea typeface="IBM Plex Sans" pitchFamily="34" charset="-122"/>
                <a:cs typeface="IBM Plex Sans" pitchFamily="34" charset="-120"/>
              </a:rPr>
              <a:t>MOVIT</a:t>
            </a:r>
            <a:endParaRPr lang="en-US" sz="900" dirty="0"/>
          </a:p>
        </p:txBody>
      </p:sp>
      <p:sp>
        <p:nvSpPr>
          <p:cNvPr id="37" name="Text 34"/>
          <p:cNvSpPr/>
          <p:nvPr/>
        </p:nvSpPr>
        <p:spPr>
          <a:xfrm>
            <a:off x="6747416" y="10324216"/>
            <a:ext cx="532386" cy="171390"/>
          </a:xfrm>
          <a:prstGeom prst="rect">
            <a:avLst/>
          </a:prstGeom>
          <a:noFill/>
          <a:ln/>
        </p:spPr>
        <p:txBody>
          <a:bodyPr wrap="none" lIns="0" tIns="0" rIns="0" bIns="0" rtlCol="0" anchor="ctr"/>
          <a:lstStyle/>
          <a:p>
            <a:pPr marL="0" indent="0" algn="l">
              <a:lnSpc>
                <a:spcPct val="125000"/>
              </a:lnSpc>
              <a:buNone/>
            </a:pPr>
            <a:r>
              <a:rPr lang="en-US" sz="900" kern="100" spc="68" dirty="0">
                <a:solidFill>
                  <a:srgbClr val="2A2E31"/>
                </a:solidFill>
                <a:latin typeface="IBM Plex Sans" pitchFamily="34" charset="0"/>
                <a:ea typeface="IBM Plex Sans" pitchFamily="34" charset="-122"/>
                <a:cs typeface="IBM Plex Sans" pitchFamily="34" charset="-120"/>
              </a:rPr>
              <a:t>04</a:t>
            </a:r>
            <a:endParaRPr lang="en-US" sz="900" dirty="0"/>
          </a:p>
        </p:txBody>
      </p:sp>
      <p:sp>
        <p:nvSpPr>
          <p:cNvPr id="38" name="Shape 35"/>
          <p:cNvSpPr/>
          <p:nvPr/>
        </p:nvSpPr>
        <p:spPr>
          <a:xfrm>
            <a:off x="660390" y="4070411"/>
            <a:ext cx="6241307" cy="7877"/>
          </a:xfrm>
          <a:prstGeom prst="rect">
            <a:avLst/>
          </a:prstGeom>
          <a:solidFill>
            <a:srgbClr val="2F7468"/>
          </a:solidFill>
          <a:ln/>
        </p:spPr>
      </p:sp>
      <p:sp>
        <p:nvSpPr>
          <p:cNvPr id="39" name="Shape 36"/>
          <p:cNvSpPr/>
          <p:nvPr/>
        </p:nvSpPr>
        <p:spPr>
          <a:xfrm>
            <a:off x="660390" y="4548334"/>
            <a:ext cx="6241307" cy="7877"/>
          </a:xfrm>
          <a:prstGeom prst="rect">
            <a:avLst/>
          </a:prstGeom>
          <a:solidFill>
            <a:srgbClr val="2F7468"/>
          </a:solidFill>
          <a:ln/>
        </p:spPr>
      </p:sp>
      <p:sp>
        <p:nvSpPr>
          <p:cNvPr id="40" name="Shape 37"/>
          <p:cNvSpPr/>
          <p:nvPr/>
        </p:nvSpPr>
        <p:spPr>
          <a:xfrm>
            <a:off x="660390" y="5026258"/>
            <a:ext cx="6241307" cy="7877"/>
          </a:xfrm>
          <a:prstGeom prst="rect">
            <a:avLst/>
          </a:prstGeom>
          <a:solidFill>
            <a:srgbClr val="2F7468"/>
          </a:solidFill>
          <a:ln/>
        </p:spPr>
      </p:sp>
      <p:sp>
        <p:nvSpPr>
          <p:cNvPr id="41" name="Shape 38"/>
          <p:cNvSpPr/>
          <p:nvPr/>
        </p:nvSpPr>
        <p:spPr>
          <a:xfrm>
            <a:off x="660390" y="5504181"/>
            <a:ext cx="6241307" cy="7877"/>
          </a:xfrm>
          <a:prstGeom prst="rect">
            <a:avLst/>
          </a:prstGeom>
          <a:solidFill>
            <a:srgbClr val="2F7468"/>
          </a:solidFill>
          <a:ln/>
        </p:spPr>
      </p:sp>
      <p:sp>
        <p:nvSpPr>
          <p:cNvPr id="42" name="Shape 39"/>
          <p:cNvSpPr/>
          <p:nvPr/>
        </p:nvSpPr>
        <p:spPr>
          <a:xfrm>
            <a:off x="660390" y="5982104"/>
            <a:ext cx="6241307" cy="7877"/>
          </a:xfrm>
          <a:prstGeom prst="rect">
            <a:avLst/>
          </a:prstGeom>
          <a:solidFill>
            <a:srgbClr val="2F7468"/>
          </a:solidFill>
          <a:ln/>
        </p:spPr>
      </p:sp>
      <p:sp>
        <p:nvSpPr>
          <p:cNvPr id="43" name="Shape 40"/>
          <p:cNvSpPr/>
          <p:nvPr/>
        </p:nvSpPr>
        <p:spPr>
          <a:xfrm>
            <a:off x="660390" y="6460028"/>
            <a:ext cx="6241307" cy="7877"/>
          </a:xfrm>
          <a:prstGeom prst="rect">
            <a:avLst/>
          </a:prstGeom>
          <a:solidFill>
            <a:srgbClr val="2F7468"/>
          </a:solidFill>
          <a:ln/>
        </p:spPr>
      </p:sp>
      <p:sp>
        <p:nvSpPr>
          <p:cNvPr id="44" name="Shape 41"/>
          <p:cNvSpPr/>
          <p:nvPr/>
        </p:nvSpPr>
        <p:spPr>
          <a:xfrm>
            <a:off x="660390" y="6937951"/>
            <a:ext cx="6241307" cy="7877"/>
          </a:xfrm>
          <a:prstGeom prst="rect">
            <a:avLst/>
          </a:prstGeom>
          <a:solidFill>
            <a:srgbClr val="2F7468"/>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0390" y="193668"/>
            <a:ext cx="773194" cy="171390"/>
          </a:xfrm>
          <a:prstGeom prst="rect">
            <a:avLst/>
          </a:prstGeom>
          <a:noFill/>
          <a:ln/>
        </p:spPr>
        <p:txBody>
          <a:bodyPr wrap="none" lIns="0" tIns="0" rIns="0" bIns="0" rtlCol="0" anchor="ctr"/>
          <a:lstStyle/>
          <a:p>
            <a:pPr marL="0" indent="0" algn="l">
              <a:lnSpc>
                <a:spcPct val="125000"/>
              </a:lnSpc>
              <a:buNone/>
            </a:pPr>
            <a:r>
              <a:rPr lang="en-US" sz="900" kern="100" spc="68" dirty="0">
                <a:solidFill>
                  <a:srgbClr val="2A2E31"/>
                </a:solidFill>
                <a:latin typeface="IBM Plex Sans" pitchFamily="34" charset="0"/>
                <a:ea typeface="IBM Plex Sans" pitchFamily="34" charset="-122"/>
                <a:cs typeface="IBM Plex Sans" pitchFamily="34" charset="-120"/>
              </a:rPr>
              <a:t>MOVIT</a:t>
            </a:r>
            <a:endParaRPr lang="en-US" sz="900" dirty="0"/>
          </a:p>
        </p:txBody>
      </p:sp>
      <p:sp>
        <p:nvSpPr>
          <p:cNvPr id="3" name="Text 1"/>
          <p:cNvSpPr/>
          <p:nvPr/>
        </p:nvSpPr>
        <p:spPr>
          <a:xfrm>
            <a:off x="6506608" y="193668"/>
            <a:ext cx="773194" cy="171390"/>
          </a:xfrm>
          <a:prstGeom prst="rect">
            <a:avLst/>
          </a:prstGeom>
          <a:noFill/>
          <a:ln/>
        </p:spPr>
        <p:txBody>
          <a:bodyPr wrap="none" lIns="0" tIns="0" rIns="0" bIns="0" rtlCol="0" anchor="ctr"/>
          <a:lstStyle/>
          <a:p>
            <a:pPr marL="0" indent="0" algn="l">
              <a:lnSpc>
                <a:spcPct val="125000"/>
              </a:lnSpc>
              <a:buNone/>
            </a:pPr>
            <a:r>
              <a:rPr lang="en-US" sz="900" kern="100" spc="68" dirty="0">
                <a:solidFill>
                  <a:srgbClr val="2A2E31"/>
                </a:solidFill>
                <a:latin typeface="IBM Plex Sans" pitchFamily="34" charset="0"/>
                <a:ea typeface="IBM Plex Sans" pitchFamily="34" charset="-122"/>
                <a:cs typeface="IBM Plex Sans" pitchFamily="34" charset="-120"/>
              </a:rPr>
              <a:t>MOVIT</a:t>
            </a:r>
            <a:endParaRPr lang="en-US" sz="900" dirty="0"/>
          </a:p>
        </p:txBody>
      </p:sp>
      <p:sp>
        <p:nvSpPr>
          <p:cNvPr id="4" name="Shape 2"/>
          <p:cNvSpPr/>
          <p:nvPr/>
        </p:nvSpPr>
        <p:spPr>
          <a:xfrm>
            <a:off x="0" y="549310"/>
            <a:ext cx="7562088" cy="9477"/>
          </a:xfrm>
          <a:prstGeom prst="rect">
            <a:avLst/>
          </a:prstGeom>
          <a:solidFill>
            <a:srgbClr val="2A2E31">
              <a:alpha val="20000"/>
            </a:srgbClr>
          </a:solidFill>
          <a:ln/>
        </p:spPr>
      </p:sp>
      <p:sp>
        <p:nvSpPr>
          <p:cNvPr id="5" name="Text 3"/>
          <p:cNvSpPr/>
          <p:nvPr/>
        </p:nvSpPr>
        <p:spPr>
          <a:xfrm>
            <a:off x="660390" y="1227494"/>
            <a:ext cx="6619412" cy="157236"/>
          </a:xfrm>
          <a:prstGeom prst="rect">
            <a:avLst/>
          </a:prstGeom>
          <a:noFill/>
          <a:ln/>
        </p:spPr>
        <p:txBody>
          <a:bodyPr wrap="none" lIns="0" tIns="0" rIns="0" bIns="0" rtlCol="0" anchor="t"/>
          <a:lstStyle/>
          <a:p>
            <a:pPr marL="0" indent="0" algn="l">
              <a:lnSpc>
                <a:spcPct val="104000"/>
              </a:lnSpc>
              <a:buNone/>
            </a:pPr>
            <a:r>
              <a:rPr lang="en-US" sz="1000" kern="100" spc="74" dirty="0">
                <a:solidFill>
                  <a:srgbClr val="2F7468"/>
                </a:solidFill>
                <a:latin typeface="IBM Plex Sans SemiBold" pitchFamily="34" charset="0"/>
                <a:ea typeface="IBM Plex Sans SemiBold" pitchFamily="34" charset="-122"/>
                <a:cs typeface="IBM Plex Sans SemiBold" pitchFamily="34" charset="-120"/>
              </a:rPr>
              <a:t>04 · OPERATIONAL FLOW</a:t>
            </a:r>
            <a:endParaRPr lang="en-US" sz="1000" dirty="0"/>
          </a:p>
        </p:txBody>
      </p:sp>
      <p:sp>
        <p:nvSpPr>
          <p:cNvPr id="6" name="Text 4"/>
          <p:cNvSpPr/>
          <p:nvPr/>
        </p:nvSpPr>
        <p:spPr>
          <a:xfrm>
            <a:off x="660390" y="1444171"/>
            <a:ext cx="6241307" cy="330595"/>
          </a:xfrm>
          <a:prstGeom prst="rect">
            <a:avLst/>
          </a:prstGeom>
          <a:noFill/>
          <a:ln/>
        </p:spPr>
        <p:txBody>
          <a:bodyPr wrap="none" lIns="0" tIns="0" rIns="0" bIns="0" rtlCol="0" anchor="t"/>
          <a:lstStyle/>
          <a:p>
            <a:pPr marL="0" indent="0" algn="l">
              <a:lnSpc>
                <a:spcPct val="96000"/>
              </a:lnSpc>
              <a:buNone/>
            </a:pPr>
            <a:r>
              <a:rPr lang="en-US" sz="2250" kern="100" spc="-11" dirty="0">
                <a:solidFill>
                  <a:srgbClr val="173B5C"/>
                </a:solidFill>
                <a:latin typeface="Newsreader SemiBold" pitchFamily="34" charset="0"/>
                <a:ea typeface="Newsreader SemiBold" pitchFamily="34" charset="-122"/>
                <a:cs typeface="Newsreader SemiBold" pitchFamily="34" charset="-120"/>
              </a:rPr>
              <a:t>4. System Workflow</a:t>
            </a:r>
            <a:endParaRPr lang="en-US" sz="2250" dirty="0"/>
          </a:p>
        </p:txBody>
      </p:sp>
      <p:sp>
        <p:nvSpPr>
          <p:cNvPr id="7" name="Shape 5"/>
          <p:cNvSpPr/>
          <p:nvPr/>
        </p:nvSpPr>
        <p:spPr>
          <a:xfrm>
            <a:off x="660390" y="1980188"/>
            <a:ext cx="1560296" cy="31509"/>
          </a:xfrm>
          <a:prstGeom prst="roundRect">
            <a:avLst>
              <a:gd name="adj" fmla="val 50000"/>
            </a:avLst>
          </a:prstGeom>
          <a:solidFill>
            <a:srgbClr val="B8581A"/>
          </a:solidFill>
          <a:ln/>
        </p:spPr>
      </p:sp>
      <p:sp>
        <p:nvSpPr>
          <p:cNvPr id="8" name="Text 6"/>
          <p:cNvSpPr/>
          <p:nvPr/>
        </p:nvSpPr>
        <p:spPr>
          <a:xfrm>
            <a:off x="660390" y="2200385"/>
            <a:ext cx="5750399" cy="837935"/>
          </a:xfrm>
          <a:prstGeom prst="rect">
            <a:avLst/>
          </a:prstGeom>
          <a:noFill/>
          <a:ln/>
        </p:spPr>
        <p:txBody>
          <a:bodyPr wrap="square" lIns="0" tIns="0" rIns="0" bIns="0" rtlCol="0" anchor="t">
            <a:normAutofit/>
          </a:bodyPr>
          <a:lstStyle/>
          <a:p>
            <a:pPr marL="0" indent="0" algn="l">
              <a:lnSpc>
                <a:spcPct val="121000"/>
              </a:lnSpc>
              <a:buNone/>
            </a:pPr>
            <a:r>
              <a:rPr lang="en-US" sz="1150" dirty="0">
                <a:solidFill>
                  <a:srgbClr val="2A2E31"/>
                </a:solidFill>
                <a:latin typeface="IBM Plex Sans" pitchFamily="34" charset="0"/>
                <a:ea typeface="IBM Plex Sans" pitchFamily="34" charset="-122"/>
                <a:cs typeface="IBM Plex Sans" pitchFamily="34" charset="-120"/>
              </a:rPr>
              <a:t>The workflow describes how a passenger moves from an initial journey request to a bus decision. It intentionally stays at the prototype-component level; the available material does not confirm a specific backend, API, database, cloud service, or programming framework.</a:t>
            </a:r>
            <a:endParaRPr lang="en-US" sz="1150" dirty="0"/>
          </a:p>
        </p:txBody>
      </p:sp>
      <p:sp>
        <p:nvSpPr>
          <p:cNvPr id="9" name="Text 7"/>
          <p:cNvSpPr/>
          <p:nvPr/>
        </p:nvSpPr>
        <p:spPr>
          <a:xfrm>
            <a:off x="660390" y="3329279"/>
            <a:ext cx="6241307" cy="316810"/>
          </a:xfrm>
          <a:prstGeom prst="rect">
            <a:avLst/>
          </a:prstGeom>
          <a:noFill/>
          <a:ln/>
        </p:spPr>
        <p:txBody>
          <a:bodyPr wrap="none" lIns="0" tIns="0" rIns="0" bIns="0" rtlCol="0" anchor="t"/>
          <a:lstStyle/>
          <a:p>
            <a:pPr marL="0" indent="0" algn="l">
              <a:lnSpc>
                <a:spcPct val="96000"/>
              </a:lnSpc>
              <a:buNone/>
            </a:pPr>
            <a:r>
              <a:rPr lang="en-US" sz="2150" kern="100" spc="-11" dirty="0">
                <a:solidFill>
                  <a:srgbClr val="173B5C"/>
                </a:solidFill>
                <a:latin typeface="Newsreader SemiBold" pitchFamily="34" charset="0"/>
                <a:ea typeface="Newsreader SemiBold" pitchFamily="34" charset="-122"/>
                <a:cs typeface="Newsreader SemiBold" pitchFamily="34" charset="-120"/>
              </a:rPr>
              <a:t>Passenger workflow</a:t>
            </a:r>
            <a:endParaRPr lang="en-US" sz="2150" dirty="0"/>
          </a:p>
        </p:txBody>
      </p:sp>
      <p:sp>
        <p:nvSpPr>
          <p:cNvPr id="10" name="Shape 8"/>
          <p:cNvSpPr/>
          <p:nvPr/>
        </p:nvSpPr>
        <p:spPr>
          <a:xfrm>
            <a:off x="660390" y="3815572"/>
            <a:ext cx="3044467" cy="537248"/>
          </a:xfrm>
          <a:prstGeom prst="roundRect">
            <a:avLst>
              <a:gd name="adj" fmla="val 2128"/>
            </a:avLst>
          </a:prstGeom>
          <a:noFill/>
          <a:ln w="15754">
            <a:solidFill>
              <a:srgbClr val="D5D3CA"/>
            </a:solidFill>
            <a:prstDash val="solid"/>
          </a:ln>
        </p:spPr>
      </p:sp>
      <p:sp>
        <p:nvSpPr>
          <p:cNvPr id="11" name="Text 9"/>
          <p:cNvSpPr/>
          <p:nvPr/>
        </p:nvSpPr>
        <p:spPr>
          <a:xfrm>
            <a:off x="777686" y="3896313"/>
            <a:ext cx="464384" cy="143759"/>
          </a:xfrm>
          <a:prstGeom prst="rect">
            <a:avLst/>
          </a:prstGeom>
          <a:noFill/>
          <a:ln/>
        </p:spPr>
        <p:txBody>
          <a:bodyPr wrap="none" lIns="0" tIns="0" rIns="0" bIns="0" rtlCol="0" anchor="t"/>
          <a:lstStyle/>
          <a:p>
            <a:pPr marL="0" indent="0" algn="l">
              <a:lnSpc>
                <a:spcPct val="83000"/>
              </a:lnSpc>
              <a:buNone/>
            </a:pPr>
            <a:r>
              <a:rPr lang="en-US" sz="1150" dirty="0">
                <a:solidFill>
                  <a:srgbClr val="B8581A"/>
                </a:solidFill>
                <a:latin typeface="IBM Plex Sans SemiBold" pitchFamily="34" charset="0"/>
                <a:ea typeface="IBM Plex Sans SemiBold" pitchFamily="34" charset="-122"/>
                <a:cs typeface="IBM Plex Sans SemiBold" pitchFamily="34" charset="-120"/>
              </a:rPr>
              <a:t>1</a:t>
            </a:r>
            <a:endParaRPr lang="en-US" sz="1150" dirty="0"/>
          </a:p>
        </p:txBody>
      </p:sp>
      <p:sp>
        <p:nvSpPr>
          <p:cNvPr id="12" name="Text 10"/>
          <p:cNvSpPr/>
          <p:nvPr/>
        </p:nvSpPr>
        <p:spPr>
          <a:xfrm>
            <a:off x="1007725" y="3888706"/>
            <a:ext cx="2579836" cy="202099"/>
          </a:xfrm>
          <a:prstGeom prst="rect">
            <a:avLst/>
          </a:prstGeom>
          <a:noFill/>
          <a:ln/>
        </p:spPr>
        <p:txBody>
          <a:bodyPr wrap="none" lIns="0" tIns="0" rIns="0" bIns="0" rtlCol="0" anchor="t"/>
          <a:lstStyle/>
          <a:p>
            <a:pPr marL="0" indent="0" algn="l">
              <a:lnSpc>
                <a:spcPct val="112000"/>
              </a:lnSpc>
              <a:buNone/>
            </a:pPr>
            <a:r>
              <a:rPr lang="en-US" sz="1200" dirty="0">
                <a:solidFill>
                  <a:srgbClr val="2F7468"/>
                </a:solidFill>
                <a:latin typeface="IBM Plex Sans" pitchFamily="34" charset="0"/>
                <a:ea typeface="IBM Plex Sans" pitchFamily="34" charset="-122"/>
                <a:cs typeface="IBM Plex Sans" pitchFamily="34" charset="-120"/>
              </a:rPr>
              <a:t>START</a:t>
            </a:r>
            <a:endParaRPr lang="en-US" sz="1200" dirty="0"/>
          </a:p>
        </p:txBody>
      </p:sp>
      <p:sp>
        <p:nvSpPr>
          <p:cNvPr id="13" name="Shape 11"/>
          <p:cNvSpPr/>
          <p:nvPr/>
        </p:nvSpPr>
        <p:spPr>
          <a:xfrm>
            <a:off x="3857231" y="3815572"/>
            <a:ext cx="3044467" cy="537248"/>
          </a:xfrm>
          <a:prstGeom prst="roundRect">
            <a:avLst>
              <a:gd name="adj" fmla="val 2128"/>
            </a:avLst>
          </a:prstGeom>
          <a:noFill/>
          <a:ln w="15754">
            <a:solidFill>
              <a:srgbClr val="D5D3CA"/>
            </a:solidFill>
            <a:prstDash val="solid"/>
          </a:ln>
        </p:spPr>
      </p:sp>
      <p:sp>
        <p:nvSpPr>
          <p:cNvPr id="14" name="Text 12"/>
          <p:cNvSpPr/>
          <p:nvPr/>
        </p:nvSpPr>
        <p:spPr>
          <a:xfrm>
            <a:off x="3974527" y="3896313"/>
            <a:ext cx="464384" cy="143759"/>
          </a:xfrm>
          <a:prstGeom prst="rect">
            <a:avLst/>
          </a:prstGeom>
          <a:noFill/>
          <a:ln/>
        </p:spPr>
        <p:txBody>
          <a:bodyPr wrap="none" lIns="0" tIns="0" rIns="0" bIns="0" rtlCol="0" anchor="t"/>
          <a:lstStyle/>
          <a:p>
            <a:pPr marL="0" indent="0" algn="l">
              <a:lnSpc>
                <a:spcPct val="83000"/>
              </a:lnSpc>
              <a:buNone/>
            </a:pPr>
            <a:r>
              <a:rPr lang="en-US" sz="1150" dirty="0">
                <a:solidFill>
                  <a:srgbClr val="B8581A"/>
                </a:solidFill>
                <a:latin typeface="IBM Plex Sans SemiBold" pitchFamily="34" charset="0"/>
                <a:ea typeface="IBM Plex Sans SemiBold" pitchFamily="34" charset="-122"/>
                <a:cs typeface="IBM Plex Sans SemiBold" pitchFamily="34" charset="-120"/>
              </a:rPr>
              <a:t>2</a:t>
            </a:r>
            <a:endParaRPr lang="en-US" sz="1150" dirty="0"/>
          </a:p>
        </p:txBody>
      </p:sp>
      <p:sp>
        <p:nvSpPr>
          <p:cNvPr id="15" name="Text 13"/>
          <p:cNvSpPr/>
          <p:nvPr/>
        </p:nvSpPr>
        <p:spPr>
          <a:xfrm>
            <a:off x="4204565" y="3888706"/>
            <a:ext cx="2579836" cy="202099"/>
          </a:xfrm>
          <a:prstGeom prst="rect">
            <a:avLst/>
          </a:prstGeom>
          <a:noFill/>
          <a:ln/>
        </p:spPr>
        <p:txBody>
          <a:bodyPr wrap="none" lIns="0" tIns="0" rIns="0" bIns="0" rtlCol="0" anchor="t"/>
          <a:lstStyle/>
          <a:p>
            <a:pPr marL="0" indent="0" algn="l">
              <a:lnSpc>
                <a:spcPct val="112000"/>
              </a:lnSpc>
              <a:buNone/>
            </a:pPr>
            <a:r>
              <a:rPr lang="en-US" sz="1200" dirty="0">
                <a:solidFill>
                  <a:srgbClr val="2F7468"/>
                </a:solidFill>
                <a:latin typeface="IBM Plex Sans" pitchFamily="34" charset="0"/>
                <a:ea typeface="IBM Plex Sans" pitchFamily="34" charset="-122"/>
                <a:cs typeface="IBM Plex Sans" pitchFamily="34" charset="-120"/>
              </a:rPr>
              <a:t>Open MOVIT</a:t>
            </a:r>
            <a:endParaRPr lang="en-US" sz="1200" dirty="0"/>
          </a:p>
        </p:txBody>
      </p:sp>
      <p:sp>
        <p:nvSpPr>
          <p:cNvPr id="16" name="Shape 14"/>
          <p:cNvSpPr/>
          <p:nvPr/>
        </p:nvSpPr>
        <p:spPr>
          <a:xfrm>
            <a:off x="660390" y="4505133"/>
            <a:ext cx="3044467" cy="537310"/>
          </a:xfrm>
          <a:prstGeom prst="roundRect">
            <a:avLst>
              <a:gd name="adj" fmla="val 2127"/>
            </a:avLst>
          </a:prstGeom>
          <a:noFill/>
          <a:ln w="15754">
            <a:solidFill>
              <a:srgbClr val="D5D3CA"/>
            </a:solidFill>
            <a:prstDash val="solid"/>
          </a:ln>
        </p:spPr>
      </p:sp>
      <p:sp>
        <p:nvSpPr>
          <p:cNvPr id="17" name="Text 15"/>
          <p:cNvSpPr/>
          <p:nvPr/>
        </p:nvSpPr>
        <p:spPr>
          <a:xfrm>
            <a:off x="777686" y="4585874"/>
            <a:ext cx="464384" cy="143759"/>
          </a:xfrm>
          <a:prstGeom prst="rect">
            <a:avLst/>
          </a:prstGeom>
          <a:noFill/>
          <a:ln/>
        </p:spPr>
        <p:txBody>
          <a:bodyPr wrap="none" lIns="0" tIns="0" rIns="0" bIns="0" rtlCol="0" anchor="t"/>
          <a:lstStyle/>
          <a:p>
            <a:pPr marL="0" indent="0" algn="l">
              <a:lnSpc>
                <a:spcPct val="83000"/>
              </a:lnSpc>
              <a:buNone/>
            </a:pPr>
            <a:r>
              <a:rPr lang="en-US" sz="1150" dirty="0">
                <a:solidFill>
                  <a:srgbClr val="B8581A"/>
                </a:solidFill>
                <a:latin typeface="IBM Plex Sans SemiBold" pitchFamily="34" charset="0"/>
                <a:ea typeface="IBM Plex Sans SemiBold" pitchFamily="34" charset="-122"/>
                <a:cs typeface="IBM Plex Sans SemiBold" pitchFamily="34" charset="-120"/>
              </a:rPr>
              <a:t>3</a:t>
            </a:r>
            <a:endParaRPr lang="en-US" sz="1150" dirty="0"/>
          </a:p>
        </p:txBody>
      </p:sp>
      <p:sp>
        <p:nvSpPr>
          <p:cNvPr id="18" name="Text 16"/>
          <p:cNvSpPr/>
          <p:nvPr/>
        </p:nvSpPr>
        <p:spPr>
          <a:xfrm>
            <a:off x="1007725" y="4578267"/>
            <a:ext cx="2579836" cy="202099"/>
          </a:xfrm>
          <a:prstGeom prst="rect">
            <a:avLst/>
          </a:prstGeom>
          <a:noFill/>
          <a:ln/>
        </p:spPr>
        <p:txBody>
          <a:bodyPr wrap="none" lIns="0" tIns="0" rIns="0" bIns="0" rtlCol="0" anchor="t"/>
          <a:lstStyle/>
          <a:p>
            <a:pPr marL="0" indent="0" algn="l">
              <a:lnSpc>
                <a:spcPct val="112000"/>
              </a:lnSpc>
              <a:buNone/>
            </a:pPr>
            <a:r>
              <a:rPr lang="en-US" sz="1200" dirty="0">
                <a:solidFill>
                  <a:srgbClr val="2F7468"/>
                </a:solidFill>
                <a:latin typeface="IBM Plex Sans" pitchFamily="34" charset="0"/>
                <a:ea typeface="IBM Plex Sans" pitchFamily="34" charset="-122"/>
                <a:cs typeface="IBM Plex Sans" pitchFamily="34" charset="-120"/>
              </a:rPr>
              <a:t>Select FROM location</a:t>
            </a:r>
            <a:endParaRPr lang="en-US" sz="1200" dirty="0"/>
          </a:p>
        </p:txBody>
      </p:sp>
      <p:sp>
        <p:nvSpPr>
          <p:cNvPr id="19" name="Shape 17"/>
          <p:cNvSpPr/>
          <p:nvPr/>
        </p:nvSpPr>
        <p:spPr>
          <a:xfrm>
            <a:off x="3857231" y="4505133"/>
            <a:ext cx="3044467" cy="537310"/>
          </a:xfrm>
          <a:prstGeom prst="roundRect">
            <a:avLst>
              <a:gd name="adj" fmla="val 2127"/>
            </a:avLst>
          </a:prstGeom>
          <a:noFill/>
          <a:ln w="15754">
            <a:solidFill>
              <a:srgbClr val="D5D3CA"/>
            </a:solidFill>
            <a:prstDash val="solid"/>
          </a:ln>
        </p:spPr>
      </p:sp>
      <p:sp>
        <p:nvSpPr>
          <p:cNvPr id="20" name="Text 18"/>
          <p:cNvSpPr/>
          <p:nvPr/>
        </p:nvSpPr>
        <p:spPr>
          <a:xfrm>
            <a:off x="3974527" y="4585874"/>
            <a:ext cx="464384" cy="143759"/>
          </a:xfrm>
          <a:prstGeom prst="rect">
            <a:avLst/>
          </a:prstGeom>
          <a:noFill/>
          <a:ln/>
        </p:spPr>
        <p:txBody>
          <a:bodyPr wrap="none" lIns="0" tIns="0" rIns="0" bIns="0" rtlCol="0" anchor="t"/>
          <a:lstStyle/>
          <a:p>
            <a:pPr marL="0" indent="0" algn="l">
              <a:lnSpc>
                <a:spcPct val="83000"/>
              </a:lnSpc>
              <a:buNone/>
            </a:pPr>
            <a:r>
              <a:rPr lang="en-US" sz="1150" dirty="0">
                <a:solidFill>
                  <a:srgbClr val="B8581A"/>
                </a:solidFill>
                <a:latin typeface="IBM Plex Sans SemiBold" pitchFamily="34" charset="0"/>
                <a:ea typeface="IBM Plex Sans SemiBold" pitchFamily="34" charset="-122"/>
                <a:cs typeface="IBM Plex Sans SemiBold" pitchFamily="34" charset="-120"/>
              </a:rPr>
              <a:t>4</a:t>
            </a:r>
            <a:endParaRPr lang="en-US" sz="1150" dirty="0"/>
          </a:p>
        </p:txBody>
      </p:sp>
      <p:sp>
        <p:nvSpPr>
          <p:cNvPr id="21" name="Text 19"/>
          <p:cNvSpPr/>
          <p:nvPr/>
        </p:nvSpPr>
        <p:spPr>
          <a:xfrm>
            <a:off x="4204565" y="4578267"/>
            <a:ext cx="2579836" cy="202099"/>
          </a:xfrm>
          <a:prstGeom prst="rect">
            <a:avLst/>
          </a:prstGeom>
          <a:noFill/>
          <a:ln/>
        </p:spPr>
        <p:txBody>
          <a:bodyPr wrap="none" lIns="0" tIns="0" rIns="0" bIns="0" rtlCol="0" anchor="t"/>
          <a:lstStyle/>
          <a:p>
            <a:pPr marL="0" indent="0" algn="l">
              <a:lnSpc>
                <a:spcPct val="112000"/>
              </a:lnSpc>
              <a:buNone/>
            </a:pPr>
            <a:r>
              <a:rPr lang="en-US" sz="1200" dirty="0">
                <a:solidFill>
                  <a:srgbClr val="2F7468"/>
                </a:solidFill>
                <a:latin typeface="IBM Plex Sans" pitchFamily="34" charset="0"/>
                <a:ea typeface="IBM Plex Sans" pitchFamily="34" charset="-122"/>
                <a:cs typeface="IBM Plex Sans" pitchFamily="34" charset="-120"/>
              </a:rPr>
              <a:t>Select TO location</a:t>
            </a:r>
            <a:endParaRPr lang="en-US" sz="1200" dirty="0"/>
          </a:p>
        </p:txBody>
      </p:sp>
      <p:sp>
        <p:nvSpPr>
          <p:cNvPr id="22" name="Shape 20"/>
          <p:cNvSpPr/>
          <p:nvPr/>
        </p:nvSpPr>
        <p:spPr>
          <a:xfrm>
            <a:off x="660390" y="5194755"/>
            <a:ext cx="3044467" cy="537248"/>
          </a:xfrm>
          <a:prstGeom prst="roundRect">
            <a:avLst>
              <a:gd name="adj" fmla="val 2128"/>
            </a:avLst>
          </a:prstGeom>
          <a:noFill/>
          <a:ln w="15754">
            <a:solidFill>
              <a:srgbClr val="D5D3CA"/>
            </a:solidFill>
            <a:prstDash val="solid"/>
          </a:ln>
        </p:spPr>
      </p:sp>
      <p:sp>
        <p:nvSpPr>
          <p:cNvPr id="23" name="Text 21"/>
          <p:cNvSpPr/>
          <p:nvPr/>
        </p:nvSpPr>
        <p:spPr>
          <a:xfrm>
            <a:off x="777686" y="5275496"/>
            <a:ext cx="464384" cy="143759"/>
          </a:xfrm>
          <a:prstGeom prst="rect">
            <a:avLst/>
          </a:prstGeom>
          <a:noFill/>
          <a:ln/>
        </p:spPr>
        <p:txBody>
          <a:bodyPr wrap="none" lIns="0" tIns="0" rIns="0" bIns="0" rtlCol="0" anchor="t"/>
          <a:lstStyle/>
          <a:p>
            <a:pPr marL="0" indent="0" algn="l">
              <a:lnSpc>
                <a:spcPct val="83000"/>
              </a:lnSpc>
              <a:buNone/>
            </a:pPr>
            <a:r>
              <a:rPr lang="en-US" sz="1150" dirty="0">
                <a:solidFill>
                  <a:srgbClr val="B8581A"/>
                </a:solidFill>
                <a:latin typeface="IBM Plex Sans SemiBold" pitchFamily="34" charset="0"/>
                <a:ea typeface="IBM Plex Sans SemiBold" pitchFamily="34" charset="-122"/>
                <a:cs typeface="IBM Plex Sans SemiBold" pitchFamily="34" charset="-120"/>
              </a:rPr>
              <a:t>5</a:t>
            </a:r>
            <a:endParaRPr lang="en-US" sz="1150" dirty="0"/>
          </a:p>
        </p:txBody>
      </p:sp>
      <p:sp>
        <p:nvSpPr>
          <p:cNvPr id="24" name="Text 22"/>
          <p:cNvSpPr/>
          <p:nvPr/>
        </p:nvSpPr>
        <p:spPr>
          <a:xfrm>
            <a:off x="1007725" y="5267890"/>
            <a:ext cx="2579836" cy="202099"/>
          </a:xfrm>
          <a:prstGeom prst="rect">
            <a:avLst/>
          </a:prstGeom>
          <a:noFill/>
          <a:ln/>
        </p:spPr>
        <p:txBody>
          <a:bodyPr wrap="none" lIns="0" tIns="0" rIns="0" bIns="0" rtlCol="0" anchor="t"/>
          <a:lstStyle/>
          <a:p>
            <a:pPr marL="0" indent="0" algn="l">
              <a:lnSpc>
                <a:spcPct val="112000"/>
              </a:lnSpc>
              <a:buNone/>
            </a:pPr>
            <a:r>
              <a:rPr lang="en-US" sz="1200" dirty="0">
                <a:solidFill>
                  <a:srgbClr val="2F7468"/>
                </a:solidFill>
                <a:latin typeface="IBM Plex Sans" pitchFamily="34" charset="0"/>
                <a:ea typeface="IBM Plex Sans" pitchFamily="34" charset="-122"/>
                <a:cs typeface="IBM Plex Sans" pitchFamily="34" charset="-120"/>
              </a:rPr>
              <a:t>Search</a:t>
            </a:r>
            <a:endParaRPr lang="en-US" sz="1200" dirty="0"/>
          </a:p>
        </p:txBody>
      </p:sp>
      <p:sp>
        <p:nvSpPr>
          <p:cNvPr id="25" name="Shape 23"/>
          <p:cNvSpPr/>
          <p:nvPr/>
        </p:nvSpPr>
        <p:spPr>
          <a:xfrm>
            <a:off x="3857231" y="5194755"/>
            <a:ext cx="3044467" cy="537248"/>
          </a:xfrm>
          <a:prstGeom prst="roundRect">
            <a:avLst>
              <a:gd name="adj" fmla="val 2128"/>
            </a:avLst>
          </a:prstGeom>
          <a:noFill/>
          <a:ln w="15754">
            <a:solidFill>
              <a:srgbClr val="D5D3CA"/>
            </a:solidFill>
            <a:prstDash val="solid"/>
          </a:ln>
        </p:spPr>
      </p:sp>
      <p:sp>
        <p:nvSpPr>
          <p:cNvPr id="26" name="Text 24"/>
          <p:cNvSpPr/>
          <p:nvPr/>
        </p:nvSpPr>
        <p:spPr>
          <a:xfrm>
            <a:off x="3974527" y="5275496"/>
            <a:ext cx="464384" cy="143759"/>
          </a:xfrm>
          <a:prstGeom prst="rect">
            <a:avLst/>
          </a:prstGeom>
          <a:noFill/>
          <a:ln/>
        </p:spPr>
        <p:txBody>
          <a:bodyPr wrap="none" lIns="0" tIns="0" rIns="0" bIns="0" rtlCol="0" anchor="t"/>
          <a:lstStyle/>
          <a:p>
            <a:pPr marL="0" indent="0" algn="l">
              <a:lnSpc>
                <a:spcPct val="83000"/>
              </a:lnSpc>
              <a:buNone/>
            </a:pPr>
            <a:r>
              <a:rPr lang="en-US" sz="1150" dirty="0">
                <a:solidFill>
                  <a:srgbClr val="B8581A"/>
                </a:solidFill>
                <a:latin typeface="IBM Plex Sans SemiBold" pitchFamily="34" charset="0"/>
                <a:ea typeface="IBM Plex Sans SemiBold" pitchFamily="34" charset="-122"/>
                <a:cs typeface="IBM Plex Sans SemiBold" pitchFamily="34" charset="-120"/>
              </a:rPr>
              <a:t>6</a:t>
            </a:r>
            <a:endParaRPr lang="en-US" sz="1150" dirty="0"/>
          </a:p>
        </p:txBody>
      </p:sp>
      <p:sp>
        <p:nvSpPr>
          <p:cNvPr id="27" name="Text 25"/>
          <p:cNvSpPr/>
          <p:nvPr/>
        </p:nvSpPr>
        <p:spPr>
          <a:xfrm>
            <a:off x="4204565" y="5267890"/>
            <a:ext cx="2579836" cy="202099"/>
          </a:xfrm>
          <a:prstGeom prst="rect">
            <a:avLst/>
          </a:prstGeom>
          <a:noFill/>
          <a:ln/>
        </p:spPr>
        <p:txBody>
          <a:bodyPr wrap="none" lIns="0" tIns="0" rIns="0" bIns="0" rtlCol="0" anchor="t"/>
          <a:lstStyle/>
          <a:p>
            <a:pPr marL="0" indent="0" algn="l">
              <a:lnSpc>
                <a:spcPct val="112000"/>
              </a:lnSpc>
              <a:buNone/>
            </a:pPr>
            <a:r>
              <a:rPr lang="en-US" sz="1200" dirty="0">
                <a:solidFill>
                  <a:srgbClr val="2F7468"/>
                </a:solidFill>
                <a:latin typeface="IBM Plex Sans" pitchFamily="34" charset="0"/>
                <a:ea typeface="IBM Plex Sans" pitchFamily="34" charset="-122"/>
                <a:cs typeface="IBM Plex Sans" pitchFamily="34" charset="-120"/>
              </a:rPr>
              <a:t>Retrieve available buses</a:t>
            </a:r>
            <a:endParaRPr lang="en-US" sz="1200" dirty="0"/>
          </a:p>
        </p:txBody>
      </p:sp>
      <p:sp>
        <p:nvSpPr>
          <p:cNvPr id="28" name="Shape 26"/>
          <p:cNvSpPr/>
          <p:nvPr/>
        </p:nvSpPr>
        <p:spPr>
          <a:xfrm>
            <a:off x="660390" y="5884378"/>
            <a:ext cx="3044467" cy="537248"/>
          </a:xfrm>
          <a:prstGeom prst="roundRect">
            <a:avLst>
              <a:gd name="adj" fmla="val 2128"/>
            </a:avLst>
          </a:prstGeom>
          <a:noFill/>
          <a:ln w="15754">
            <a:solidFill>
              <a:srgbClr val="D5D3CA"/>
            </a:solidFill>
            <a:prstDash val="solid"/>
          </a:ln>
        </p:spPr>
      </p:sp>
      <p:sp>
        <p:nvSpPr>
          <p:cNvPr id="29" name="Text 27"/>
          <p:cNvSpPr/>
          <p:nvPr/>
        </p:nvSpPr>
        <p:spPr>
          <a:xfrm>
            <a:off x="777686" y="5965119"/>
            <a:ext cx="464384" cy="143759"/>
          </a:xfrm>
          <a:prstGeom prst="rect">
            <a:avLst/>
          </a:prstGeom>
          <a:noFill/>
          <a:ln/>
        </p:spPr>
        <p:txBody>
          <a:bodyPr wrap="none" lIns="0" tIns="0" rIns="0" bIns="0" rtlCol="0" anchor="t"/>
          <a:lstStyle/>
          <a:p>
            <a:pPr marL="0" indent="0" algn="l">
              <a:lnSpc>
                <a:spcPct val="83000"/>
              </a:lnSpc>
              <a:buNone/>
            </a:pPr>
            <a:r>
              <a:rPr lang="en-US" sz="1150" dirty="0">
                <a:solidFill>
                  <a:srgbClr val="B8581A"/>
                </a:solidFill>
                <a:latin typeface="IBM Plex Sans SemiBold" pitchFamily="34" charset="0"/>
                <a:ea typeface="IBM Plex Sans SemiBold" pitchFamily="34" charset="-122"/>
                <a:cs typeface="IBM Plex Sans SemiBold" pitchFamily="34" charset="-120"/>
              </a:rPr>
              <a:t>7</a:t>
            </a:r>
            <a:endParaRPr lang="en-US" sz="1150" dirty="0"/>
          </a:p>
        </p:txBody>
      </p:sp>
      <p:sp>
        <p:nvSpPr>
          <p:cNvPr id="30" name="Text 28"/>
          <p:cNvSpPr/>
          <p:nvPr/>
        </p:nvSpPr>
        <p:spPr>
          <a:xfrm>
            <a:off x="1007725" y="5957512"/>
            <a:ext cx="2579836" cy="202099"/>
          </a:xfrm>
          <a:prstGeom prst="rect">
            <a:avLst/>
          </a:prstGeom>
          <a:noFill/>
          <a:ln/>
        </p:spPr>
        <p:txBody>
          <a:bodyPr wrap="none" lIns="0" tIns="0" rIns="0" bIns="0" rtlCol="0" anchor="t"/>
          <a:lstStyle/>
          <a:p>
            <a:pPr marL="0" indent="0" algn="l">
              <a:lnSpc>
                <a:spcPct val="112000"/>
              </a:lnSpc>
              <a:buNone/>
            </a:pPr>
            <a:r>
              <a:rPr lang="en-US" sz="1200" dirty="0">
                <a:solidFill>
                  <a:srgbClr val="2F7468"/>
                </a:solidFill>
                <a:latin typeface="IBM Plex Sans" pitchFamily="34" charset="0"/>
                <a:ea typeface="IBM Plex Sans" pitchFamily="34" charset="-122"/>
                <a:cs typeface="IBM Plex Sans" pitchFamily="34" charset="-120"/>
              </a:rPr>
              <a:t>Display buses within next 60 minutes</a:t>
            </a:r>
            <a:endParaRPr lang="en-US" sz="1200" dirty="0"/>
          </a:p>
        </p:txBody>
      </p:sp>
      <p:sp>
        <p:nvSpPr>
          <p:cNvPr id="31" name="Shape 29"/>
          <p:cNvSpPr/>
          <p:nvPr/>
        </p:nvSpPr>
        <p:spPr>
          <a:xfrm>
            <a:off x="3857231" y="5884378"/>
            <a:ext cx="3044467" cy="537248"/>
          </a:xfrm>
          <a:prstGeom prst="roundRect">
            <a:avLst>
              <a:gd name="adj" fmla="val 2128"/>
            </a:avLst>
          </a:prstGeom>
          <a:noFill/>
          <a:ln w="15754">
            <a:solidFill>
              <a:srgbClr val="D5D3CA"/>
            </a:solidFill>
            <a:prstDash val="solid"/>
          </a:ln>
        </p:spPr>
      </p:sp>
      <p:sp>
        <p:nvSpPr>
          <p:cNvPr id="32" name="Text 30"/>
          <p:cNvSpPr/>
          <p:nvPr/>
        </p:nvSpPr>
        <p:spPr>
          <a:xfrm>
            <a:off x="3974527" y="5965119"/>
            <a:ext cx="464384" cy="143759"/>
          </a:xfrm>
          <a:prstGeom prst="rect">
            <a:avLst/>
          </a:prstGeom>
          <a:noFill/>
          <a:ln/>
        </p:spPr>
        <p:txBody>
          <a:bodyPr wrap="none" lIns="0" tIns="0" rIns="0" bIns="0" rtlCol="0" anchor="t"/>
          <a:lstStyle/>
          <a:p>
            <a:pPr marL="0" indent="0" algn="l">
              <a:lnSpc>
                <a:spcPct val="83000"/>
              </a:lnSpc>
              <a:buNone/>
            </a:pPr>
            <a:r>
              <a:rPr lang="en-US" sz="1150" dirty="0">
                <a:solidFill>
                  <a:srgbClr val="B8581A"/>
                </a:solidFill>
                <a:latin typeface="IBM Plex Sans SemiBold" pitchFamily="34" charset="0"/>
                <a:ea typeface="IBM Plex Sans SemiBold" pitchFamily="34" charset="-122"/>
                <a:cs typeface="IBM Plex Sans SemiBold" pitchFamily="34" charset="-120"/>
              </a:rPr>
              <a:t>8</a:t>
            </a:r>
            <a:endParaRPr lang="en-US" sz="1150" dirty="0"/>
          </a:p>
        </p:txBody>
      </p:sp>
      <p:sp>
        <p:nvSpPr>
          <p:cNvPr id="33" name="Text 31"/>
          <p:cNvSpPr/>
          <p:nvPr/>
        </p:nvSpPr>
        <p:spPr>
          <a:xfrm>
            <a:off x="4204565" y="5957512"/>
            <a:ext cx="2579836" cy="202099"/>
          </a:xfrm>
          <a:prstGeom prst="rect">
            <a:avLst/>
          </a:prstGeom>
          <a:noFill/>
          <a:ln/>
        </p:spPr>
        <p:txBody>
          <a:bodyPr wrap="none" lIns="0" tIns="0" rIns="0" bIns="0" rtlCol="0" anchor="t"/>
          <a:lstStyle/>
          <a:p>
            <a:pPr marL="0" indent="0" algn="l">
              <a:lnSpc>
                <a:spcPct val="112000"/>
              </a:lnSpc>
              <a:buNone/>
            </a:pPr>
            <a:r>
              <a:rPr lang="en-US" sz="1200" dirty="0">
                <a:solidFill>
                  <a:srgbClr val="2F7468"/>
                </a:solidFill>
                <a:latin typeface="IBM Plex Sans" pitchFamily="34" charset="0"/>
                <a:ea typeface="IBM Plex Sans" pitchFamily="34" charset="-122"/>
                <a:cs typeface="IBM Plex Sans" pitchFamily="34" charset="-120"/>
              </a:rPr>
              <a:t>Analyze bus conditions</a:t>
            </a:r>
            <a:endParaRPr lang="en-US" sz="1200" dirty="0"/>
          </a:p>
        </p:txBody>
      </p:sp>
      <p:sp>
        <p:nvSpPr>
          <p:cNvPr id="34" name="Shape 32"/>
          <p:cNvSpPr/>
          <p:nvPr/>
        </p:nvSpPr>
        <p:spPr>
          <a:xfrm>
            <a:off x="660390" y="6574001"/>
            <a:ext cx="3044467" cy="537248"/>
          </a:xfrm>
          <a:prstGeom prst="roundRect">
            <a:avLst>
              <a:gd name="adj" fmla="val 2128"/>
            </a:avLst>
          </a:prstGeom>
          <a:noFill/>
          <a:ln w="15754">
            <a:solidFill>
              <a:srgbClr val="D5D3CA"/>
            </a:solidFill>
            <a:prstDash val="solid"/>
          </a:ln>
        </p:spPr>
      </p:sp>
      <p:sp>
        <p:nvSpPr>
          <p:cNvPr id="35" name="Text 33"/>
          <p:cNvSpPr/>
          <p:nvPr/>
        </p:nvSpPr>
        <p:spPr>
          <a:xfrm>
            <a:off x="777686" y="6654742"/>
            <a:ext cx="464384" cy="143759"/>
          </a:xfrm>
          <a:prstGeom prst="rect">
            <a:avLst/>
          </a:prstGeom>
          <a:noFill/>
          <a:ln/>
        </p:spPr>
        <p:txBody>
          <a:bodyPr wrap="none" lIns="0" tIns="0" rIns="0" bIns="0" rtlCol="0" anchor="t"/>
          <a:lstStyle/>
          <a:p>
            <a:pPr marL="0" indent="0" algn="l">
              <a:lnSpc>
                <a:spcPct val="83000"/>
              </a:lnSpc>
              <a:buNone/>
            </a:pPr>
            <a:r>
              <a:rPr lang="en-US" sz="1150" dirty="0">
                <a:solidFill>
                  <a:srgbClr val="B8581A"/>
                </a:solidFill>
                <a:latin typeface="IBM Plex Sans SemiBold" pitchFamily="34" charset="0"/>
                <a:ea typeface="IBM Plex Sans SemiBold" pitchFamily="34" charset="-122"/>
                <a:cs typeface="IBM Plex Sans SemiBold" pitchFamily="34" charset="-120"/>
              </a:rPr>
              <a:t>9</a:t>
            </a:r>
            <a:endParaRPr lang="en-US" sz="1150" dirty="0"/>
          </a:p>
        </p:txBody>
      </p:sp>
      <p:sp>
        <p:nvSpPr>
          <p:cNvPr id="36" name="Text 34"/>
          <p:cNvSpPr/>
          <p:nvPr/>
        </p:nvSpPr>
        <p:spPr>
          <a:xfrm>
            <a:off x="1007725" y="6647135"/>
            <a:ext cx="2579836" cy="404198"/>
          </a:xfrm>
          <a:prstGeom prst="rect">
            <a:avLst/>
          </a:prstGeom>
          <a:noFill/>
          <a:ln/>
        </p:spPr>
        <p:txBody>
          <a:bodyPr wrap="square" lIns="0" tIns="0" rIns="0" bIns="0" rtlCol="0" anchor="t">
            <a:normAutofit/>
          </a:bodyPr>
          <a:lstStyle/>
          <a:p>
            <a:pPr marL="0" indent="0" algn="l">
              <a:lnSpc>
                <a:spcPct val="112000"/>
              </a:lnSpc>
              <a:buNone/>
            </a:pPr>
            <a:r>
              <a:rPr lang="en-US" sz="1200" dirty="0">
                <a:solidFill>
                  <a:srgbClr val="2F7468"/>
                </a:solidFill>
                <a:latin typeface="IBM Plex Sans" pitchFamily="34" charset="0"/>
                <a:ea typeface="IBM Plex Sans" pitchFamily="34" charset="-122"/>
                <a:cs typeface="IBM Plex Sans" pitchFamily="34" charset="-120"/>
              </a:rPr>
              <a:t>Compare arrival / delay / crowding / route information</a:t>
            </a:r>
            <a:endParaRPr lang="en-US" sz="1200" dirty="0"/>
          </a:p>
        </p:txBody>
      </p:sp>
      <p:sp>
        <p:nvSpPr>
          <p:cNvPr id="37" name="Shape 35"/>
          <p:cNvSpPr/>
          <p:nvPr/>
        </p:nvSpPr>
        <p:spPr>
          <a:xfrm>
            <a:off x="3857231" y="6574001"/>
            <a:ext cx="3044467" cy="537248"/>
          </a:xfrm>
          <a:prstGeom prst="roundRect">
            <a:avLst>
              <a:gd name="adj" fmla="val 2128"/>
            </a:avLst>
          </a:prstGeom>
          <a:noFill/>
          <a:ln w="15754">
            <a:solidFill>
              <a:srgbClr val="D5D3CA"/>
            </a:solidFill>
            <a:prstDash val="solid"/>
          </a:ln>
        </p:spPr>
      </p:sp>
      <p:sp>
        <p:nvSpPr>
          <p:cNvPr id="38" name="Text 36"/>
          <p:cNvSpPr/>
          <p:nvPr/>
        </p:nvSpPr>
        <p:spPr>
          <a:xfrm>
            <a:off x="3974527" y="6654742"/>
            <a:ext cx="550664" cy="143759"/>
          </a:xfrm>
          <a:prstGeom prst="rect">
            <a:avLst/>
          </a:prstGeom>
          <a:noFill/>
          <a:ln/>
        </p:spPr>
        <p:txBody>
          <a:bodyPr wrap="none" lIns="0" tIns="0" rIns="0" bIns="0" rtlCol="0" anchor="t"/>
          <a:lstStyle/>
          <a:p>
            <a:pPr marL="0" indent="0" algn="l">
              <a:lnSpc>
                <a:spcPct val="83000"/>
              </a:lnSpc>
              <a:buNone/>
            </a:pPr>
            <a:r>
              <a:rPr lang="en-US" sz="1150" dirty="0">
                <a:solidFill>
                  <a:srgbClr val="B8581A"/>
                </a:solidFill>
                <a:latin typeface="IBM Plex Sans SemiBold" pitchFamily="34" charset="0"/>
                <a:ea typeface="IBM Plex Sans SemiBold" pitchFamily="34" charset="-122"/>
                <a:cs typeface="IBM Plex Sans SemiBold" pitchFamily="34" charset="-120"/>
              </a:rPr>
              <a:t>10</a:t>
            </a:r>
            <a:endParaRPr lang="en-US" sz="1150" dirty="0"/>
          </a:p>
        </p:txBody>
      </p:sp>
      <p:sp>
        <p:nvSpPr>
          <p:cNvPr id="39" name="Text 37"/>
          <p:cNvSpPr/>
          <p:nvPr/>
        </p:nvSpPr>
        <p:spPr>
          <a:xfrm>
            <a:off x="4290845" y="6647135"/>
            <a:ext cx="2493557" cy="202099"/>
          </a:xfrm>
          <a:prstGeom prst="rect">
            <a:avLst/>
          </a:prstGeom>
          <a:noFill/>
          <a:ln/>
        </p:spPr>
        <p:txBody>
          <a:bodyPr wrap="none" lIns="0" tIns="0" rIns="0" bIns="0" rtlCol="0" anchor="t"/>
          <a:lstStyle/>
          <a:p>
            <a:pPr marL="0" indent="0" algn="l">
              <a:lnSpc>
                <a:spcPct val="112000"/>
              </a:lnSpc>
              <a:buNone/>
            </a:pPr>
            <a:r>
              <a:rPr lang="en-US" sz="1200" dirty="0">
                <a:solidFill>
                  <a:srgbClr val="2F7468"/>
                </a:solidFill>
                <a:latin typeface="IBM Plex Sans" pitchFamily="34" charset="0"/>
                <a:ea typeface="IBM Plex Sans" pitchFamily="34" charset="-122"/>
                <a:cs typeface="IBM Plex Sans" pitchFamily="34" charset="-120"/>
              </a:rPr>
              <a:t>Identify suitable bus</a:t>
            </a:r>
            <a:endParaRPr lang="en-US" sz="1200" dirty="0"/>
          </a:p>
        </p:txBody>
      </p:sp>
      <p:sp>
        <p:nvSpPr>
          <p:cNvPr id="40" name="Shape 38"/>
          <p:cNvSpPr/>
          <p:nvPr/>
        </p:nvSpPr>
        <p:spPr>
          <a:xfrm>
            <a:off x="660390" y="7263562"/>
            <a:ext cx="3044467" cy="537310"/>
          </a:xfrm>
          <a:prstGeom prst="roundRect">
            <a:avLst>
              <a:gd name="adj" fmla="val 2127"/>
            </a:avLst>
          </a:prstGeom>
          <a:noFill/>
          <a:ln w="15754">
            <a:solidFill>
              <a:srgbClr val="D5D3CA"/>
            </a:solidFill>
            <a:prstDash val="solid"/>
          </a:ln>
        </p:spPr>
      </p:sp>
      <p:sp>
        <p:nvSpPr>
          <p:cNvPr id="41" name="Text 39"/>
          <p:cNvSpPr/>
          <p:nvPr/>
        </p:nvSpPr>
        <p:spPr>
          <a:xfrm>
            <a:off x="777686" y="7344303"/>
            <a:ext cx="550664" cy="143759"/>
          </a:xfrm>
          <a:prstGeom prst="rect">
            <a:avLst/>
          </a:prstGeom>
          <a:noFill/>
          <a:ln/>
        </p:spPr>
        <p:txBody>
          <a:bodyPr wrap="none" lIns="0" tIns="0" rIns="0" bIns="0" rtlCol="0" anchor="t"/>
          <a:lstStyle/>
          <a:p>
            <a:pPr marL="0" indent="0" algn="l">
              <a:lnSpc>
                <a:spcPct val="83000"/>
              </a:lnSpc>
              <a:buNone/>
            </a:pPr>
            <a:r>
              <a:rPr lang="en-US" sz="1150" dirty="0">
                <a:solidFill>
                  <a:srgbClr val="B8581A"/>
                </a:solidFill>
                <a:latin typeface="IBM Plex Sans SemiBold" pitchFamily="34" charset="0"/>
                <a:ea typeface="IBM Plex Sans SemiBold" pitchFamily="34" charset="-122"/>
                <a:cs typeface="IBM Plex Sans SemiBold" pitchFamily="34" charset="-120"/>
              </a:rPr>
              <a:t>11</a:t>
            </a:r>
            <a:endParaRPr lang="en-US" sz="1150" dirty="0"/>
          </a:p>
        </p:txBody>
      </p:sp>
      <p:sp>
        <p:nvSpPr>
          <p:cNvPr id="42" name="Text 40"/>
          <p:cNvSpPr/>
          <p:nvPr/>
        </p:nvSpPr>
        <p:spPr>
          <a:xfrm>
            <a:off x="1094004" y="7336696"/>
            <a:ext cx="2493557" cy="202099"/>
          </a:xfrm>
          <a:prstGeom prst="rect">
            <a:avLst/>
          </a:prstGeom>
          <a:noFill/>
          <a:ln/>
        </p:spPr>
        <p:txBody>
          <a:bodyPr wrap="none" lIns="0" tIns="0" rIns="0" bIns="0" rtlCol="0" anchor="t"/>
          <a:lstStyle/>
          <a:p>
            <a:pPr marL="0" indent="0" algn="l">
              <a:lnSpc>
                <a:spcPct val="112000"/>
              </a:lnSpc>
              <a:buNone/>
            </a:pPr>
            <a:r>
              <a:rPr lang="en-US" sz="1200" dirty="0">
                <a:solidFill>
                  <a:srgbClr val="2F7468"/>
                </a:solidFill>
                <a:latin typeface="IBM Plex Sans" pitchFamily="34" charset="0"/>
                <a:ea typeface="IBM Plex Sans" pitchFamily="34" charset="-122"/>
                <a:cs typeface="IBM Plex Sans" pitchFamily="34" charset="-120"/>
              </a:rPr>
              <a:t>Display recommended option</a:t>
            </a:r>
            <a:endParaRPr lang="en-US" sz="1200" dirty="0"/>
          </a:p>
        </p:txBody>
      </p:sp>
      <p:sp>
        <p:nvSpPr>
          <p:cNvPr id="43" name="Shape 41"/>
          <p:cNvSpPr/>
          <p:nvPr/>
        </p:nvSpPr>
        <p:spPr>
          <a:xfrm>
            <a:off x="3857231" y="7263562"/>
            <a:ext cx="3044467" cy="537310"/>
          </a:xfrm>
          <a:prstGeom prst="roundRect">
            <a:avLst>
              <a:gd name="adj" fmla="val 2127"/>
            </a:avLst>
          </a:prstGeom>
          <a:noFill/>
          <a:ln w="15754">
            <a:solidFill>
              <a:srgbClr val="D5D3CA"/>
            </a:solidFill>
            <a:prstDash val="solid"/>
          </a:ln>
        </p:spPr>
      </p:sp>
      <p:sp>
        <p:nvSpPr>
          <p:cNvPr id="44" name="Text 42"/>
          <p:cNvSpPr/>
          <p:nvPr/>
        </p:nvSpPr>
        <p:spPr>
          <a:xfrm>
            <a:off x="3974527" y="7344303"/>
            <a:ext cx="550664" cy="143759"/>
          </a:xfrm>
          <a:prstGeom prst="rect">
            <a:avLst/>
          </a:prstGeom>
          <a:noFill/>
          <a:ln/>
        </p:spPr>
        <p:txBody>
          <a:bodyPr wrap="none" lIns="0" tIns="0" rIns="0" bIns="0" rtlCol="0" anchor="t"/>
          <a:lstStyle/>
          <a:p>
            <a:pPr marL="0" indent="0" algn="l">
              <a:lnSpc>
                <a:spcPct val="83000"/>
              </a:lnSpc>
              <a:buNone/>
            </a:pPr>
            <a:r>
              <a:rPr lang="en-US" sz="1150" dirty="0">
                <a:solidFill>
                  <a:srgbClr val="B8581A"/>
                </a:solidFill>
                <a:latin typeface="IBM Plex Sans SemiBold" pitchFamily="34" charset="0"/>
                <a:ea typeface="IBM Plex Sans SemiBold" pitchFamily="34" charset="-122"/>
                <a:cs typeface="IBM Plex Sans SemiBold" pitchFamily="34" charset="-120"/>
              </a:rPr>
              <a:t>12</a:t>
            </a:r>
            <a:endParaRPr lang="en-US" sz="1150" dirty="0"/>
          </a:p>
        </p:txBody>
      </p:sp>
      <p:sp>
        <p:nvSpPr>
          <p:cNvPr id="45" name="Text 43"/>
          <p:cNvSpPr/>
          <p:nvPr/>
        </p:nvSpPr>
        <p:spPr>
          <a:xfrm>
            <a:off x="4290845" y="7336696"/>
            <a:ext cx="2493557" cy="202099"/>
          </a:xfrm>
          <a:prstGeom prst="rect">
            <a:avLst/>
          </a:prstGeom>
          <a:noFill/>
          <a:ln/>
        </p:spPr>
        <p:txBody>
          <a:bodyPr wrap="none" lIns="0" tIns="0" rIns="0" bIns="0" rtlCol="0" anchor="t"/>
          <a:lstStyle/>
          <a:p>
            <a:pPr marL="0" indent="0" algn="l">
              <a:lnSpc>
                <a:spcPct val="112000"/>
              </a:lnSpc>
              <a:buNone/>
            </a:pPr>
            <a:r>
              <a:rPr lang="en-US" sz="1200" dirty="0">
                <a:solidFill>
                  <a:srgbClr val="2F7468"/>
                </a:solidFill>
                <a:latin typeface="IBM Plex Sans" pitchFamily="34" charset="0"/>
                <a:ea typeface="IBM Plex Sans" pitchFamily="34" charset="-122"/>
                <a:cs typeface="IBM Plex Sans" pitchFamily="34" charset="-120"/>
              </a:rPr>
              <a:t>Passenger chooses bus</a:t>
            </a:r>
            <a:endParaRPr lang="en-US" sz="1200" dirty="0"/>
          </a:p>
        </p:txBody>
      </p:sp>
      <p:sp>
        <p:nvSpPr>
          <p:cNvPr id="46" name="Shape 44"/>
          <p:cNvSpPr/>
          <p:nvPr/>
        </p:nvSpPr>
        <p:spPr>
          <a:xfrm>
            <a:off x="660390" y="7953185"/>
            <a:ext cx="6241307" cy="537248"/>
          </a:xfrm>
          <a:prstGeom prst="roundRect">
            <a:avLst>
              <a:gd name="adj" fmla="val 2128"/>
            </a:avLst>
          </a:prstGeom>
          <a:noFill/>
          <a:ln w="15754">
            <a:solidFill>
              <a:srgbClr val="D5D3CA"/>
            </a:solidFill>
            <a:prstDash val="solid"/>
          </a:ln>
        </p:spPr>
      </p:sp>
      <p:sp>
        <p:nvSpPr>
          <p:cNvPr id="47" name="Text 45"/>
          <p:cNvSpPr/>
          <p:nvPr/>
        </p:nvSpPr>
        <p:spPr>
          <a:xfrm>
            <a:off x="777686" y="8033926"/>
            <a:ext cx="550664" cy="143759"/>
          </a:xfrm>
          <a:prstGeom prst="rect">
            <a:avLst/>
          </a:prstGeom>
          <a:noFill/>
          <a:ln/>
        </p:spPr>
        <p:txBody>
          <a:bodyPr wrap="none" lIns="0" tIns="0" rIns="0" bIns="0" rtlCol="0" anchor="t"/>
          <a:lstStyle/>
          <a:p>
            <a:pPr marL="0" indent="0" algn="l">
              <a:lnSpc>
                <a:spcPct val="83000"/>
              </a:lnSpc>
              <a:buNone/>
            </a:pPr>
            <a:r>
              <a:rPr lang="en-US" sz="1150" dirty="0">
                <a:solidFill>
                  <a:srgbClr val="B8581A"/>
                </a:solidFill>
                <a:latin typeface="IBM Plex Sans SemiBold" pitchFamily="34" charset="0"/>
                <a:ea typeface="IBM Plex Sans SemiBold" pitchFamily="34" charset="-122"/>
                <a:cs typeface="IBM Plex Sans SemiBold" pitchFamily="34" charset="-120"/>
              </a:rPr>
              <a:t>13</a:t>
            </a:r>
            <a:endParaRPr lang="en-US" sz="1150" dirty="0"/>
          </a:p>
        </p:txBody>
      </p:sp>
      <p:sp>
        <p:nvSpPr>
          <p:cNvPr id="48" name="Text 46"/>
          <p:cNvSpPr/>
          <p:nvPr/>
        </p:nvSpPr>
        <p:spPr>
          <a:xfrm>
            <a:off x="1094004" y="8026319"/>
            <a:ext cx="5690397" cy="202099"/>
          </a:xfrm>
          <a:prstGeom prst="rect">
            <a:avLst/>
          </a:prstGeom>
          <a:noFill/>
          <a:ln/>
        </p:spPr>
        <p:txBody>
          <a:bodyPr wrap="none" lIns="0" tIns="0" rIns="0" bIns="0" rtlCol="0" anchor="t"/>
          <a:lstStyle/>
          <a:p>
            <a:pPr marL="0" indent="0" algn="l">
              <a:lnSpc>
                <a:spcPct val="112000"/>
              </a:lnSpc>
              <a:buNone/>
            </a:pPr>
            <a:r>
              <a:rPr lang="en-US" sz="1200" dirty="0">
                <a:solidFill>
                  <a:srgbClr val="2F7468"/>
                </a:solidFill>
                <a:latin typeface="IBM Plex Sans" pitchFamily="34" charset="0"/>
                <a:ea typeface="IBM Plex Sans" pitchFamily="34" charset="-122"/>
                <a:cs typeface="IBM Plex Sans" pitchFamily="34" charset="-120"/>
              </a:rPr>
              <a:t>END</a:t>
            </a:r>
            <a:endParaRPr lang="en-US" sz="1200" dirty="0"/>
          </a:p>
        </p:txBody>
      </p:sp>
      <p:sp>
        <p:nvSpPr>
          <p:cNvPr id="49" name="Text 47"/>
          <p:cNvSpPr/>
          <p:nvPr/>
        </p:nvSpPr>
        <p:spPr>
          <a:xfrm>
            <a:off x="660390" y="8781396"/>
            <a:ext cx="6241307" cy="316810"/>
          </a:xfrm>
          <a:prstGeom prst="rect">
            <a:avLst/>
          </a:prstGeom>
          <a:noFill/>
          <a:ln/>
        </p:spPr>
        <p:txBody>
          <a:bodyPr wrap="none" lIns="0" tIns="0" rIns="0" bIns="0" rtlCol="0" anchor="t"/>
          <a:lstStyle/>
          <a:p>
            <a:pPr marL="0" indent="0" algn="l">
              <a:lnSpc>
                <a:spcPct val="96000"/>
              </a:lnSpc>
              <a:buNone/>
            </a:pPr>
            <a:r>
              <a:rPr lang="en-US" sz="2150" kern="100" spc="-11" dirty="0">
                <a:solidFill>
                  <a:srgbClr val="173B5C"/>
                </a:solidFill>
                <a:latin typeface="Newsreader SemiBold" pitchFamily="34" charset="0"/>
                <a:ea typeface="Newsreader SemiBold" pitchFamily="34" charset="-122"/>
                <a:cs typeface="Newsreader SemiBold" pitchFamily="34" charset="-120"/>
              </a:rPr>
              <a:t>High-level architecture</a:t>
            </a:r>
            <a:endParaRPr lang="en-US" sz="2150" dirty="0"/>
          </a:p>
        </p:txBody>
      </p:sp>
      <p:sp>
        <p:nvSpPr>
          <p:cNvPr id="50" name="Text 48"/>
          <p:cNvSpPr/>
          <p:nvPr/>
        </p:nvSpPr>
        <p:spPr>
          <a:xfrm>
            <a:off x="660390" y="9267695"/>
            <a:ext cx="5750399" cy="1047419"/>
          </a:xfrm>
          <a:prstGeom prst="rect">
            <a:avLst/>
          </a:prstGeom>
          <a:noFill/>
          <a:ln/>
        </p:spPr>
        <p:txBody>
          <a:bodyPr wrap="square" lIns="0" tIns="0" rIns="0" bIns="0" rtlCol="0" anchor="t">
            <a:normAutofit/>
          </a:bodyPr>
          <a:lstStyle/>
          <a:p>
            <a:pPr marL="0" indent="0" algn="l">
              <a:lnSpc>
                <a:spcPct val="121000"/>
              </a:lnSpc>
              <a:buNone/>
            </a:pPr>
            <a:r>
              <a:rPr lang="en-US" sz="1150" dirty="0">
                <a:solidFill>
                  <a:srgbClr val="2A2E31"/>
                </a:solidFill>
                <a:latin typeface="IBM Plex Sans" pitchFamily="34" charset="0"/>
                <a:ea typeface="IBM Plex Sans" pitchFamily="34" charset="-122"/>
                <a:cs typeface="IBM Plex Sans" pitchFamily="34" charset="-120"/>
              </a:rPr>
              <a:t>User Interface → Journey / Bus Search Logic → Bus Information Processing → Recommendation Logic → Status / Passenger Report Components. Each layer represents a functional prototype component rather than a claim about a deployed technical architecture. The separation helps explain what the user sees, what information is processed, and where future integrations could be added.</a:t>
            </a:r>
            <a:endParaRPr lang="en-US" sz="1150" dirty="0"/>
          </a:p>
        </p:txBody>
      </p:sp>
      <p:sp>
        <p:nvSpPr>
          <p:cNvPr id="51" name="Text 49"/>
          <p:cNvSpPr/>
          <p:nvPr/>
        </p:nvSpPr>
        <p:spPr>
          <a:xfrm>
            <a:off x="660390" y="10470637"/>
            <a:ext cx="6619412" cy="178590"/>
          </a:xfrm>
          <a:prstGeom prst="rect">
            <a:avLst/>
          </a:prstGeom>
          <a:noFill/>
          <a:ln/>
        </p:spPr>
        <p:txBody>
          <a:bodyPr wrap="none" lIns="0" tIns="0" rIns="0" bIns="0" rtlCol="0" anchor="t"/>
          <a:lstStyle/>
          <a:p>
            <a:pPr marL="0" indent="0" algn="l">
              <a:lnSpc>
                <a:spcPct val="118000"/>
              </a:lnSpc>
              <a:buNone/>
            </a:pPr>
            <a:r>
              <a:rPr lang="en-US" sz="1000" b="1" dirty="0">
                <a:solidFill>
                  <a:srgbClr val="173B5C"/>
                </a:solidFill>
                <a:latin typeface="IBM Plex Sans Bold" pitchFamily="34" charset="0"/>
                <a:ea typeface="IBM Plex Sans Bold" pitchFamily="34" charset="-122"/>
                <a:cs typeface="IBM Plex Sans Bold" pitchFamily="34" charset="-120"/>
              </a:rPr>
              <a:t>Figure 4.1.</a:t>
            </a:r>
            <a:r>
              <a:rPr lang="en-US" sz="1000" dirty="0">
                <a:solidFill>
                  <a:srgbClr val="5F6361"/>
                </a:solidFill>
                <a:latin typeface="IBM Plex Sans" pitchFamily="34" charset="0"/>
                <a:ea typeface="IBM Plex Sans" pitchFamily="34" charset="-122"/>
                <a:cs typeface="IBM Plex Sans" pitchFamily="34" charset="-120"/>
              </a:rPr>
              <a:t> Prototype workflow and functional component boundary.</a:t>
            </a:r>
            <a:endParaRPr lang="en-US" sz="1000" dirty="0"/>
          </a:p>
        </p:txBody>
      </p:sp>
      <p:sp>
        <p:nvSpPr>
          <p:cNvPr id="52" name="Shape 50"/>
          <p:cNvSpPr/>
          <p:nvPr/>
        </p:nvSpPr>
        <p:spPr>
          <a:xfrm>
            <a:off x="0" y="10130548"/>
            <a:ext cx="7562088" cy="9477"/>
          </a:xfrm>
          <a:prstGeom prst="rect">
            <a:avLst/>
          </a:prstGeom>
          <a:solidFill>
            <a:srgbClr val="2A2E31">
              <a:alpha val="20000"/>
            </a:srgbClr>
          </a:solidFill>
          <a:ln/>
        </p:spPr>
      </p:sp>
      <p:sp>
        <p:nvSpPr>
          <p:cNvPr id="53" name="Text 51"/>
          <p:cNvSpPr/>
          <p:nvPr/>
        </p:nvSpPr>
        <p:spPr>
          <a:xfrm>
            <a:off x="660390" y="10324216"/>
            <a:ext cx="773194" cy="171390"/>
          </a:xfrm>
          <a:prstGeom prst="rect">
            <a:avLst/>
          </a:prstGeom>
          <a:noFill/>
          <a:ln/>
        </p:spPr>
        <p:txBody>
          <a:bodyPr wrap="none" lIns="0" tIns="0" rIns="0" bIns="0" rtlCol="0" anchor="ctr"/>
          <a:lstStyle/>
          <a:p>
            <a:pPr marL="0" indent="0" algn="l">
              <a:lnSpc>
                <a:spcPct val="125000"/>
              </a:lnSpc>
              <a:buNone/>
            </a:pPr>
            <a:r>
              <a:rPr lang="en-US" sz="900" kern="100" spc="68" dirty="0">
                <a:solidFill>
                  <a:srgbClr val="2A2E31"/>
                </a:solidFill>
                <a:latin typeface="IBM Plex Sans" pitchFamily="34" charset="0"/>
                <a:ea typeface="IBM Plex Sans" pitchFamily="34" charset="-122"/>
                <a:cs typeface="IBM Plex Sans" pitchFamily="34" charset="-120"/>
              </a:rPr>
              <a:t>MOVIT</a:t>
            </a:r>
            <a:endParaRPr lang="en-US" sz="900" dirty="0"/>
          </a:p>
        </p:txBody>
      </p:sp>
      <p:sp>
        <p:nvSpPr>
          <p:cNvPr id="54" name="Text 52"/>
          <p:cNvSpPr/>
          <p:nvPr/>
        </p:nvSpPr>
        <p:spPr>
          <a:xfrm>
            <a:off x="6747416" y="10324216"/>
            <a:ext cx="532386" cy="171390"/>
          </a:xfrm>
          <a:prstGeom prst="rect">
            <a:avLst/>
          </a:prstGeom>
          <a:noFill/>
          <a:ln/>
        </p:spPr>
        <p:txBody>
          <a:bodyPr wrap="none" lIns="0" tIns="0" rIns="0" bIns="0" rtlCol="0" anchor="ctr"/>
          <a:lstStyle/>
          <a:p>
            <a:pPr marL="0" indent="0" algn="l">
              <a:lnSpc>
                <a:spcPct val="125000"/>
              </a:lnSpc>
              <a:buNone/>
            </a:pPr>
            <a:r>
              <a:rPr lang="en-US" sz="900" kern="100" spc="68" dirty="0">
                <a:solidFill>
                  <a:srgbClr val="2A2E31"/>
                </a:solidFill>
                <a:latin typeface="IBM Plex Sans" pitchFamily="34" charset="0"/>
                <a:ea typeface="IBM Plex Sans" pitchFamily="34" charset="-122"/>
                <a:cs typeface="IBM Plex Sans"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0390" y="193668"/>
            <a:ext cx="773194" cy="171390"/>
          </a:xfrm>
          <a:prstGeom prst="rect">
            <a:avLst/>
          </a:prstGeom>
          <a:noFill/>
          <a:ln/>
        </p:spPr>
        <p:txBody>
          <a:bodyPr wrap="none" lIns="0" tIns="0" rIns="0" bIns="0" rtlCol="0" anchor="ctr"/>
          <a:lstStyle/>
          <a:p>
            <a:pPr marL="0" indent="0" algn="l">
              <a:lnSpc>
                <a:spcPct val="125000"/>
              </a:lnSpc>
              <a:buNone/>
            </a:pPr>
            <a:r>
              <a:rPr lang="en-US" sz="900" kern="100" spc="68" dirty="0">
                <a:solidFill>
                  <a:srgbClr val="2A2E31"/>
                </a:solidFill>
                <a:latin typeface="IBM Plex Sans" pitchFamily="34" charset="0"/>
                <a:ea typeface="IBM Plex Sans" pitchFamily="34" charset="-122"/>
                <a:cs typeface="IBM Plex Sans" pitchFamily="34" charset="-120"/>
              </a:rPr>
              <a:t>MOVIT</a:t>
            </a:r>
            <a:endParaRPr lang="en-US" sz="900" dirty="0"/>
          </a:p>
        </p:txBody>
      </p:sp>
      <p:sp>
        <p:nvSpPr>
          <p:cNvPr id="3" name="Text 1"/>
          <p:cNvSpPr/>
          <p:nvPr/>
        </p:nvSpPr>
        <p:spPr>
          <a:xfrm>
            <a:off x="6506608" y="193668"/>
            <a:ext cx="773194" cy="171390"/>
          </a:xfrm>
          <a:prstGeom prst="rect">
            <a:avLst/>
          </a:prstGeom>
          <a:noFill/>
          <a:ln/>
        </p:spPr>
        <p:txBody>
          <a:bodyPr wrap="none" lIns="0" tIns="0" rIns="0" bIns="0" rtlCol="0" anchor="ctr"/>
          <a:lstStyle/>
          <a:p>
            <a:pPr marL="0" indent="0" algn="l">
              <a:lnSpc>
                <a:spcPct val="125000"/>
              </a:lnSpc>
              <a:buNone/>
            </a:pPr>
            <a:r>
              <a:rPr lang="en-US" sz="900" kern="100" spc="68" dirty="0">
                <a:solidFill>
                  <a:srgbClr val="2A2E31"/>
                </a:solidFill>
                <a:latin typeface="IBM Plex Sans" pitchFamily="34" charset="0"/>
                <a:ea typeface="IBM Plex Sans" pitchFamily="34" charset="-122"/>
                <a:cs typeface="IBM Plex Sans" pitchFamily="34" charset="-120"/>
              </a:rPr>
              <a:t>MOVIT</a:t>
            </a:r>
            <a:endParaRPr lang="en-US" sz="900" dirty="0"/>
          </a:p>
        </p:txBody>
      </p:sp>
      <p:sp>
        <p:nvSpPr>
          <p:cNvPr id="4" name="Shape 2"/>
          <p:cNvSpPr/>
          <p:nvPr/>
        </p:nvSpPr>
        <p:spPr>
          <a:xfrm>
            <a:off x="0" y="549310"/>
            <a:ext cx="7562088" cy="9477"/>
          </a:xfrm>
          <a:prstGeom prst="rect">
            <a:avLst/>
          </a:prstGeom>
          <a:solidFill>
            <a:srgbClr val="2A2E31">
              <a:alpha val="20000"/>
            </a:srgbClr>
          </a:solidFill>
          <a:ln/>
        </p:spPr>
      </p:sp>
      <p:sp>
        <p:nvSpPr>
          <p:cNvPr id="5" name="Text 3"/>
          <p:cNvSpPr/>
          <p:nvPr/>
        </p:nvSpPr>
        <p:spPr>
          <a:xfrm>
            <a:off x="660390" y="1225132"/>
            <a:ext cx="6619412" cy="166652"/>
          </a:xfrm>
          <a:prstGeom prst="rect">
            <a:avLst/>
          </a:prstGeom>
          <a:noFill/>
          <a:ln/>
        </p:spPr>
        <p:txBody>
          <a:bodyPr wrap="none" lIns="0" tIns="0" rIns="0" bIns="0" rtlCol="0" anchor="t"/>
          <a:lstStyle/>
          <a:p>
            <a:pPr marL="0" indent="0" algn="l">
              <a:lnSpc>
                <a:spcPct val="104000"/>
              </a:lnSpc>
              <a:buNone/>
            </a:pPr>
            <a:r>
              <a:rPr lang="en-US" sz="1050" kern="100" spc="79" dirty="0">
                <a:solidFill>
                  <a:srgbClr val="2F7468"/>
                </a:solidFill>
                <a:latin typeface="IBM Plex Sans SemiBold" pitchFamily="34" charset="0"/>
                <a:ea typeface="IBM Plex Sans SemiBold" pitchFamily="34" charset="-122"/>
                <a:cs typeface="IBM Plex Sans SemiBold" pitchFamily="34" charset="-120"/>
              </a:rPr>
              <a:t>05 · DECISION SUPPORT</a:t>
            </a:r>
            <a:endParaRPr lang="en-US" sz="1050" dirty="0"/>
          </a:p>
        </p:txBody>
      </p:sp>
      <p:sp>
        <p:nvSpPr>
          <p:cNvPr id="6" name="Text 4"/>
          <p:cNvSpPr/>
          <p:nvPr/>
        </p:nvSpPr>
        <p:spPr>
          <a:xfrm>
            <a:off x="660390" y="1462017"/>
            <a:ext cx="6241307" cy="350473"/>
          </a:xfrm>
          <a:prstGeom prst="rect">
            <a:avLst/>
          </a:prstGeom>
          <a:noFill/>
          <a:ln/>
        </p:spPr>
        <p:txBody>
          <a:bodyPr wrap="none" lIns="0" tIns="0" rIns="0" bIns="0" rtlCol="0" anchor="t"/>
          <a:lstStyle/>
          <a:p>
            <a:pPr marL="0" indent="0" algn="l">
              <a:lnSpc>
                <a:spcPct val="96000"/>
              </a:lnSpc>
              <a:buNone/>
            </a:pPr>
            <a:r>
              <a:rPr lang="en-US" sz="2400" kern="100" spc="-12" dirty="0">
                <a:solidFill>
                  <a:srgbClr val="173B5C"/>
                </a:solidFill>
                <a:latin typeface="Newsreader SemiBold" pitchFamily="34" charset="0"/>
                <a:ea typeface="Newsreader SemiBold" pitchFamily="34" charset="-122"/>
                <a:cs typeface="Newsreader SemiBold" pitchFamily="34" charset="-120"/>
              </a:rPr>
              <a:t>5. Smart Bus Selection</a:t>
            </a:r>
            <a:endParaRPr lang="en-US" sz="2400" dirty="0"/>
          </a:p>
        </p:txBody>
      </p:sp>
      <p:sp>
        <p:nvSpPr>
          <p:cNvPr id="7" name="Shape 5"/>
          <p:cNvSpPr/>
          <p:nvPr/>
        </p:nvSpPr>
        <p:spPr>
          <a:xfrm>
            <a:off x="660390" y="2041052"/>
            <a:ext cx="1560296" cy="31509"/>
          </a:xfrm>
          <a:prstGeom prst="roundRect">
            <a:avLst>
              <a:gd name="adj" fmla="val 50000"/>
            </a:avLst>
          </a:prstGeom>
          <a:solidFill>
            <a:srgbClr val="B8581A"/>
          </a:solidFill>
          <a:ln/>
        </p:spPr>
      </p:sp>
      <p:sp>
        <p:nvSpPr>
          <p:cNvPr id="8" name="Text 6"/>
          <p:cNvSpPr/>
          <p:nvPr/>
        </p:nvSpPr>
        <p:spPr>
          <a:xfrm>
            <a:off x="660390" y="2282229"/>
            <a:ext cx="6095949" cy="1142807"/>
          </a:xfrm>
          <a:prstGeom prst="rect">
            <a:avLst/>
          </a:prstGeom>
          <a:noFill/>
          <a:ln/>
        </p:spPr>
        <p:txBody>
          <a:bodyPr wrap="square" lIns="0" tIns="0" rIns="0" bIns="0" rtlCol="0" anchor="t">
            <a:normAutofit/>
          </a:bodyPr>
          <a:lstStyle/>
          <a:p>
            <a:pPr marL="0" indent="0" algn="l">
              <a:lnSpc>
                <a:spcPct val="125000"/>
              </a:lnSpc>
              <a:buNone/>
            </a:pPr>
            <a:r>
              <a:rPr lang="en-US" sz="1200" dirty="0">
                <a:solidFill>
                  <a:srgbClr val="2A2E31"/>
                </a:solidFill>
                <a:latin typeface="IBM Plex Sans" pitchFamily="34" charset="0"/>
                <a:ea typeface="IBM Plex Sans" pitchFamily="34" charset="-122"/>
                <a:cs typeface="IBM Plex Sans" pitchFamily="34" charset="-120"/>
              </a:rPr>
              <a:t>The “Available Buses — Next 1 Hour” feature is central to MOVIT’s purpose. Instead of presenting only the next service, the prototype is intended to show a set of upcoming options so that passengers can compare relevant conditions. The published site labels this experience “Find your best bus” and describes all arrivals in the next hour with one thoughtful recommendation for the journey.</a:t>
            </a:r>
            <a:endParaRPr lang="en-US" sz="1200" dirty="0"/>
          </a:p>
        </p:txBody>
      </p:sp>
      <p:sp>
        <p:nvSpPr>
          <p:cNvPr id="9" name="Shape 7"/>
          <p:cNvSpPr/>
          <p:nvPr/>
        </p:nvSpPr>
        <p:spPr>
          <a:xfrm>
            <a:off x="660390" y="3596426"/>
            <a:ext cx="6241307" cy="1681778"/>
          </a:xfrm>
          <a:prstGeom prst="rect">
            <a:avLst/>
          </a:prstGeom>
          <a:solidFill>
            <a:srgbClr val="EAF1ED"/>
          </a:solidFill>
          <a:ln/>
        </p:spPr>
      </p:sp>
      <p:sp>
        <p:nvSpPr>
          <p:cNvPr id="10" name="Text 8"/>
          <p:cNvSpPr/>
          <p:nvPr/>
        </p:nvSpPr>
        <p:spPr>
          <a:xfrm>
            <a:off x="914368" y="3830940"/>
            <a:ext cx="5987330" cy="166652"/>
          </a:xfrm>
          <a:prstGeom prst="rect">
            <a:avLst/>
          </a:prstGeom>
          <a:noFill/>
          <a:ln/>
        </p:spPr>
        <p:txBody>
          <a:bodyPr wrap="none" lIns="0" tIns="0" rIns="0" bIns="0" rtlCol="0" anchor="t"/>
          <a:lstStyle/>
          <a:p>
            <a:pPr marL="0" indent="0" algn="l">
              <a:lnSpc>
                <a:spcPct val="104000"/>
              </a:lnSpc>
              <a:buNone/>
            </a:pPr>
            <a:r>
              <a:rPr lang="en-US" sz="1050" kern="100" spc="79" dirty="0">
                <a:solidFill>
                  <a:srgbClr val="000000"/>
                </a:solidFill>
                <a:latin typeface="IBM Plex Sans SemiBold" pitchFamily="34" charset="0"/>
                <a:ea typeface="IBM Plex Sans SemiBold" pitchFamily="34" charset="-122"/>
                <a:cs typeface="IBM Plex Sans SemiBold" pitchFamily="34" charset="-120"/>
              </a:rPr>
              <a:t>5.1 OPTIMAL BUS</a:t>
            </a:r>
            <a:endParaRPr lang="en-US" sz="1050" dirty="0"/>
          </a:p>
        </p:txBody>
      </p:sp>
      <p:sp>
        <p:nvSpPr>
          <p:cNvPr id="11" name="Text 9"/>
          <p:cNvSpPr/>
          <p:nvPr/>
        </p:nvSpPr>
        <p:spPr>
          <a:xfrm>
            <a:off x="914368" y="4102719"/>
            <a:ext cx="5733353" cy="457123"/>
          </a:xfrm>
          <a:prstGeom prst="rect">
            <a:avLst/>
          </a:prstGeom>
          <a:noFill/>
          <a:ln/>
        </p:spPr>
        <p:txBody>
          <a:bodyPr wrap="square" lIns="0" tIns="0" rIns="0" bIns="0" rtlCol="0" anchor="t">
            <a:normAutofit/>
          </a:bodyPr>
          <a:lstStyle/>
          <a:p>
            <a:pPr marL="0" indent="0" algn="l">
              <a:lnSpc>
                <a:spcPct val="125000"/>
              </a:lnSpc>
              <a:buNone/>
            </a:pPr>
            <a:r>
              <a:rPr lang="en-US" sz="1200" dirty="0">
                <a:solidFill>
                  <a:srgbClr val="000000"/>
                </a:solidFill>
                <a:latin typeface="IBM Plex Sans" pitchFamily="34" charset="0"/>
                <a:ea typeface="IBM Plex Sans" pitchFamily="34" charset="-122"/>
                <a:cs typeface="IBM Plex Sans" pitchFamily="34" charset="-120"/>
              </a:rPr>
              <a:t>The optimal bus is not necessarily the bus arriving first. A slightly later service may be more suitable when the first option is delayed or highly crowded.</a:t>
            </a:r>
            <a:endParaRPr lang="en-US" sz="1200" dirty="0"/>
          </a:p>
        </p:txBody>
      </p:sp>
      <p:sp>
        <p:nvSpPr>
          <p:cNvPr id="12" name="Text 10"/>
          <p:cNvSpPr/>
          <p:nvPr/>
        </p:nvSpPr>
        <p:spPr>
          <a:xfrm>
            <a:off x="914368" y="4671209"/>
            <a:ext cx="5733353" cy="378720"/>
          </a:xfrm>
          <a:prstGeom prst="rect">
            <a:avLst/>
          </a:prstGeom>
          <a:noFill/>
          <a:ln/>
        </p:spPr>
        <p:txBody>
          <a:bodyPr wrap="square" lIns="0" tIns="0" rIns="0" bIns="0" rtlCol="0" anchor="t">
            <a:normAutofit/>
          </a:bodyPr>
          <a:lstStyle/>
          <a:p>
            <a:pPr marL="0" indent="0" algn="l">
              <a:lnSpc>
                <a:spcPct val="118000"/>
              </a:lnSpc>
              <a:buNone/>
            </a:pPr>
            <a:r>
              <a:rPr lang="en-US" sz="1050" dirty="0">
                <a:solidFill>
                  <a:srgbClr val="000000"/>
                </a:solidFill>
                <a:latin typeface="IBM Plex Sans" pitchFamily="34" charset="0"/>
                <a:ea typeface="IBM Plex Sans" pitchFamily="34" charset="-122"/>
                <a:cs typeface="IBM Plex Sans" pitchFamily="34" charset="-120"/>
              </a:rPr>
              <a:t>This is a decision-support indication, not a mathematically verified score unless a scoring model is implemented and documented.</a:t>
            </a:r>
            <a:endParaRPr lang="en-US" sz="1050" dirty="0"/>
          </a:p>
        </p:txBody>
      </p:sp>
      <p:sp>
        <p:nvSpPr>
          <p:cNvPr id="13" name="Text 11"/>
          <p:cNvSpPr/>
          <p:nvPr/>
        </p:nvSpPr>
        <p:spPr>
          <a:xfrm>
            <a:off x="660390" y="5430864"/>
            <a:ext cx="6619412" cy="189360"/>
          </a:xfrm>
          <a:prstGeom prst="rect">
            <a:avLst/>
          </a:prstGeom>
          <a:noFill/>
          <a:ln/>
        </p:spPr>
        <p:txBody>
          <a:bodyPr wrap="none" lIns="0" tIns="0" rIns="0" bIns="0" rtlCol="0" anchor="t"/>
          <a:lstStyle/>
          <a:p>
            <a:pPr marL="0" indent="0" algn="l">
              <a:lnSpc>
                <a:spcPct val="118000"/>
              </a:lnSpc>
              <a:buNone/>
            </a:pPr>
            <a:r>
              <a:rPr lang="en-US" sz="1050" b="1" dirty="0">
                <a:solidFill>
                  <a:srgbClr val="173B5C"/>
                </a:solidFill>
                <a:latin typeface="IBM Plex Sans Bold" pitchFamily="34" charset="0"/>
                <a:ea typeface="IBM Plex Sans Bold" pitchFamily="34" charset="-122"/>
                <a:cs typeface="IBM Plex Sans Bold" pitchFamily="34" charset="-120"/>
              </a:rPr>
              <a:t>Table 5.1.</a:t>
            </a:r>
            <a:r>
              <a:rPr lang="en-US" sz="1050" dirty="0">
                <a:solidFill>
                  <a:srgbClr val="5F6361"/>
                </a:solidFill>
                <a:latin typeface="IBM Plex Sans" pitchFamily="34" charset="0"/>
                <a:ea typeface="IBM Plex Sans" pitchFamily="34" charset="-122"/>
                <a:cs typeface="IBM Plex Sans" pitchFamily="34" charset="-120"/>
              </a:rPr>
              <a:t> Illustrative bus comparison</a:t>
            </a:r>
            <a:endParaRPr lang="en-US" sz="10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60390" y="5791329"/>
          <a:ext cx="6241307" cy="914400"/>
        </p:xfrm>
        <a:graphic>
          <a:graphicData uri="http://schemas.openxmlformats.org/drawingml/2006/table">
            <a:tbl>
              <a:tblPr/>
              <a:tblGrid>
                <a:gridCol w="1497894">
                  <a:extLst>
                    <a:ext uri="{9D8B030D-6E8A-4147-A177-3AD203B41FA5}">
                      <a16:colId xmlns:a16="http://schemas.microsoft.com/office/drawing/2014/main" val="20000"/>
                    </a:ext>
                  </a:extLst>
                </a:gridCol>
                <a:gridCol w="1123421">
                  <a:extLst>
                    <a:ext uri="{9D8B030D-6E8A-4147-A177-3AD203B41FA5}">
                      <a16:colId xmlns:a16="http://schemas.microsoft.com/office/drawing/2014/main" val="20001"/>
                    </a:ext>
                  </a:extLst>
                </a:gridCol>
                <a:gridCol w="1123421">
                  <a:extLst>
                    <a:ext uri="{9D8B030D-6E8A-4147-A177-3AD203B41FA5}">
                      <a16:colId xmlns:a16="http://schemas.microsoft.com/office/drawing/2014/main" val="20002"/>
                    </a:ext>
                  </a:extLst>
                </a:gridCol>
                <a:gridCol w="2496572">
                  <a:extLst>
                    <a:ext uri="{9D8B030D-6E8A-4147-A177-3AD203B41FA5}">
                      <a16:colId xmlns:a16="http://schemas.microsoft.com/office/drawing/2014/main" val="20003"/>
                    </a:ext>
                  </a:extLst>
                </a:gridCol>
              </a:tblGrid>
              <a:tr h="345180">
                <a:tc>
                  <a:txBody>
                    <a:bodyPr/>
                    <a:lstStyle/>
                    <a:p>
                      <a:pPr marL="0" indent="0" algn="l">
                        <a:buNone/>
                      </a:pPr>
                      <a:r>
                        <a:rPr lang="en-US" sz="950" kern="100" spc="47" dirty="0">
                          <a:solidFill>
                            <a:srgbClr val="173B5C"/>
                          </a:solidFill>
                          <a:latin typeface="IBM Plex Sans" pitchFamily="34" charset="0"/>
                          <a:ea typeface="IBM Plex Sans" pitchFamily="34" charset="-122"/>
                          <a:cs typeface="IBM Plex Sans" pitchFamily="34" charset="-120"/>
                        </a:rPr>
                        <a:t>FACTOR</a:t>
                      </a:r>
                      <a:endParaRPr lang="en-US" sz="950" dirty="0">
                        <a:latin typeface="IBM Plex Sans" charset="0"/>
                        <a:ea typeface="IBM Plex Sans" charset="0"/>
                        <a:cs typeface="IBM Plex Sans" charset="0"/>
                      </a:endParaRPr>
                    </a:p>
                  </a:txBody>
                  <a:tcPr marL="90488" marR="90488" marT="76200" marB="76200" anchor="ctr">
                    <a:lnL w="12700" cap="flat" cmpd="sng" algn="ctr">
                      <a:solidFill>
                        <a:srgbClr val="FBFAF6"/>
                      </a:solidFill>
                      <a:prstDash val="solid"/>
                      <a:round/>
                      <a:headEnd type="none" w="med" len="med"/>
                      <a:tailEnd type="none" w="med" len="med"/>
                    </a:lnL>
                    <a:lnR w="12700" cap="flat" cmpd="sng" algn="ctr">
                      <a:solidFill>
                        <a:srgbClr val="FBFAF6"/>
                      </a:solidFill>
                      <a:prstDash val="solid"/>
                      <a:round/>
                      <a:headEnd type="none" w="med" len="med"/>
                      <a:tailEnd type="none" w="med" len="med"/>
                    </a:lnR>
                    <a:lnT w="12700" cap="flat" cmpd="sng" algn="ctr">
                      <a:solidFill>
                        <a:srgbClr val="FBFAF6"/>
                      </a:solidFill>
                      <a:prstDash val="solid"/>
                      <a:round/>
                      <a:headEnd type="none" w="med" len="med"/>
                      <a:tailEnd type="none" w="med" len="med"/>
                    </a:lnT>
                    <a:lnB w="12700" cap="flat" cmpd="sng" algn="ctr">
                      <a:solidFill>
                        <a:srgbClr val="173B5C"/>
                      </a:solidFill>
                      <a:prstDash val="solid"/>
                      <a:round/>
                      <a:headEnd type="none" w="med" len="med"/>
                      <a:tailEnd type="none" w="med" len="med"/>
                    </a:lnB>
                  </a:tcPr>
                </a:tc>
                <a:tc>
                  <a:txBody>
                    <a:bodyPr/>
                    <a:lstStyle/>
                    <a:p>
                      <a:pPr marL="0" indent="0" algn="l">
                        <a:buNone/>
                      </a:pPr>
                      <a:r>
                        <a:rPr lang="en-US" sz="950" kern="100" spc="47" dirty="0">
                          <a:solidFill>
                            <a:srgbClr val="173B5C"/>
                          </a:solidFill>
                          <a:latin typeface="IBM Plex Sans" pitchFamily="34" charset="0"/>
                          <a:ea typeface="IBM Plex Sans" pitchFamily="34" charset="-122"/>
                          <a:cs typeface="IBM Plex Sans" pitchFamily="34" charset="-120"/>
                        </a:rPr>
                        <a:t>BUS A</a:t>
                      </a:r>
                      <a:endParaRPr lang="en-US" sz="950" dirty="0">
                        <a:latin typeface="IBM Plex Sans" charset="0"/>
                        <a:ea typeface="IBM Plex Sans" charset="0"/>
                        <a:cs typeface="IBM Plex Sans" charset="0"/>
                      </a:endParaRPr>
                    </a:p>
                  </a:txBody>
                  <a:tcPr marL="90488" marR="90488" marT="76200" marB="76200" anchor="ctr">
                    <a:lnL w="12700" cap="flat" cmpd="sng" algn="ctr">
                      <a:solidFill>
                        <a:srgbClr val="FBFAF6"/>
                      </a:solidFill>
                      <a:prstDash val="solid"/>
                      <a:round/>
                      <a:headEnd type="none" w="med" len="med"/>
                      <a:tailEnd type="none" w="med" len="med"/>
                    </a:lnL>
                    <a:lnR w="12700" cap="flat" cmpd="sng" algn="ctr">
                      <a:solidFill>
                        <a:srgbClr val="FBFAF6"/>
                      </a:solidFill>
                      <a:prstDash val="solid"/>
                      <a:round/>
                      <a:headEnd type="none" w="med" len="med"/>
                      <a:tailEnd type="none" w="med" len="med"/>
                    </a:lnR>
                    <a:lnT w="12700" cap="flat" cmpd="sng" algn="ctr">
                      <a:solidFill>
                        <a:srgbClr val="FBFAF6"/>
                      </a:solidFill>
                      <a:prstDash val="solid"/>
                      <a:round/>
                      <a:headEnd type="none" w="med" len="med"/>
                      <a:tailEnd type="none" w="med" len="med"/>
                    </a:lnT>
                    <a:lnB w="12700" cap="flat" cmpd="sng" algn="ctr">
                      <a:solidFill>
                        <a:srgbClr val="173B5C"/>
                      </a:solidFill>
                      <a:prstDash val="solid"/>
                      <a:round/>
                      <a:headEnd type="none" w="med" len="med"/>
                      <a:tailEnd type="none" w="med" len="med"/>
                    </a:lnB>
                  </a:tcPr>
                </a:tc>
                <a:tc>
                  <a:txBody>
                    <a:bodyPr/>
                    <a:lstStyle/>
                    <a:p>
                      <a:pPr marL="0" indent="0" algn="l">
                        <a:buNone/>
                      </a:pPr>
                      <a:r>
                        <a:rPr lang="en-US" sz="950" kern="100" spc="47" dirty="0">
                          <a:solidFill>
                            <a:srgbClr val="173B5C"/>
                          </a:solidFill>
                          <a:latin typeface="IBM Plex Sans" pitchFamily="34" charset="0"/>
                          <a:ea typeface="IBM Plex Sans" pitchFamily="34" charset="-122"/>
                          <a:cs typeface="IBM Plex Sans" pitchFamily="34" charset="-120"/>
                        </a:rPr>
                        <a:t>BUS B</a:t>
                      </a:r>
                      <a:endParaRPr lang="en-US" sz="950" dirty="0">
                        <a:latin typeface="IBM Plex Sans" charset="0"/>
                        <a:ea typeface="IBM Plex Sans" charset="0"/>
                        <a:cs typeface="IBM Plex Sans" charset="0"/>
                      </a:endParaRPr>
                    </a:p>
                  </a:txBody>
                  <a:tcPr marL="90488" marR="90488" marT="76200" marB="76200" anchor="ctr">
                    <a:lnL w="12700" cap="flat" cmpd="sng" algn="ctr">
                      <a:solidFill>
                        <a:srgbClr val="FBFAF6"/>
                      </a:solidFill>
                      <a:prstDash val="solid"/>
                      <a:round/>
                      <a:headEnd type="none" w="med" len="med"/>
                      <a:tailEnd type="none" w="med" len="med"/>
                    </a:lnL>
                    <a:lnR w="12700" cap="flat" cmpd="sng" algn="ctr">
                      <a:solidFill>
                        <a:srgbClr val="FBFAF6"/>
                      </a:solidFill>
                      <a:prstDash val="solid"/>
                      <a:round/>
                      <a:headEnd type="none" w="med" len="med"/>
                      <a:tailEnd type="none" w="med" len="med"/>
                    </a:lnR>
                    <a:lnT w="12700" cap="flat" cmpd="sng" algn="ctr">
                      <a:solidFill>
                        <a:srgbClr val="FBFAF6"/>
                      </a:solidFill>
                      <a:prstDash val="solid"/>
                      <a:round/>
                      <a:headEnd type="none" w="med" len="med"/>
                      <a:tailEnd type="none" w="med" len="med"/>
                    </a:lnT>
                    <a:lnB w="12700" cap="flat" cmpd="sng" algn="ctr">
                      <a:solidFill>
                        <a:srgbClr val="173B5C"/>
                      </a:solidFill>
                      <a:prstDash val="solid"/>
                      <a:round/>
                      <a:headEnd type="none" w="med" len="med"/>
                      <a:tailEnd type="none" w="med" len="med"/>
                    </a:lnB>
                  </a:tcPr>
                </a:tc>
                <a:tc>
                  <a:txBody>
                    <a:bodyPr/>
                    <a:lstStyle/>
                    <a:p>
                      <a:pPr marL="0" indent="0" algn="l">
                        <a:buNone/>
                      </a:pPr>
                      <a:r>
                        <a:rPr lang="en-US" sz="950" kern="100" spc="47" dirty="0">
                          <a:solidFill>
                            <a:srgbClr val="173B5C"/>
                          </a:solidFill>
                          <a:latin typeface="IBM Plex Sans" pitchFamily="34" charset="0"/>
                          <a:ea typeface="IBM Plex Sans" pitchFamily="34" charset="-122"/>
                          <a:cs typeface="IBM Plex Sans" pitchFamily="34" charset="-120"/>
                        </a:rPr>
                        <a:t>EFFECT</a:t>
                      </a:r>
                      <a:endParaRPr lang="en-US" sz="950" dirty="0">
                        <a:latin typeface="IBM Plex Sans" charset="0"/>
                        <a:ea typeface="IBM Plex Sans" charset="0"/>
                        <a:cs typeface="IBM Plex Sans" charset="0"/>
                      </a:endParaRPr>
                    </a:p>
                  </a:txBody>
                  <a:tcPr marL="90488" marR="90488" marT="76200" marB="76200" anchor="ctr">
                    <a:lnL w="12700" cap="flat" cmpd="sng" algn="ctr">
                      <a:solidFill>
                        <a:srgbClr val="FBFAF6"/>
                      </a:solidFill>
                      <a:prstDash val="solid"/>
                      <a:round/>
                      <a:headEnd type="none" w="med" len="med"/>
                      <a:tailEnd type="none" w="med" len="med"/>
                    </a:lnL>
                    <a:lnR w="12700" cap="flat" cmpd="sng" algn="ctr">
                      <a:solidFill>
                        <a:srgbClr val="FBFAF6"/>
                      </a:solidFill>
                      <a:prstDash val="solid"/>
                      <a:round/>
                      <a:headEnd type="none" w="med" len="med"/>
                      <a:tailEnd type="none" w="med" len="med"/>
                    </a:lnR>
                    <a:lnT w="12700" cap="flat" cmpd="sng" algn="ctr">
                      <a:solidFill>
                        <a:srgbClr val="FBFAF6"/>
                      </a:solidFill>
                      <a:prstDash val="solid"/>
                      <a:round/>
                      <a:headEnd type="none" w="med" len="med"/>
                      <a:tailEnd type="none" w="med" len="med"/>
                    </a:lnT>
                    <a:lnB w="12700" cap="flat" cmpd="sng" algn="ctr">
                      <a:solidFill>
                        <a:srgbClr val="173B5C"/>
                      </a:solidFill>
                      <a:prstDash val="solid"/>
                      <a:round/>
                      <a:headEnd type="none" w="med" len="med"/>
                      <a:tailEnd type="none" w="med" len="med"/>
                    </a:lnB>
                  </a:tcPr>
                </a:tc>
                <a:extLst>
                  <a:ext uri="{0D108BD9-81ED-4DB2-BD59-A6C34878D82A}">
                    <a16:rowId xmlns:a16="http://schemas.microsoft.com/office/drawing/2014/main" val="10000"/>
                  </a:ext>
                </a:extLst>
              </a:tr>
              <a:tr h="388812">
                <a:tc>
                  <a:txBody>
                    <a:bodyPr/>
                    <a:lstStyle/>
                    <a:p>
                      <a:pPr marL="0" indent="0" algn="l">
                        <a:buNone/>
                      </a:pPr>
                      <a:r>
                        <a:rPr lang="en-US" sz="1200" dirty="0">
                          <a:solidFill>
                            <a:srgbClr val="2A2E31"/>
                          </a:solidFill>
                          <a:latin typeface="IBM Plex Sans" pitchFamily="34" charset="0"/>
                          <a:ea typeface="IBM Plex Sans" pitchFamily="34" charset="-122"/>
                          <a:cs typeface="IBM Plex Sans" pitchFamily="34" charset="-120"/>
                        </a:rPr>
                        <a:t>Arrival</a:t>
                      </a:r>
                      <a:endParaRPr lang="en-US" sz="1200" dirty="0">
                        <a:latin typeface="IBM Plex Sans" charset="0"/>
                        <a:ea typeface="IBM Plex Sans" charset="0"/>
                        <a:cs typeface="IBM Plex Sans" charset="0"/>
                      </a:endParaRPr>
                    </a:p>
                  </a:txBody>
                  <a:tcPr marL="114300" marR="114300" marT="76200" marB="76200" anchor="ctr">
                    <a:lnL w="12700" cap="flat" cmpd="sng" algn="ctr">
                      <a:solidFill>
                        <a:srgbClr val="FBFAF6"/>
                      </a:solidFill>
                      <a:prstDash val="solid"/>
                      <a:round/>
                      <a:headEnd type="none" w="med" len="med"/>
                      <a:tailEnd type="none" w="med" len="med"/>
                    </a:lnL>
                    <a:lnR w="12700" cap="flat" cmpd="sng" algn="ctr">
                      <a:solidFill>
                        <a:srgbClr val="FBFAF6"/>
                      </a:solidFill>
                      <a:prstDash val="solid"/>
                      <a:round/>
                      <a:headEnd type="none" w="med" len="med"/>
                      <a:tailEnd type="none" w="med" len="med"/>
                    </a:lnR>
                    <a:lnT w="12700" cap="flat" cmpd="sng" algn="ctr">
                      <a:solidFill>
                        <a:srgbClr val="173B5C"/>
                      </a:solidFill>
                      <a:prstDash val="solid"/>
                      <a:round/>
                      <a:headEnd type="none" w="med" len="med"/>
                      <a:tailEnd type="none" w="med" len="med"/>
                    </a:lnT>
                    <a:lnB w="12700" cap="flat" cmpd="sng" algn="ctr">
                      <a:solidFill>
                        <a:srgbClr val="173B5C"/>
                      </a:solidFill>
                      <a:prstDash val="solid"/>
                      <a:round/>
                      <a:headEnd type="none" w="med" len="med"/>
                      <a:tailEnd type="none" w="med" len="med"/>
                    </a:lnB>
                  </a:tcPr>
                </a:tc>
                <a:tc>
                  <a:txBody>
                    <a:bodyPr/>
                    <a:lstStyle/>
                    <a:p>
                      <a:pPr marL="0" indent="0" algn="l">
                        <a:buNone/>
                      </a:pPr>
                      <a:r>
                        <a:rPr lang="en-US" sz="1200" dirty="0">
                          <a:solidFill>
                            <a:srgbClr val="2A2E31"/>
                          </a:solidFill>
                          <a:latin typeface="IBM Plex Sans" pitchFamily="34" charset="0"/>
                          <a:ea typeface="IBM Plex Sans" pitchFamily="34" charset="-122"/>
                          <a:cs typeface="IBM Plex Sans" pitchFamily="34" charset="-120"/>
                        </a:rPr>
                        <a:t>Earlier</a:t>
                      </a:r>
                      <a:endParaRPr lang="en-US" sz="1200" dirty="0">
                        <a:latin typeface="IBM Plex Sans" charset="0"/>
                        <a:ea typeface="IBM Plex Sans" charset="0"/>
                        <a:cs typeface="IBM Plex Sans" charset="0"/>
                      </a:endParaRPr>
                    </a:p>
                  </a:txBody>
                  <a:tcPr marL="114300" marR="114300" marT="76200" marB="76200" anchor="ctr">
                    <a:lnL w="12700" cap="flat" cmpd="sng" algn="ctr">
                      <a:solidFill>
                        <a:srgbClr val="FBFAF6"/>
                      </a:solidFill>
                      <a:prstDash val="solid"/>
                      <a:round/>
                      <a:headEnd type="none" w="med" len="med"/>
                      <a:tailEnd type="none" w="med" len="med"/>
                    </a:lnL>
                    <a:lnR w="12700" cap="flat" cmpd="sng" algn="ctr">
                      <a:solidFill>
                        <a:srgbClr val="FBFAF6"/>
                      </a:solidFill>
                      <a:prstDash val="solid"/>
                      <a:round/>
                      <a:headEnd type="none" w="med" len="med"/>
                      <a:tailEnd type="none" w="med" len="med"/>
                    </a:lnR>
                    <a:lnT w="12700" cap="flat" cmpd="sng" algn="ctr">
                      <a:solidFill>
                        <a:srgbClr val="173B5C"/>
                      </a:solidFill>
                      <a:prstDash val="solid"/>
                      <a:round/>
                      <a:headEnd type="none" w="med" len="med"/>
                      <a:tailEnd type="none" w="med" len="med"/>
                    </a:lnT>
                    <a:lnB w="12700" cap="flat" cmpd="sng" algn="ctr">
                      <a:solidFill>
                        <a:srgbClr val="173B5C"/>
                      </a:solidFill>
                      <a:prstDash val="solid"/>
                      <a:round/>
                      <a:headEnd type="none" w="med" len="med"/>
                      <a:tailEnd type="none" w="med" len="med"/>
                    </a:lnB>
                  </a:tcPr>
                </a:tc>
                <a:tc>
                  <a:txBody>
                    <a:bodyPr/>
                    <a:lstStyle/>
                    <a:p>
                      <a:pPr marL="0" indent="0" algn="l">
                        <a:buNone/>
                      </a:pPr>
                      <a:r>
                        <a:rPr lang="en-US" sz="1200" dirty="0">
                          <a:solidFill>
                            <a:srgbClr val="2A2E31"/>
                          </a:solidFill>
                          <a:latin typeface="IBM Plex Sans" pitchFamily="34" charset="0"/>
                          <a:ea typeface="IBM Plex Sans" pitchFamily="34" charset="-122"/>
                          <a:cs typeface="IBM Plex Sans" pitchFamily="34" charset="-120"/>
                        </a:rPr>
                        <a:t>Slightly later</a:t>
                      </a:r>
                      <a:endParaRPr lang="en-US" sz="1200" dirty="0">
                        <a:latin typeface="IBM Plex Sans" charset="0"/>
                        <a:ea typeface="IBM Plex Sans" charset="0"/>
                        <a:cs typeface="IBM Plex Sans" charset="0"/>
                      </a:endParaRPr>
                    </a:p>
                  </a:txBody>
                  <a:tcPr marL="114300" marR="114300" marT="76200" marB="76200" anchor="ctr">
                    <a:lnL w="12700" cap="flat" cmpd="sng" algn="ctr">
                      <a:solidFill>
                        <a:srgbClr val="FBFAF6"/>
                      </a:solidFill>
                      <a:prstDash val="solid"/>
                      <a:round/>
                      <a:headEnd type="none" w="med" len="med"/>
                      <a:tailEnd type="none" w="med" len="med"/>
                    </a:lnL>
                    <a:lnR w="12700" cap="flat" cmpd="sng" algn="ctr">
                      <a:solidFill>
                        <a:srgbClr val="FBFAF6"/>
                      </a:solidFill>
                      <a:prstDash val="solid"/>
                      <a:round/>
                      <a:headEnd type="none" w="med" len="med"/>
                      <a:tailEnd type="none" w="med" len="med"/>
                    </a:lnR>
                    <a:lnT w="12700" cap="flat" cmpd="sng" algn="ctr">
                      <a:solidFill>
                        <a:srgbClr val="173B5C"/>
                      </a:solidFill>
                      <a:prstDash val="solid"/>
                      <a:round/>
                      <a:headEnd type="none" w="med" len="med"/>
                      <a:tailEnd type="none" w="med" len="med"/>
                    </a:lnT>
                    <a:lnB w="12700" cap="flat" cmpd="sng" algn="ctr">
                      <a:solidFill>
                        <a:srgbClr val="173B5C"/>
                      </a:solidFill>
                      <a:prstDash val="solid"/>
                      <a:round/>
                      <a:headEnd type="none" w="med" len="med"/>
                      <a:tailEnd type="none" w="med" len="med"/>
                    </a:lnB>
                  </a:tcPr>
                </a:tc>
                <a:tc>
                  <a:txBody>
                    <a:bodyPr/>
                    <a:lstStyle/>
                    <a:p>
                      <a:pPr marL="0" indent="0" algn="l">
                        <a:buNone/>
                      </a:pPr>
                      <a:r>
                        <a:rPr lang="en-US" sz="1200" dirty="0">
                          <a:solidFill>
                            <a:srgbClr val="2A2E31"/>
                          </a:solidFill>
                          <a:latin typeface="IBM Plex Sans" pitchFamily="34" charset="0"/>
                          <a:ea typeface="IBM Plex Sans" pitchFamily="34" charset="-122"/>
                          <a:cs typeface="IBM Plex Sans" pitchFamily="34" charset="-120"/>
                        </a:rPr>
                        <a:t>Waiting time</a:t>
                      </a:r>
                      <a:endParaRPr lang="en-US" sz="1200" dirty="0">
                        <a:latin typeface="IBM Plex Sans" charset="0"/>
                        <a:ea typeface="IBM Plex Sans" charset="0"/>
                        <a:cs typeface="IBM Plex Sans" charset="0"/>
                      </a:endParaRPr>
                    </a:p>
                  </a:txBody>
                  <a:tcPr marL="114300" marR="114300" marT="76200" marB="76200" anchor="ctr">
                    <a:lnL w="12700" cap="flat" cmpd="sng" algn="ctr">
                      <a:solidFill>
                        <a:srgbClr val="FBFAF6"/>
                      </a:solidFill>
                      <a:prstDash val="solid"/>
                      <a:round/>
                      <a:headEnd type="none" w="med" len="med"/>
                      <a:tailEnd type="none" w="med" len="med"/>
                    </a:lnL>
                    <a:lnR w="12700" cap="flat" cmpd="sng" algn="ctr">
                      <a:solidFill>
                        <a:srgbClr val="FBFAF6"/>
                      </a:solidFill>
                      <a:prstDash val="solid"/>
                      <a:round/>
                      <a:headEnd type="none" w="med" len="med"/>
                      <a:tailEnd type="none" w="med" len="med"/>
                    </a:lnR>
                    <a:lnT w="12700" cap="flat" cmpd="sng" algn="ctr">
                      <a:solidFill>
                        <a:srgbClr val="173B5C"/>
                      </a:solidFill>
                      <a:prstDash val="solid"/>
                      <a:round/>
                      <a:headEnd type="none" w="med" len="med"/>
                      <a:tailEnd type="none" w="med" len="med"/>
                    </a:lnT>
                    <a:lnB w="12700" cap="flat" cmpd="sng" algn="ctr">
                      <a:solidFill>
                        <a:srgbClr val="173B5C"/>
                      </a:solidFill>
                      <a:prstDash val="solid"/>
                      <a:round/>
                      <a:headEnd type="none" w="med" len="med"/>
                      <a:tailEnd type="none" w="med" len="med"/>
                    </a:lnB>
                  </a:tcPr>
                </a:tc>
                <a:extLst>
                  <a:ext uri="{0D108BD9-81ED-4DB2-BD59-A6C34878D82A}">
                    <a16:rowId xmlns:a16="http://schemas.microsoft.com/office/drawing/2014/main" val="10001"/>
                  </a:ext>
                </a:extLst>
              </a:tr>
              <a:tr h="388812">
                <a:tc>
                  <a:txBody>
                    <a:bodyPr/>
                    <a:lstStyle/>
                    <a:p>
                      <a:pPr marL="0" indent="0" algn="l">
                        <a:buNone/>
                      </a:pPr>
                      <a:r>
                        <a:rPr lang="en-US" sz="1200" dirty="0">
                          <a:solidFill>
                            <a:srgbClr val="2A2E31"/>
                          </a:solidFill>
                          <a:latin typeface="IBM Plex Sans" pitchFamily="34" charset="0"/>
                          <a:ea typeface="IBM Plex Sans" pitchFamily="34" charset="-122"/>
                          <a:cs typeface="IBM Plex Sans" pitchFamily="34" charset="-120"/>
                        </a:rPr>
                        <a:t>Delay</a:t>
                      </a:r>
                      <a:endParaRPr lang="en-US" sz="1200" dirty="0">
                        <a:latin typeface="IBM Plex Sans" charset="0"/>
                        <a:ea typeface="IBM Plex Sans" charset="0"/>
                        <a:cs typeface="IBM Plex Sans" charset="0"/>
                      </a:endParaRPr>
                    </a:p>
                  </a:txBody>
                  <a:tcPr marL="114300" marR="114300" marT="76200" marB="76200" anchor="ctr">
                    <a:lnL w="12700" cap="flat" cmpd="sng" algn="ctr">
                      <a:solidFill>
                        <a:srgbClr val="FBFAF6"/>
                      </a:solidFill>
                      <a:prstDash val="solid"/>
                      <a:round/>
                      <a:headEnd type="none" w="med" len="med"/>
                      <a:tailEnd type="none" w="med" len="med"/>
                    </a:lnL>
                    <a:lnR w="12700" cap="flat" cmpd="sng" algn="ctr">
                      <a:solidFill>
                        <a:srgbClr val="FBFAF6"/>
                      </a:solidFill>
                      <a:prstDash val="solid"/>
                      <a:round/>
                      <a:headEnd type="none" w="med" len="med"/>
                      <a:tailEnd type="none" w="med" len="med"/>
                    </a:lnR>
                    <a:lnT w="12700" cap="flat" cmpd="sng" algn="ctr">
                      <a:solidFill>
                        <a:srgbClr val="173B5C"/>
                      </a:solidFill>
                      <a:prstDash val="solid"/>
                      <a:round/>
                      <a:headEnd type="none" w="med" len="med"/>
                      <a:tailEnd type="none" w="med" len="med"/>
                    </a:lnT>
                    <a:lnB w="12700" cap="flat" cmpd="sng" algn="ctr">
                      <a:solidFill>
                        <a:srgbClr val="173B5C"/>
                      </a:solidFill>
                      <a:prstDash val="solid"/>
                      <a:round/>
                      <a:headEnd type="none" w="med" len="med"/>
                      <a:tailEnd type="none" w="med" len="med"/>
                    </a:lnB>
                  </a:tcPr>
                </a:tc>
                <a:tc>
                  <a:txBody>
                    <a:bodyPr/>
                    <a:lstStyle/>
                    <a:p>
                      <a:pPr marL="0" indent="0" algn="l">
                        <a:buNone/>
                      </a:pPr>
                      <a:r>
                        <a:rPr lang="en-US" sz="1200" dirty="0">
                          <a:solidFill>
                            <a:srgbClr val="2A2E31"/>
                          </a:solidFill>
                          <a:latin typeface="IBM Plex Sans" pitchFamily="34" charset="0"/>
                          <a:ea typeface="IBM Plex Sans" pitchFamily="34" charset="-122"/>
                          <a:cs typeface="IBM Plex Sans" pitchFamily="34" charset="-120"/>
                        </a:rPr>
                        <a:t>Higher</a:t>
                      </a:r>
                      <a:endParaRPr lang="en-US" sz="1200" dirty="0">
                        <a:latin typeface="IBM Plex Sans" charset="0"/>
                        <a:ea typeface="IBM Plex Sans" charset="0"/>
                        <a:cs typeface="IBM Plex Sans" charset="0"/>
                      </a:endParaRPr>
                    </a:p>
                  </a:txBody>
                  <a:tcPr marL="114300" marR="114300" marT="76200" marB="76200" anchor="ctr">
                    <a:lnL w="12700" cap="flat" cmpd="sng" algn="ctr">
                      <a:solidFill>
                        <a:srgbClr val="FBFAF6"/>
                      </a:solidFill>
                      <a:prstDash val="solid"/>
                      <a:round/>
                      <a:headEnd type="none" w="med" len="med"/>
                      <a:tailEnd type="none" w="med" len="med"/>
                    </a:lnL>
                    <a:lnR w="12700" cap="flat" cmpd="sng" algn="ctr">
                      <a:solidFill>
                        <a:srgbClr val="FBFAF6"/>
                      </a:solidFill>
                      <a:prstDash val="solid"/>
                      <a:round/>
                      <a:headEnd type="none" w="med" len="med"/>
                      <a:tailEnd type="none" w="med" len="med"/>
                    </a:lnR>
                    <a:lnT w="12700" cap="flat" cmpd="sng" algn="ctr">
                      <a:solidFill>
                        <a:srgbClr val="173B5C"/>
                      </a:solidFill>
                      <a:prstDash val="solid"/>
                      <a:round/>
                      <a:headEnd type="none" w="med" len="med"/>
                      <a:tailEnd type="none" w="med" len="med"/>
                    </a:lnT>
                    <a:lnB w="12700" cap="flat" cmpd="sng" algn="ctr">
                      <a:solidFill>
                        <a:srgbClr val="173B5C"/>
                      </a:solidFill>
                      <a:prstDash val="solid"/>
                      <a:round/>
                      <a:headEnd type="none" w="med" len="med"/>
                      <a:tailEnd type="none" w="med" len="med"/>
                    </a:lnB>
                  </a:tcPr>
                </a:tc>
                <a:tc>
                  <a:txBody>
                    <a:bodyPr/>
                    <a:lstStyle/>
                    <a:p>
                      <a:pPr marL="0" indent="0" algn="l">
                        <a:buNone/>
                      </a:pPr>
                      <a:r>
                        <a:rPr lang="en-US" sz="1200" dirty="0">
                          <a:solidFill>
                            <a:srgbClr val="2A2E31"/>
                          </a:solidFill>
                          <a:latin typeface="IBM Plex Sans" pitchFamily="34" charset="0"/>
                          <a:ea typeface="IBM Plex Sans" pitchFamily="34" charset="-122"/>
                          <a:cs typeface="IBM Plex Sans" pitchFamily="34" charset="-120"/>
                        </a:rPr>
                        <a:t>Lower</a:t>
                      </a:r>
                      <a:endParaRPr lang="en-US" sz="1200" dirty="0">
                        <a:latin typeface="IBM Plex Sans" charset="0"/>
                        <a:ea typeface="IBM Plex Sans" charset="0"/>
                        <a:cs typeface="IBM Plex Sans" charset="0"/>
                      </a:endParaRPr>
                    </a:p>
                  </a:txBody>
                  <a:tcPr marL="114300" marR="114300" marT="76200" marB="76200" anchor="ctr">
                    <a:lnL w="12700" cap="flat" cmpd="sng" algn="ctr">
                      <a:solidFill>
                        <a:srgbClr val="FBFAF6"/>
                      </a:solidFill>
                      <a:prstDash val="solid"/>
                      <a:round/>
                      <a:headEnd type="none" w="med" len="med"/>
                      <a:tailEnd type="none" w="med" len="med"/>
                    </a:lnL>
                    <a:lnR w="12700" cap="flat" cmpd="sng" algn="ctr">
                      <a:solidFill>
                        <a:srgbClr val="FBFAF6"/>
                      </a:solidFill>
                      <a:prstDash val="solid"/>
                      <a:round/>
                      <a:headEnd type="none" w="med" len="med"/>
                      <a:tailEnd type="none" w="med" len="med"/>
                    </a:lnR>
                    <a:lnT w="12700" cap="flat" cmpd="sng" algn="ctr">
                      <a:solidFill>
                        <a:srgbClr val="173B5C"/>
                      </a:solidFill>
                      <a:prstDash val="solid"/>
                      <a:round/>
                      <a:headEnd type="none" w="med" len="med"/>
                      <a:tailEnd type="none" w="med" len="med"/>
                    </a:lnT>
                    <a:lnB w="12700" cap="flat" cmpd="sng" algn="ctr">
                      <a:solidFill>
                        <a:srgbClr val="173B5C"/>
                      </a:solidFill>
                      <a:prstDash val="solid"/>
                      <a:round/>
                      <a:headEnd type="none" w="med" len="med"/>
                      <a:tailEnd type="none" w="med" len="med"/>
                    </a:lnB>
                  </a:tcPr>
                </a:tc>
                <a:tc>
                  <a:txBody>
                    <a:bodyPr/>
                    <a:lstStyle/>
                    <a:p>
                      <a:pPr marL="0" indent="0" algn="l">
                        <a:buNone/>
                      </a:pPr>
                      <a:r>
                        <a:rPr lang="en-US" sz="1200" dirty="0">
                          <a:solidFill>
                            <a:srgbClr val="2A2E31"/>
                          </a:solidFill>
                          <a:latin typeface="IBM Plex Sans" pitchFamily="34" charset="0"/>
                          <a:ea typeface="IBM Plex Sans" pitchFamily="34" charset="-122"/>
                          <a:cs typeface="IBM Plex Sans" pitchFamily="34" charset="-120"/>
                        </a:rPr>
                        <a:t>Reliability</a:t>
                      </a:r>
                      <a:endParaRPr lang="en-US" sz="1200" dirty="0">
                        <a:latin typeface="IBM Plex Sans" charset="0"/>
                        <a:ea typeface="IBM Plex Sans" charset="0"/>
                        <a:cs typeface="IBM Plex Sans" charset="0"/>
                      </a:endParaRPr>
                    </a:p>
                  </a:txBody>
                  <a:tcPr marL="114300" marR="114300" marT="76200" marB="76200" anchor="ctr">
                    <a:lnL w="12700" cap="flat" cmpd="sng" algn="ctr">
                      <a:solidFill>
                        <a:srgbClr val="FBFAF6"/>
                      </a:solidFill>
                      <a:prstDash val="solid"/>
                      <a:round/>
                      <a:headEnd type="none" w="med" len="med"/>
                      <a:tailEnd type="none" w="med" len="med"/>
                    </a:lnL>
                    <a:lnR w="12700" cap="flat" cmpd="sng" algn="ctr">
                      <a:solidFill>
                        <a:srgbClr val="FBFAF6"/>
                      </a:solidFill>
                      <a:prstDash val="solid"/>
                      <a:round/>
                      <a:headEnd type="none" w="med" len="med"/>
                      <a:tailEnd type="none" w="med" len="med"/>
                    </a:lnR>
                    <a:lnT w="12700" cap="flat" cmpd="sng" algn="ctr">
                      <a:solidFill>
                        <a:srgbClr val="173B5C"/>
                      </a:solidFill>
                      <a:prstDash val="solid"/>
                      <a:round/>
                      <a:headEnd type="none" w="med" len="med"/>
                      <a:tailEnd type="none" w="med" len="med"/>
                    </a:lnT>
                    <a:lnB w="12700" cap="flat" cmpd="sng" algn="ctr">
                      <a:solidFill>
                        <a:srgbClr val="173B5C"/>
                      </a:solidFill>
                      <a:prstDash val="solid"/>
                      <a:round/>
                      <a:headEnd type="none" w="med" len="med"/>
                      <a:tailEnd type="none" w="med" len="med"/>
                    </a:lnB>
                  </a:tcPr>
                </a:tc>
                <a:extLst>
                  <a:ext uri="{0D108BD9-81ED-4DB2-BD59-A6C34878D82A}">
                    <a16:rowId xmlns:a16="http://schemas.microsoft.com/office/drawing/2014/main" val="10002"/>
                  </a:ext>
                </a:extLst>
              </a:tr>
              <a:tr h="388812">
                <a:tc>
                  <a:txBody>
                    <a:bodyPr/>
                    <a:lstStyle/>
                    <a:p>
                      <a:pPr marL="0" indent="0" algn="l">
                        <a:buNone/>
                      </a:pPr>
                      <a:r>
                        <a:rPr lang="en-US" sz="1200" dirty="0">
                          <a:solidFill>
                            <a:srgbClr val="2A2E31"/>
                          </a:solidFill>
                          <a:latin typeface="IBM Plex Sans" pitchFamily="34" charset="0"/>
                          <a:ea typeface="IBM Plex Sans" pitchFamily="34" charset="-122"/>
                          <a:cs typeface="IBM Plex Sans" pitchFamily="34" charset="-120"/>
                        </a:rPr>
                        <a:t>Crowding</a:t>
                      </a:r>
                      <a:endParaRPr lang="en-US" sz="1200" dirty="0">
                        <a:latin typeface="IBM Plex Sans" charset="0"/>
                        <a:ea typeface="IBM Plex Sans" charset="0"/>
                        <a:cs typeface="IBM Plex Sans" charset="0"/>
                      </a:endParaRPr>
                    </a:p>
                  </a:txBody>
                  <a:tcPr marL="114300" marR="114300" marT="76200" marB="76200" anchor="ctr">
                    <a:lnL w="12700" cap="flat" cmpd="sng" algn="ctr">
                      <a:solidFill>
                        <a:srgbClr val="FBFAF6"/>
                      </a:solidFill>
                      <a:prstDash val="solid"/>
                      <a:round/>
                      <a:headEnd type="none" w="med" len="med"/>
                      <a:tailEnd type="none" w="med" len="med"/>
                    </a:lnL>
                    <a:lnR w="12700" cap="flat" cmpd="sng" algn="ctr">
                      <a:solidFill>
                        <a:srgbClr val="FBFAF6"/>
                      </a:solidFill>
                      <a:prstDash val="solid"/>
                      <a:round/>
                      <a:headEnd type="none" w="med" len="med"/>
                      <a:tailEnd type="none" w="med" len="med"/>
                    </a:lnR>
                    <a:lnT w="12700" cap="flat" cmpd="sng" algn="ctr">
                      <a:solidFill>
                        <a:srgbClr val="173B5C"/>
                      </a:solidFill>
                      <a:prstDash val="solid"/>
                      <a:round/>
                      <a:headEnd type="none" w="med" len="med"/>
                      <a:tailEnd type="none" w="med" len="med"/>
                    </a:lnT>
                    <a:lnB w="12700" cap="flat" cmpd="sng" algn="ctr">
                      <a:solidFill>
                        <a:srgbClr val="173B5C"/>
                      </a:solidFill>
                      <a:prstDash val="solid"/>
                      <a:round/>
                      <a:headEnd type="none" w="med" len="med"/>
                      <a:tailEnd type="none" w="med" len="med"/>
                    </a:lnB>
                  </a:tcPr>
                </a:tc>
                <a:tc>
                  <a:txBody>
                    <a:bodyPr/>
                    <a:lstStyle/>
                    <a:p>
                      <a:pPr marL="0" indent="0" algn="l">
                        <a:buNone/>
                      </a:pPr>
                      <a:r>
                        <a:rPr lang="en-US" sz="1200" dirty="0">
                          <a:solidFill>
                            <a:srgbClr val="2A2E31"/>
                          </a:solidFill>
                          <a:latin typeface="IBM Plex Sans" pitchFamily="34" charset="0"/>
                          <a:ea typeface="IBM Plex Sans" pitchFamily="34" charset="-122"/>
                          <a:cs typeface="IBM Plex Sans" pitchFamily="34" charset="-120"/>
                        </a:rPr>
                        <a:t>High</a:t>
                      </a:r>
                      <a:endParaRPr lang="en-US" sz="1200" dirty="0">
                        <a:latin typeface="IBM Plex Sans" charset="0"/>
                        <a:ea typeface="IBM Plex Sans" charset="0"/>
                        <a:cs typeface="IBM Plex Sans" charset="0"/>
                      </a:endParaRPr>
                    </a:p>
                  </a:txBody>
                  <a:tcPr marL="114300" marR="114300" marT="76200" marB="76200" anchor="ctr">
                    <a:lnL w="12700" cap="flat" cmpd="sng" algn="ctr">
                      <a:solidFill>
                        <a:srgbClr val="FBFAF6"/>
                      </a:solidFill>
                      <a:prstDash val="solid"/>
                      <a:round/>
                      <a:headEnd type="none" w="med" len="med"/>
                      <a:tailEnd type="none" w="med" len="med"/>
                    </a:lnL>
                    <a:lnR w="12700" cap="flat" cmpd="sng" algn="ctr">
                      <a:solidFill>
                        <a:srgbClr val="FBFAF6"/>
                      </a:solidFill>
                      <a:prstDash val="solid"/>
                      <a:round/>
                      <a:headEnd type="none" w="med" len="med"/>
                      <a:tailEnd type="none" w="med" len="med"/>
                    </a:lnR>
                    <a:lnT w="12700" cap="flat" cmpd="sng" algn="ctr">
                      <a:solidFill>
                        <a:srgbClr val="173B5C"/>
                      </a:solidFill>
                      <a:prstDash val="solid"/>
                      <a:round/>
                      <a:headEnd type="none" w="med" len="med"/>
                      <a:tailEnd type="none" w="med" len="med"/>
                    </a:lnT>
                    <a:lnB w="12700" cap="flat" cmpd="sng" algn="ctr">
                      <a:solidFill>
                        <a:srgbClr val="173B5C"/>
                      </a:solidFill>
                      <a:prstDash val="solid"/>
                      <a:round/>
                      <a:headEnd type="none" w="med" len="med"/>
                      <a:tailEnd type="none" w="med" len="med"/>
                    </a:lnB>
                  </a:tcPr>
                </a:tc>
                <a:tc>
                  <a:txBody>
                    <a:bodyPr/>
                    <a:lstStyle/>
                    <a:p>
                      <a:pPr marL="0" indent="0" algn="l">
                        <a:buNone/>
                      </a:pPr>
                      <a:r>
                        <a:rPr lang="en-US" sz="1200" dirty="0">
                          <a:solidFill>
                            <a:srgbClr val="2A2E31"/>
                          </a:solidFill>
                          <a:latin typeface="IBM Plex Sans" pitchFamily="34" charset="0"/>
                          <a:ea typeface="IBM Plex Sans" pitchFamily="34" charset="-122"/>
                          <a:cs typeface="IBM Plex Sans" pitchFamily="34" charset="-120"/>
                        </a:rPr>
                        <a:t>Normal</a:t>
                      </a:r>
                      <a:endParaRPr lang="en-US" sz="1200" dirty="0">
                        <a:latin typeface="IBM Plex Sans" charset="0"/>
                        <a:ea typeface="IBM Plex Sans" charset="0"/>
                        <a:cs typeface="IBM Plex Sans" charset="0"/>
                      </a:endParaRPr>
                    </a:p>
                  </a:txBody>
                  <a:tcPr marL="114300" marR="114300" marT="76200" marB="76200" anchor="ctr">
                    <a:lnL w="12700" cap="flat" cmpd="sng" algn="ctr">
                      <a:solidFill>
                        <a:srgbClr val="FBFAF6"/>
                      </a:solidFill>
                      <a:prstDash val="solid"/>
                      <a:round/>
                      <a:headEnd type="none" w="med" len="med"/>
                      <a:tailEnd type="none" w="med" len="med"/>
                    </a:lnL>
                    <a:lnR w="12700" cap="flat" cmpd="sng" algn="ctr">
                      <a:solidFill>
                        <a:srgbClr val="FBFAF6"/>
                      </a:solidFill>
                      <a:prstDash val="solid"/>
                      <a:round/>
                      <a:headEnd type="none" w="med" len="med"/>
                      <a:tailEnd type="none" w="med" len="med"/>
                    </a:lnR>
                    <a:lnT w="12700" cap="flat" cmpd="sng" algn="ctr">
                      <a:solidFill>
                        <a:srgbClr val="173B5C"/>
                      </a:solidFill>
                      <a:prstDash val="solid"/>
                      <a:round/>
                      <a:headEnd type="none" w="med" len="med"/>
                      <a:tailEnd type="none" w="med" len="med"/>
                    </a:lnT>
                    <a:lnB w="12700" cap="flat" cmpd="sng" algn="ctr">
                      <a:solidFill>
                        <a:srgbClr val="173B5C"/>
                      </a:solidFill>
                      <a:prstDash val="solid"/>
                      <a:round/>
                      <a:headEnd type="none" w="med" len="med"/>
                      <a:tailEnd type="none" w="med" len="med"/>
                    </a:lnB>
                  </a:tcPr>
                </a:tc>
                <a:tc>
                  <a:txBody>
                    <a:bodyPr/>
                    <a:lstStyle/>
                    <a:p>
                      <a:pPr marL="0" indent="0" algn="l">
                        <a:buNone/>
                      </a:pPr>
                      <a:r>
                        <a:rPr lang="en-US" sz="1200" dirty="0">
                          <a:solidFill>
                            <a:srgbClr val="2A2E31"/>
                          </a:solidFill>
                          <a:latin typeface="IBM Plex Sans" pitchFamily="34" charset="0"/>
                          <a:ea typeface="IBM Plex Sans" pitchFamily="34" charset="-122"/>
                          <a:cs typeface="IBM Plex Sans" pitchFamily="34" charset="-120"/>
                        </a:rPr>
                        <a:t>Passenger comfort</a:t>
                      </a:r>
                      <a:endParaRPr lang="en-US" sz="1200" dirty="0">
                        <a:latin typeface="IBM Plex Sans" charset="0"/>
                        <a:ea typeface="IBM Plex Sans" charset="0"/>
                        <a:cs typeface="IBM Plex Sans" charset="0"/>
                      </a:endParaRPr>
                    </a:p>
                  </a:txBody>
                  <a:tcPr marL="114300" marR="114300" marT="76200" marB="76200" anchor="ctr">
                    <a:lnL w="12700" cap="flat" cmpd="sng" algn="ctr">
                      <a:solidFill>
                        <a:srgbClr val="FBFAF6"/>
                      </a:solidFill>
                      <a:prstDash val="solid"/>
                      <a:round/>
                      <a:headEnd type="none" w="med" len="med"/>
                      <a:tailEnd type="none" w="med" len="med"/>
                    </a:lnL>
                    <a:lnR w="12700" cap="flat" cmpd="sng" algn="ctr">
                      <a:solidFill>
                        <a:srgbClr val="FBFAF6"/>
                      </a:solidFill>
                      <a:prstDash val="solid"/>
                      <a:round/>
                      <a:headEnd type="none" w="med" len="med"/>
                      <a:tailEnd type="none" w="med" len="med"/>
                    </a:lnR>
                    <a:lnT w="12700" cap="flat" cmpd="sng" algn="ctr">
                      <a:solidFill>
                        <a:srgbClr val="173B5C"/>
                      </a:solidFill>
                      <a:prstDash val="solid"/>
                      <a:round/>
                      <a:headEnd type="none" w="med" len="med"/>
                      <a:tailEnd type="none" w="med" len="med"/>
                    </a:lnT>
                    <a:lnB w="12700" cap="flat" cmpd="sng" algn="ctr">
                      <a:solidFill>
                        <a:srgbClr val="173B5C"/>
                      </a:solidFill>
                      <a:prstDash val="solid"/>
                      <a:round/>
                      <a:headEnd type="none" w="med" len="med"/>
                      <a:tailEnd type="none" w="med" len="med"/>
                    </a:lnB>
                  </a:tcPr>
                </a:tc>
                <a:extLst>
                  <a:ext uri="{0D108BD9-81ED-4DB2-BD59-A6C34878D82A}">
                    <a16:rowId xmlns:a16="http://schemas.microsoft.com/office/drawing/2014/main" val="10003"/>
                  </a:ext>
                </a:extLst>
              </a:tr>
              <a:tr h="388812">
                <a:tc>
                  <a:txBody>
                    <a:bodyPr/>
                    <a:lstStyle/>
                    <a:p>
                      <a:pPr marL="0" indent="0" algn="l">
                        <a:buNone/>
                      </a:pPr>
                      <a:r>
                        <a:rPr lang="en-US" sz="1200" dirty="0">
                          <a:solidFill>
                            <a:srgbClr val="2A2E31"/>
                          </a:solidFill>
                          <a:latin typeface="IBM Plex Sans" pitchFamily="34" charset="0"/>
                          <a:ea typeface="IBM Plex Sans" pitchFamily="34" charset="-122"/>
                          <a:cs typeface="IBM Plex Sans" pitchFamily="34" charset="-120"/>
                        </a:rPr>
                        <a:t>Route</a:t>
                      </a:r>
                      <a:endParaRPr lang="en-US" sz="1200" dirty="0">
                        <a:latin typeface="IBM Plex Sans" charset="0"/>
                        <a:ea typeface="IBM Plex Sans" charset="0"/>
                        <a:cs typeface="IBM Plex Sans" charset="0"/>
                      </a:endParaRPr>
                    </a:p>
                  </a:txBody>
                  <a:tcPr marL="114300" marR="114300" marT="76200" marB="76200" anchor="ctr">
                    <a:lnL w="12700" cap="flat" cmpd="sng" algn="ctr">
                      <a:solidFill>
                        <a:srgbClr val="FBFAF6"/>
                      </a:solidFill>
                      <a:prstDash val="solid"/>
                      <a:round/>
                      <a:headEnd type="none" w="med" len="med"/>
                      <a:tailEnd type="none" w="med" len="med"/>
                    </a:lnL>
                    <a:lnR w="12700" cap="flat" cmpd="sng" algn="ctr">
                      <a:solidFill>
                        <a:srgbClr val="FBFAF6"/>
                      </a:solidFill>
                      <a:prstDash val="solid"/>
                      <a:round/>
                      <a:headEnd type="none" w="med" len="med"/>
                      <a:tailEnd type="none" w="med" len="med"/>
                    </a:lnR>
                    <a:lnT w="12700" cap="flat" cmpd="sng" algn="ctr">
                      <a:solidFill>
                        <a:srgbClr val="173B5C"/>
                      </a:solidFill>
                      <a:prstDash val="solid"/>
                      <a:round/>
                      <a:headEnd type="none" w="med" len="med"/>
                      <a:tailEnd type="none" w="med" len="med"/>
                    </a:lnT>
                    <a:lnB w="12700" cap="flat" cmpd="sng" algn="ctr">
                      <a:solidFill>
                        <a:srgbClr val="173B5C"/>
                      </a:solidFill>
                      <a:prstDash val="solid"/>
                      <a:round/>
                      <a:headEnd type="none" w="med" len="med"/>
                      <a:tailEnd type="none" w="med" len="med"/>
                    </a:lnB>
                  </a:tcPr>
                </a:tc>
                <a:tc>
                  <a:txBody>
                    <a:bodyPr/>
                    <a:lstStyle/>
                    <a:p>
                      <a:pPr marL="0" indent="0" algn="l">
                        <a:buNone/>
                      </a:pPr>
                      <a:r>
                        <a:rPr lang="en-US" sz="1200" dirty="0">
                          <a:solidFill>
                            <a:srgbClr val="2A2E31"/>
                          </a:solidFill>
                          <a:latin typeface="IBM Plex Sans" pitchFamily="34" charset="0"/>
                          <a:ea typeface="IBM Plex Sans" pitchFamily="34" charset="-122"/>
                          <a:cs typeface="IBM Plex Sans" pitchFamily="34" charset="-120"/>
                        </a:rPr>
                        <a:t>Normal</a:t>
                      </a:r>
                      <a:endParaRPr lang="en-US" sz="1200" dirty="0">
                        <a:latin typeface="IBM Plex Sans" charset="0"/>
                        <a:ea typeface="IBM Plex Sans" charset="0"/>
                        <a:cs typeface="IBM Plex Sans" charset="0"/>
                      </a:endParaRPr>
                    </a:p>
                  </a:txBody>
                  <a:tcPr marL="114300" marR="114300" marT="76200" marB="76200" anchor="ctr">
                    <a:lnL w="12700" cap="flat" cmpd="sng" algn="ctr">
                      <a:solidFill>
                        <a:srgbClr val="FBFAF6"/>
                      </a:solidFill>
                      <a:prstDash val="solid"/>
                      <a:round/>
                      <a:headEnd type="none" w="med" len="med"/>
                      <a:tailEnd type="none" w="med" len="med"/>
                    </a:lnL>
                    <a:lnR w="12700" cap="flat" cmpd="sng" algn="ctr">
                      <a:solidFill>
                        <a:srgbClr val="FBFAF6"/>
                      </a:solidFill>
                      <a:prstDash val="solid"/>
                      <a:round/>
                      <a:headEnd type="none" w="med" len="med"/>
                      <a:tailEnd type="none" w="med" len="med"/>
                    </a:lnR>
                    <a:lnT w="12700" cap="flat" cmpd="sng" algn="ctr">
                      <a:solidFill>
                        <a:srgbClr val="173B5C"/>
                      </a:solidFill>
                      <a:prstDash val="solid"/>
                      <a:round/>
                      <a:headEnd type="none" w="med" len="med"/>
                      <a:tailEnd type="none" w="med" len="med"/>
                    </a:lnT>
                    <a:lnB w="12700" cap="flat" cmpd="sng" algn="ctr">
                      <a:solidFill>
                        <a:srgbClr val="173B5C"/>
                      </a:solidFill>
                      <a:prstDash val="solid"/>
                      <a:round/>
                      <a:headEnd type="none" w="med" len="med"/>
                      <a:tailEnd type="none" w="med" len="med"/>
                    </a:lnB>
                  </a:tcPr>
                </a:tc>
                <a:tc>
                  <a:txBody>
                    <a:bodyPr/>
                    <a:lstStyle/>
                    <a:p>
                      <a:pPr marL="0" indent="0" algn="l">
                        <a:buNone/>
                      </a:pPr>
                      <a:r>
                        <a:rPr lang="en-US" sz="1200" dirty="0">
                          <a:solidFill>
                            <a:srgbClr val="2A2E31"/>
                          </a:solidFill>
                          <a:latin typeface="IBM Plex Sans" pitchFamily="34" charset="0"/>
                          <a:ea typeface="IBM Plex Sans" pitchFamily="34" charset="-122"/>
                          <a:cs typeface="IBM Plex Sans" pitchFamily="34" charset="-120"/>
                        </a:rPr>
                        <a:t>Normal</a:t>
                      </a:r>
                      <a:endParaRPr lang="en-US" sz="1200" dirty="0">
                        <a:latin typeface="IBM Plex Sans" charset="0"/>
                        <a:ea typeface="IBM Plex Sans" charset="0"/>
                        <a:cs typeface="IBM Plex Sans" charset="0"/>
                      </a:endParaRPr>
                    </a:p>
                  </a:txBody>
                  <a:tcPr marL="114300" marR="114300" marT="76200" marB="76200" anchor="ctr">
                    <a:lnL w="12700" cap="flat" cmpd="sng" algn="ctr">
                      <a:solidFill>
                        <a:srgbClr val="FBFAF6"/>
                      </a:solidFill>
                      <a:prstDash val="solid"/>
                      <a:round/>
                      <a:headEnd type="none" w="med" len="med"/>
                      <a:tailEnd type="none" w="med" len="med"/>
                    </a:lnL>
                    <a:lnR w="12700" cap="flat" cmpd="sng" algn="ctr">
                      <a:solidFill>
                        <a:srgbClr val="FBFAF6"/>
                      </a:solidFill>
                      <a:prstDash val="solid"/>
                      <a:round/>
                      <a:headEnd type="none" w="med" len="med"/>
                      <a:tailEnd type="none" w="med" len="med"/>
                    </a:lnR>
                    <a:lnT w="12700" cap="flat" cmpd="sng" algn="ctr">
                      <a:solidFill>
                        <a:srgbClr val="173B5C"/>
                      </a:solidFill>
                      <a:prstDash val="solid"/>
                      <a:round/>
                      <a:headEnd type="none" w="med" len="med"/>
                      <a:tailEnd type="none" w="med" len="med"/>
                    </a:lnT>
                    <a:lnB w="12700" cap="flat" cmpd="sng" algn="ctr">
                      <a:solidFill>
                        <a:srgbClr val="173B5C"/>
                      </a:solidFill>
                      <a:prstDash val="solid"/>
                      <a:round/>
                      <a:headEnd type="none" w="med" len="med"/>
                      <a:tailEnd type="none" w="med" len="med"/>
                    </a:lnB>
                  </a:tcPr>
                </a:tc>
                <a:tc>
                  <a:txBody>
                    <a:bodyPr/>
                    <a:lstStyle/>
                    <a:p>
                      <a:pPr marL="0" indent="0" algn="l">
                        <a:buNone/>
                      </a:pPr>
                      <a:r>
                        <a:rPr lang="en-US" sz="1200" dirty="0">
                          <a:solidFill>
                            <a:srgbClr val="2A2E31"/>
                          </a:solidFill>
                          <a:latin typeface="IBM Plex Sans" pitchFamily="34" charset="0"/>
                          <a:ea typeface="IBM Plex Sans" pitchFamily="34" charset="-122"/>
                          <a:cs typeface="IBM Plex Sans" pitchFamily="34" charset="-120"/>
                        </a:rPr>
                        <a:t>No major issue</a:t>
                      </a:r>
                      <a:endParaRPr lang="en-US" sz="1200" dirty="0">
                        <a:latin typeface="IBM Plex Sans" charset="0"/>
                        <a:ea typeface="IBM Plex Sans" charset="0"/>
                        <a:cs typeface="IBM Plex Sans" charset="0"/>
                      </a:endParaRPr>
                    </a:p>
                  </a:txBody>
                  <a:tcPr marL="114300" marR="114300" marT="76200" marB="76200" anchor="ctr">
                    <a:lnL w="12700" cap="flat" cmpd="sng" algn="ctr">
                      <a:solidFill>
                        <a:srgbClr val="FBFAF6"/>
                      </a:solidFill>
                      <a:prstDash val="solid"/>
                      <a:round/>
                      <a:headEnd type="none" w="med" len="med"/>
                      <a:tailEnd type="none" w="med" len="med"/>
                    </a:lnL>
                    <a:lnR w="12700" cap="flat" cmpd="sng" algn="ctr">
                      <a:solidFill>
                        <a:srgbClr val="FBFAF6"/>
                      </a:solidFill>
                      <a:prstDash val="solid"/>
                      <a:round/>
                      <a:headEnd type="none" w="med" len="med"/>
                      <a:tailEnd type="none" w="med" len="med"/>
                    </a:lnR>
                    <a:lnT w="12700" cap="flat" cmpd="sng" algn="ctr">
                      <a:solidFill>
                        <a:srgbClr val="173B5C"/>
                      </a:solidFill>
                      <a:prstDash val="solid"/>
                      <a:round/>
                      <a:headEnd type="none" w="med" len="med"/>
                      <a:tailEnd type="none" w="med" len="med"/>
                    </a:lnT>
                    <a:lnB w="12700" cap="flat" cmpd="sng" algn="ctr">
                      <a:solidFill>
                        <a:srgbClr val="173B5C"/>
                      </a:solidFill>
                      <a:prstDash val="solid"/>
                      <a:round/>
                      <a:headEnd type="none" w="med" len="med"/>
                      <a:tailEnd type="none" w="med" len="med"/>
                    </a:lnB>
                  </a:tcPr>
                </a:tc>
                <a:extLst>
                  <a:ext uri="{0D108BD9-81ED-4DB2-BD59-A6C34878D82A}">
                    <a16:rowId xmlns:a16="http://schemas.microsoft.com/office/drawing/2014/main" val="10004"/>
                  </a:ext>
                </a:extLst>
              </a:tr>
              <a:tr h="396690">
                <a:tc>
                  <a:txBody>
                    <a:bodyPr/>
                    <a:lstStyle/>
                    <a:p>
                      <a:pPr marL="0" indent="0" algn="l">
                        <a:buNone/>
                      </a:pPr>
                      <a:r>
                        <a:rPr lang="en-US" sz="1200" dirty="0">
                          <a:solidFill>
                            <a:srgbClr val="2A2E31"/>
                          </a:solidFill>
                          <a:latin typeface="IBM Plex Sans" pitchFamily="34" charset="0"/>
                          <a:ea typeface="IBM Plex Sans" pitchFamily="34" charset="-122"/>
                          <a:cs typeface="IBM Plex Sans" pitchFamily="34" charset="-120"/>
                        </a:rPr>
                        <a:t>Recommendation</a:t>
                      </a:r>
                      <a:endParaRPr lang="en-US" sz="1200" dirty="0">
                        <a:latin typeface="IBM Plex Sans" charset="0"/>
                        <a:ea typeface="IBM Plex Sans" charset="0"/>
                        <a:cs typeface="IBM Plex Sans" charset="0"/>
                      </a:endParaRPr>
                    </a:p>
                  </a:txBody>
                  <a:tcPr marL="114300" marR="114300" marT="76200" marB="76200" anchor="ctr">
                    <a:lnL w="12700" cap="flat" cmpd="sng" algn="ctr">
                      <a:solidFill>
                        <a:srgbClr val="FBFAF6"/>
                      </a:solidFill>
                      <a:prstDash val="solid"/>
                      <a:round/>
                      <a:headEnd type="none" w="med" len="med"/>
                      <a:tailEnd type="none" w="med" len="med"/>
                    </a:lnL>
                    <a:lnR w="12700" cap="flat" cmpd="sng" algn="ctr">
                      <a:solidFill>
                        <a:srgbClr val="FBFAF6"/>
                      </a:solidFill>
                      <a:prstDash val="solid"/>
                      <a:round/>
                      <a:headEnd type="none" w="med" len="med"/>
                      <a:tailEnd type="none" w="med" len="med"/>
                    </a:lnR>
                    <a:lnT w="12700" cap="flat" cmpd="sng" algn="ctr">
                      <a:solidFill>
                        <a:srgbClr val="173B5C"/>
                      </a:solidFill>
                      <a:prstDash val="solid"/>
                      <a:round/>
                      <a:headEnd type="none" w="med" len="med"/>
                      <a:tailEnd type="none" w="med" len="med"/>
                    </a:lnT>
                    <a:lnB w="12700" cap="flat" cmpd="sng" algn="ctr">
                      <a:solidFill>
                        <a:srgbClr val="FBFAF6"/>
                      </a:solidFill>
                      <a:prstDash val="solid"/>
                      <a:round/>
                      <a:headEnd type="none" w="med" len="med"/>
                      <a:tailEnd type="none" w="med" len="med"/>
                    </a:lnB>
                  </a:tcPr>
                </a:tc>
                <a:tc>
                  <a:txBody>
                    <a:bodyPr/>
                    <a:lstStyle/>
                    <a:p>
                      <a:pPr marL="0" indent="0" algn="l">
                        <a:buNone/>
                      </a:pPr>
                      <a:r>
                        <a:rPr lang="en-US" sz="1200" dirty="0">
                          <a:solidFill>
                            <a:srgbClr val="2A2E31"/>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114300" marR="114300" marT="76200" marB="76200" anchor="ctr">
                    <a:lnL w="12700" cap="flat" cmpd="sng" algn="ctr">
                      <a:solidFill>
                        <a:srgbClr val="FBFAF6"/>
                      </a:solidFill>
                      <a:prstDash val="solid"/>
                      <a:round/>
                      <a:headEnd type="none" w="med" len="med"/>
                      <a:tailEnd type="none" w="med" len="med"/>
                    </a:lnL>
                    <a:lnR w="12700" cap="flat" cmpd="sng" algn="ctr">
                      <a:solidFill>
                        <a:srgbClr val="FBFAF6"/>
                      </a:solidFill>
                      <a:prstDash val="solid"/>
                      <a:round/>
                      <a:headEnd type="none" w="med" len="med"/>
                      <a:tailEnd type="none" w="med" len="med"/>
                    </a:lnR>
                    <a:lnT w="12700" cap="flat" cmpd="sng" algn="ctr">
                      <a:solidFill>
                        <a:srgbClr val="173B5C"/>
                      </a:solidFill>
                      <a:prstDash val="solid"/>
                      <a:round/>
                      <a:headEnd type="none" w="med" len="med"/>
                      <a:tailEnd type="none" w="med" len="med"/>
                    </a:lnT>
                    <a:lnB w="12700" cap="flat" cmpd="sng" algn="ctr">
                      <a:solidFill>
                        <a:srgbClr val="FBFAF6"/>
                      </a:solidFill>
                      <a:prstDash val="solid"/>
                      <a:round/>
                      <a:headEnd type="none" w="med" len="med"/>
                      <a:tailEnd type="none" w="med" len="med"/>
                    </a:lnB>
                  </a:tcPr>
                </a:tc>
                <a:tc>
                  <a:txBody>
                    <a:bodyPr/>
                    <a:lstStyle/>
                    <a:p>
                      <a:pPr marL="0" indent="0" algn="l">
                        <a:buNone/>
                      </a:pPr>
                      <a:r>
                        <a:rPr lang="en-US" sz="1200" b="1" dirty="0">
                          <a:solidFill>
                            <a:srgbClr val="2A2E31"/>
                          </a:solidFill>
                          <a:latin typeface="IBM Plex Sans" pitchFamily="34" charset="0"/>
                          <a:ea typeface="IBM Plex Sans" pitchFamily="34" charset="-122"/>
                          <a:cs typeface="IBM Plex Sans" pitchFamily="34" charset="-120"/>
                        </a:rPr>
                        <a:t>Suitable</a:t>
                      </a:r>
                      <a:endParaRPr lang="en-US" sz="1200" dirty="0">
                        <a:latin typeface="IBM Plex Sans" charset="0"/>
                        <a:ea typeface="IBM Plex Sans" charset="0"/>
                        <a:cs typeface="IBM Plex Sans" charset="0"/>
                      </a:endParaRPr>
                    </a:p>
                  </a:txBody>
                  <a:tcPr marL="114300" marR="114300" marT="76200" marB="76200" anchor="ctr">
                    <a:lnL w="12700" cap="flat" cmpd="sng" algn="ctr">
                      <a:solidFill>
                        <a:srgbClr val="FBFAF6"/>
                      </a:solidFill>
                      <a:prstDash val="solid"/>
                      <a:round/>
                      <a:headEnd type="none" w="med" len="med"/>
                      <a:tailEnd type="none" w="med" len="med"/>
                    </a:lnL>
                    <a:lnR w="12700" cap="flat" cmpd="sng" algn="ctr">
                      <a:solidFill>
                        <a:srgbClr val="FBFAF6"/>
                      </a:solidFill>
                      <a:prstDash val="solid"/>
                      <a:round/>
                      <a:headEnd type="none" w="med" len="med"/>
                      <a:tailEnd type="none" w="med" len="med"/>
                    </a:lnR>
                    <a:lnT w="12700" cap="flat" cmpd="sng" algn="ctr">
                      <a:solidFill>
                        <a:srgbClr val="173B5C"/>
                      </a:solidFill>
                      <a:prstDash val="solid"/>
                      <a:round/>
                      <a:headEnd type="none" w="med" len="med"/>
                      <a:tailEnd type="none" w="med" len="med"/>
                    </a:lnT>
                    <a:lnB w="12700" cap="flat" cmpd="sng" algn="ctr">
                      <a:solidFill>
                        <a:srgbClr val="FBFAF6"/>
                      </a:solidFill>
                      <a:prstDash val="solid"/>
                      <a:round/>
                      <a:headEnd type="none" w="med" len="med"/>
                      <a:tailEnd type="none" w="med" len="med"/>
                    </a:lnB>
                  </a:tcPr>
                </a:tc>
                <a:tc>
                  <a:txBody>
                    <a:bodyPr/>
                    <a:lstStyle/>
                    <a:p>
                      <a:pPr marL="0" indent="0" algn="l">
                        <a:buNone/>
                      </a:pPr>
                      <a:r>
                        <a:rPr lang="en-US" sz="1200" dirty="0">
                          <a:solidFill>
                            <a:srgbClr val="2A2E31"/>
                          </a:solidFill>
                          <a:latin typeface="IBM Plex Sans" pitchFamily="34" charset="0"/>
                          <a:ea typeface="IBM Plex Sans" pitchFamily="34" charset="-122"/>
                          <a:cs typeface="IBM Plex Sans" pitchFamily="34" charset="-120"/>
                        </a:rPr>
                        <a:t>Overall decision</a:t>
                      </a:r>
                      <a:endParaRPr lang="en-US" sz="1200" dirty="0">
                        <a:latin typeface="IBM Plex Sans" charset="0"/>
                        <a:ea typeface="IBM Plex Sans" charset="0"/>
                        <a:cs typeface="IBM Plex Sans" charset="0"/>
                      </a:endParaRPr>
                    </a:p>
                  </a:txBody>
                  <a:tcPr marL="114300" marR="114300" marT="76200" marB="76200" anchor="ctr">
                    <a:lnL w="12700" cap="flat" cmpd="sng" algn="ctr">
                      <a:solidFill>
                        <a:srgbClr val="FBFAF6"/>
                      </a:solidFill>
                      <a:prstDash val="solid"/>
                      <a:round/>
                      <a:headEnd type="none" w="med" len="med"/>
                      <a:tailEnd type="none" w="med" len="med"/>
                    </a:lnL>
                    <a:lnR w="12700" cap="flat" cmpd="sng" algn="ctr">
                      <a:solidFill>
                        <a:srgbClr val="FBFAF6"/>
                      </a:solidFill>
                      <a:prstDash val="solid"/>
                      <a:round/>
                      <a:headEnd type="none" w="med" len="med"/>
                      <a:tailEnd type="none" w="med" len="med"/>
                    </a:lnR>
                    <a:lnT w="12700" cap="flat" cmpd="sng" algn="ctr">
                      <a:solidFill>
                        <a:srgbClr val="173B5C"/>
                      </a:solidFill>
                      <a:prstDash val="solid"/>
                      <a:round/>
                      <a:headEnd type="none" w="med" len="med"/>
                      <a:tailEnd type="none" w="med" len="med"/>
                    </a:lnT>
                    <a:lnB w="12700" cap="flat" cmpd="sng" algn="ctr">
                      <a:solidFill>
                        <a:srgbClr val="FBFAF6"/>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5" name="Text 12"/>
          <p:cNvSpPr/>
          <p:nvPr/>
        </p:nvSpPr>
        <p:spPr>
          <a:xfrm>
            <a:off x="660390" y="9091723"/>
            <a:ext cx="6241307" cy="378720"/>
          </a:xfrm>
          <a:prstGeom prst="rect">
            <a:avLst/>
          </a:prstGeom>
          <a:noFill/>
          <a:ln/>
        </p:spPr>
        <p:txBody>
          <a:bodyPr wrap="square" lIns="0" tIns="0" rIns="0" bIns="0" rtlCol="0" anchor="t">
            <a:normAutofit/>
          </a:bodyPr>
          <a:lstStyle/>
          <a:p>
            <a:pPr marL="0" indent="0" algn="l">
              <a:lnSpc>
                <a:spcPct val="118000"/>
              </a:lnSpc>
              <a:buNone/>
            </a:pPr>
            <a:r>
              <a:rPr lang="en-US" sz="1050" b="1" dirty="0">
                <a:solidFill>
                  <a:srgbClr val="173B5C"/>
                </a:solidFill>
                <a:latin typeface="IBM Plex Sans Bold" pitchFamily="34" charset="0"/>
                <a:ea typeface="IBM Plex Sans Bold" pitchFamily="34" charset="-122"/>
                <a:cs typeface="IBM Plex Sans Bold" pitchFamily="34" charset="-120"/>
              </a:rPr>
              <a:t>Decision principle.</a:t>
            </a:r>
            <a:r>
              <a:rPr lang="en-US" sz="1050" dirty="0">
                <a:solidFill>
                  <a:srgbClr val="5F6361"/>
                </a:solidFill>
                <a:latin typeface="IBM Plex Sans" pitchFamily="34" charset="0"/>
                <a:ea typeface="IBM Plex Sans" pitchFamily="34" charset="-122"/>
                <a:cs typeface="IBM Plex Sans" pitchFamily="34" charset="-120"/>
              </a:rPr>
              <a:t> Compare alternatives before boarding when a short wait may improve reliability or comfort.</a:t>
            </a:r>
            <a:endParaRPr lang="en-US" sz="1050" dirty="0"/>
          </a:p>
        </p:txBody>
      </p:sp>
      <p:sp>
        <p:nvSpPr>
          <p:cNvPr id="16" name="Shape 13"/>
          <p:cNvSpPr/>
          <p:nvPr/>
        </p:nvSpPr>
        <p:spPr>
          <a:xfrm>
            <a:off x="0" y="10130548"/>
            <a:ext cx="7562088" cy="9477"/>
          </a:xfrm>
          <a:prstGeom prst="rect">
            <a:avLst/>
          </a:prstGeom>
          <a:solidFill>
            <a:srgbClr val="2A2E31">
              <a:alpha val="20000"/>
            </a:srgbClr>
          </a:solidFill>
          <a:ln/>
        </p:spPr>
      </p:sp>
      <p:sp>
        <p:nvSpPr>
          <p:cNvPr id="17" name="Text 14"/>
          <p:cNvSpPr/>
          <p:nvPr/>
        </p:nvSpPr>
        <p:spPr>
          <a:xfrm>
            <a:off x="660390" y="10324216"/>
            <a:ext cx="773194" cy="171390"/>
          </a:xfrm>
          <a:prstGeom prst="rect">
            <a:avLst/>
          </a:prstGeom>
          <a:noFill/>
          <a:ln/>
        </p:spPr>
        <p:txBody>
          <a:bodyPr wrap="none" lIns="0" tIns="0" rIns="0" bIns="0" rtlCol="0" anchor="ctr"/>
          <a:lstStyle/>
          <a:p>
            <a:pPr marL="0" indent="0" algn="l">
              <a:lnSpc>
                <a:spcPct val="125000"/>
              </a:lnSpc>
              <a:buNone/>
            </a:pPr>
            <a:r>
              <a:rPr lang="en-US" sz="900" kern="100" spc="68" dirty="0">
                <a:solidFill>
                  <a:srgbClr val="2A2E31"/>
                </a:solidFill>
                <a:latin typeface="IBM Plex Sans" pitchFamily="34" charset="0"/>
                <a:ea typeface="IBM Plex Sans" pitchFamily="34" charset="-122"/>
                <a:cs typeface="IBM Plex Sans" pitchFamily="34" charset="-120"/>
              </a:rPr>
              <a:t>MOVIT</a:t>
            </a:r>
            <a:endParaRPr lang="en-US" sz="900" dirty="0"/>
          </a:p>
        </p:txBody>
      </p:sp>
      <p:sp>
        <p:nvSpPr>
          <p:cNvPr id="18" name="Text 15"/>
          <p:cNvSpPr/>
          <p:nvPr/>
        </p:nvSpPr>
        <p:spPr>
          <a:xfrm>
            <a:off x="6747416" y="10324216"/>
            <a:ext cx="532386" cy="171390"/>
          </a:xfrm>
          <a:prstGeom prst="rect">
            <a:avLst/>
          </a:prstGeom>
          <a:noFill/>
          <a:ln/>
        </p:spPr>
        <p:txBody>
          <a:bodyPr wrap="none" lIns="0" tIns="0" rIns="0" bIns="0" rtlCol="0" anchor="ctr"/>
          <a:lstStyle/>
          <a:p>
            <a:pPr marL="0" indent="0" algn="l">
              <a:lnSpc>
                <a:spcPct val="125000"/>
              </a:lnSpc>
              <a:buNone/>
            </a:pPr>
            <a:r>
              <a:rPr lang="en-US" sz="900" kern="100" spc="68" dirty="0">
                <a:solidFill>
                  <a:srgbClr val="2A2E31"/>
                </a:solidFill>
                <a:latin typeface="IBM Plex Sans" pitchFamily="34" charset="0"/>
                <a:ea typeface="IBM Plex Sans" pitchFamily="34" charset="-122"/>
                <a:cs typeface="IBM Plex Sans"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0390" y="193668"/>
            <a:ext cx="773194" cy="171390"/>
          </a:xfrm>
          <a:prstGeom prst="rect">
            <a:avLst/>
          </a:prstGeom>
          <a:noFill/>
          <a:ln/>
        </p:spPr>
        <p:txBody>
          <a:bodyPr wrap="none" lIns="0" tIns="0" rIns="0" bIns="0" rtlCol="0" anchor="ctr"/>
          <a:lstStyle/>
          <a:p>
            <a:pPr marL="0" indent="0" algn="l">
              <a:lnSpc>
                <a:spcPct val="125000"/>
              </a:lnSpc>
              <a:buNone/>
            </a:pPr>
            <a:r>
              <a:rPr lang="en-US" sz="900" kern="100" spc="68" dirty="0">
                <a:solidFill>
                  <a:srgbClr val="2A2E31"/>
                </a:solidFill>
                <a:latin typeface="IBM Plex Sans" pitchFamily="34" charset="0"/>
                <a:ea typeface="IBM Plex Sans" pitchFamily="34" charset="-122"/>
                <a:cs typeface="IBM Plex Sans" pitchFamily="34" charset="-120"/>
              </a:rPr>
              <a:t>MOVIT</a:t>
            </a:r>
            <a:endParaRPr lang="en-US" sz="900" dirty="0"/>
          </a:p>
        </p:txBody>
      </p:sp>
      <p:sp>
        <p:nvSpPr>
          <p:cNvPr id="3" name="Text 1"/>
          <p:cNvSpPr/>
          <p:nvPr/>
        </p:nvSpPr>
        <p:spPr>
          <a:xfrm>
            <a:off x="6506608" y="193668"/>
            <a:ext cx="773194" cy="171390"/>
          </a:xfrm>
          <a:prstGeom prst="rect">
            <a:avLst/>
          </a:prstGeom>
          <a:noFill/>
          <a:ln/>
        </p:spPr>
        <p:txBody>
          <a:bodyPr wrap="none" lIns="0" tIns="0" rIns="0" bIns="0" rtlCol="0" anchor="ctr"/>
          <a:lstStyle/>
          <a:p>
            <a:pPr marL="0" indent="0" algn="l">
              <a:lnSpc>
                <a:spcPct val="125000"/>
              </a:lnSpc>
              <a:buNone/>
            </a:pPr>
            <a:r>
              <a:rPr lang="en-US" sz="900" kern="100" spc="68" dirty="0">
                <a:solidFill>
                  <a:srgbClr val="2A2E31"/>
                </a:solidFill>
                <a:latin typeface="IBM Plex Sans" pitchFamily="34" charset="0"/>
                <a:ea typeface="IBM Plex Sans" pitchFamily="34" charset="-122"/>
                <a:cs typeface="IBM Plex Sans" pitchFamily="34" charset="-120"/>
              </a:rPr>
              <a:t>MOVIT</a:t>
            </a:r>
            <a:endParaRPr lang="en-US" sz="900" dirty="0"/>
          </a:p>
        </p:txBody>
      </p:sp>
      <p:sp>
        <p:nvSpPr>
          <p:cNvPr id="4" name="Shape 2"/>
          <p:cNvSpPr/>
          <p:nvPr/>
        </p:nvSpPr>
        <p:spPr>
          <a:xfrm>
            <a:off x="0" y="549310"/>
            <a:ext cx="7562088" cy="9477"/>
          </a:xfrm>
          <a:prstGeom prst="rect">
            <a:avLst/>
          </a:prstGeom>
          <a:solidFill>
            <a:srgbClr val="2A2E31">
              <a:alpha val="20000"/>
            </a:srgbClr>
          </a:solidFill>
          <a:ln/>
        </p:spPr>
      </p:sp>
      <p:sp>
        <p:nvSpPr>
          <p:cNvPr id="5" name="Text 3"/>
          <p:cNvSpPr/>
          <p:nvPr/>
        </p:nvSpPr>
        <p:spPr>
          <a:xfrm>
            <a:off x="660390" y="1225132"/>
            <a:ext cx="6619412" cy="166652"/>
          </a:xfrm>
          <a:prstGeom prst="rect">
            <a:avLst/>
          </a:prstGeom>
          <a:noFill/>
          <a:ln/>
        </p:spPr>
        <p:txBody>
          <a:bodyPr wrap="none" lIns="0" tIns="0" rIns="0" bIns="0" rtlCol="0" anchor="t"/>
          <a:lstStyle/>
          <a:p>
            <a:pPr marL="0" indent="0" algn="l">
              <a:lnSpc>
                <a:spcPct val="104000"/>
              </a:lnSpc>
              <a:buNone/>
            </a:pPr>
            <a:r>
              <a:rPr lang="en-US" sz="1050" kern="100" spc="79" dirty="0">
                <a:solidFill>
                  <a:srgbClr val="2F7468"/>
                </a:solidFill>
                <a:latin typeface="IBM Plex Sans SemiBold" pitchFamily="34" charset="0"/>
                <a:ea typeface="IBM Plex Sans SemiBold" pitchFamily="34" charset="-122"/>
                <a:cs typeface="IBM Plex Sans SemiBold" pitchFamily="34" charset="-120"/>
              </a:rPr>
              <a:t>06 · SUPPORTING CAPABILITIES</a:t>
            </a:r>
            <a:endParaRPr lang="en-US" sz="1050" dirty="0"/>
          </a:p>
        </p:txBody>
      </p:sp>
      <p:sp>
        <p:nvSpPr>
          <p:cNvPr id="6" name="Text 4"/>
          <p:cNvSpPr/>
          <p:nvPr/>
        </p:nvSpPr>
        <p:spPr>
          <a:xfrm>
            <a:off x="660390" y="1462017"/>
            <a:ext cx="6241307" cy="350473"/>
          </a:xfrm>
          <a:prstGeom prst="rect">
            <a:avLst/>
          </a:prstGeom>
          <a:noFill/>
          <a:ln/>
        </p:spPr>
        <p:txBody>
          <a:bodyPr wrap="none" lIns="0" tIns="0" rIns="0" bIns="0" rtlCol="0" anchor="t"/>
          <a:lstStyle/>
          <a:p>
            <a:pPr marL="0" indent="0" algn="l">
              <a:lnSpc>
                <a:spcPct val="96000"/>
              </a:lnSpc>
              <a:buNone/>
            </a:pPr>
            <a:r>
              <a:rPr lang="en-US" sz="2400" kern="100" spc="-12" dirty="0">
                <a:solidFill>
                  <a:srgbClr val="173B5C"/>
                </a:solidFill>
                <a:latin typeface="Newsreader SemiBold" pitchFamily="34" charset="0"/>
                <a:ea typeface="Newsreader SemiBold" pitchFamily="34" charset="-122"/>
                <a:cs typeface="Newsreader SemiBold" pitchFamily="34" charset="-120"/>
              </a:rPr>
              <a:t>6. Supporting Features</a:t>
            </a:r>
            <a:endParaRPr lang="en-US" sz="2400" dirty="0"/>
          </a:p>
        </p:txBody>
      </p:sp>
      <p:sp>
        <p:nvSpPr>
          <p:cNvPr id="7" name="Shape 5"/>
          <p:cNvSpPr/>
          <p:nvPr/>
        </p:nvSpPr>
        <p:spPr>
          <a:xfrm>
            <a:off x="660390" y="2041052"/>
            <a:ext cx="1560296" cy="31509"/>
          </a:xfrm>
          <a:prstGeom prst="roundRect">
            <a:avLst>
              <a:gd name="adj" fmla="val 50000"/>
            </a:avLst>
          </a:prstGeom>
          <a:solidFill>
            <a:srgbClr val="B8581A"/>
          </a:solidFill>
          <a:ln/>
        </p:spPr>
      </p:sp>
      <p:pic>
        <p:nvPicPr>
          <p:cNvPr id="8" name="Image 0" descr="preencoded.png"/>
          <p:cNvPicPr>
            <a:picLocks noChangeAspect="1"/>
          </p:cNvPicPr>
          <p:nvPr/>
        </p:nvPicPr>
        <p:blipFill>
          <a:blip r:embed="rId3"/>
          <a:stretch>
            <a:fillRect/>
          </a:stretch>
        </p:blipFill>
        <p:spPr>
          <a:xfrm>
            <a:off x="698484" y="2472706"/>
            <a:ext cx="304748" cy="304748"/>
          </a:xfrm>
          <a:prstGeom prst="rect">
            <a:avLst/>
          </a:prstGeom>
        </p:spPr>
      </p:pic>
      <p:sp>
        <p:nvSpPr>
          <p:cNvPr id="9" name="Text 6"/>
          <p:cNvSpPr/>
          <p:nvPr/>
        </p:nvSpPr>
        <p:spPr>
          <a:xfrm>
            <a:off x="1193761" y="2479364"/>
            <a:ext cx="5707936" cy="240008"/>
          </a:xfrm>
          <a:prstGeom prst="rect">
            <a:avLst/>
          </a:prstGeom>
          <a:noFill/>
          <a:ln/>
        </p:spPr>
        <p:txBody>
          <a:bodyPr wrap="none" lIns="0" tIns="0" rIns="0" bIns="0" rtlCol="0" anchor="t"/>
          <a:lstStyle/>
          <a:p>
            <a:pPr marL="0" indent="0" algn="l">
              <a:lnSpc>
                <a:spcPct val="112000"/>
              </a:lnSpc>
              <a:buNone/>
            </a:pPr>
            <a:r>
              <a:rPr lang="en-US" sz="1400" dirty="0">
                <a:solidFill>
                  <a:srgbClr val="2F7468"/>
                </a:solidFill>
                <a:latin typeface="IBM Plex Sans" pitchFamily="34" charset="0"/>
                <a:ea typeface="IBM Plex Sans" pitchFamily="34" charset="-122"/>
                <a:cs typeface="IBM Plex Sans" pitchFamily="34" charset="-120"/>
              </a:rPr>
              <a:t>6.1 Transport status</a:t>
            </a:r>
            <a:endParaRPr lang="en-US" sz="1400" dirty="0"/>
          </a:p>
        </p:txBody>
      </p:sp>
      <p:sp>
        <p:nvSpPr>
          <p:cNvPr id="10" name="Text 7"/>
          <p:cNvSpPr/>
          <p:nvPr/>
        </p:nvSpPr>
        <p:spPr>
          <a:xfrm>
            <a:off x="1193761" y="2849201"/>
            <a:ext cx="5707936" cy="914245"/>
          </a:xfrm>
          <a:prstGeom prst="rect">
            <a:avLst/>
          </a:prstGeom>
          <a:noFill/>
          <a:ln/>
        </p:spPr>
        <p:txBody>
          <a:bodyPr wrap="square" lIns="0" tIns="0" rIns="0" bIns="0" rtlCol="0" anchor="t">
            <a:normAutofit/>
          </a:bodyPr>
          <a:lstStyle/>
          <a:p>
            <a:pPr marL="0" indent="0" algn="l">
              <a:lnSpc>
                <a:spcPct val="125000"/>
              </a:lnSpc>
              <a:buNone/>
            </a:pPr>
            <a:r>
              <a:rPr lang="en-US" sz="1200" dirty="0">
                <a:solidFill>
                  <a:srgbClr val="2A2E31"/>
                </a:solidFill>
                <a:latin typeface="IBM Plex Sans" pitchFamily="34" charset="0"/>
                <a:ea typeface="IBM Plex Sans" pitchFamily="34" charset="-122"/>
                <a:cs typeface="IBM Plex Sans" pitchFamily="34" charset="-120"/>
              </a:rPr>
              <a:t>The status view is intended to help users understand delays, crowding, route changes, transport-related alerts, and bus-specific conditions before they travel. The published prototype presents this as “Stay informed” and explicitly references delays, crowding, and route changes.</a:t>
            </a:r>
            <a:endParaRPr lang="en-US" sz="1200" dirty="0"/>
          </a:p>
        </p:txBody>
      </p:sp>
      <p:pic>
        <p:nvPicPr>
          <p:cNvPr id="11" name="Image 1" descr="preencoded.png"/>
          <p:cNvPicPr>
            <a:picLocks noChangeAspect="1"/>
          </p:cNvPicPr>
          <p:nvPr/>
        </p:nvPicPr>
        <p:blipFill>
          <a:blip r:embed="rId4"/>
          <a:stretch>
            <a:fillRect/>
          </a:stretch>
        </p:blipFill>
        <p:spPr>
          <a:xfrm>
            <a:off x="698484" y="4144392"/>
            <a:ext cx="304748" cy="304748"/>
          </a:xfrm>
          <a:prstGeom prst="rect">
            <a:avLst/>
          </a:prstGeom>
        </p:spPr>
      </p:pic>
      <p:sp>
        <p:nvSpPr>
          <p:cNvPr id="12" name="Text 8"/>
          <p:cNvSpPr/>
          <p:nvPr/>
        </p:nvSpPr>
        <p:spPr>
          <a:xfrm>
            <a:off x="1193761" y="4151050"/>
            <a:ext cx="5707936" cy="240008"/>
          </a:xfrm>
          <a:prstGeom prst="rect">
            <a:avLst/>
          </a:prstGeom>
          <a:noFill/>
          <a:ln/>
        </p:spPr>
        <p:txBody>
          <a:bodyPr wrap="none" lIns="0" tIns="0" rIns="0" bIns="0" rtlCol="0" anchor="t"/>
          <a:lstStyle/>
          <a:p>
            <a:pPr marL="0" indent="0" algn="l">
              <a:lnSpc>
                <a:spcPct val="112000"/>
              </a:lnSpc>
              <a:buNone/>
            </a:pPr>
            <a:r>
              <a:rPr lang="en-US" sz="1400" dirty="0">
                <a:solidFill>
                  <a:srgbClr val="2F7468"/>
                </a:solidFill>
                <a:latin typeface="IBM Plex Sans" pitchFamily="34" charset="0"/>
                <a:ea typeface="IBM Plex Sans" pitchFamily="34" charset="-122"/>
                <a:cs typeface="IBM Plex Sans" pitchFamily="34" charset="-120"/>
              </a:rPr>
              <a:t>6.2 Passenger report</a:t>
            </a:r>
            <a:endParaRPr lang="en-US" sz="1400" dirty="0"/>
          </a:p>
        </p:txBody>
      </p:sp>
      <p:sp>
        <p:nvSpPr>
          <p:cNvPr id="13" name="Text 9"/>
          <p:cNvSpPr/>
          <p:nvPr/>
        </p:nvSpPr>
        <p:spPr>
          <a:xfrm>
            <a:off x="1193761" y="4520887"/>
            <a:ext cx="5707936" cy="1142807"/>
          </a:xfrm>
          <a:prstGeom prst="rect">
            <a:avLst/>
          </a:prstGeom>
          <a:noFill/>
          <a:ln/>
        </p:spPr>
        <p:txBody>
          <a:bodyPr wrap="square" lIns="0" tIns="0" rIns="0" bIns="0" rtlCol="0" anchor="t">
            <a:normAutofit/>
          </a:bodyPr>
          <a:lstStyle/>
          <a:p>
            <a:pPr marL="0" indent="0" algn="l">
              <a:lnSpc>
                <a:spcPct val="125000"/>
              </a:lnSpc>
              <a:buNone/>
            </a:pPr>
            <a:r>
              <a:rPr lang="en-US" sz="1200" dirty="0">
                <a:solidFill>
                  <a:srgbClr val="2A2E31"/>
                </a:solidFill>
                <a:latin typeface="IBM Plex Sans" pitchFamily="34" charset="0"/>
                <a:ea typeface="IBM Plex Sans" pitchFamily="34" charset="-122"/>
                <a:cs typeface="IBM Plex Sans" pitchFamily="34" charset="-120"/>
              </a:rPr>
              <a:t>The passenger-reporting component allows users to contribute observations such as crowding, on-time or delayed status, breakdowns, normal or changed route conditions, and additional comments. These reports can complement system-generated information by adding situational awareness from people already travelling.</a:t>
            </a:r>
            <a:endParaRPr lang="en-US" sz="1200" dirty="0"/>
          </a:p>
        </p:txBody>
      </p:sp>
      <p:pic>
        <p:nvPicPr>
          <p:cNvPr id="14" name="Image 2" descr="preencoded.png"/>
          <p:cNvPicPr>
            <a:picLocks noChangeAspect="1"/>
          </p:cNvPicPr>
          <p:nvPr/>
        </p:nvPicPr>
        <p:blipFill>
          <a:blip r:embed="rId5"/>
          <a:stretch>
            <a:fillRect/>
          </a:stretch>
        </p:blipFill>
        <p:spPr>
          <a:xfrm>
            <a:off x="698484" y="6044639"/>
            <a:ext cx="304748" cy="304748"/>
          </a:xfrm>
          <a:prstGeom prst="rect">
            <a:avLst/>
          </a:prstGeom>
        </p:spPr>
      </p:pic>
      <p:sp>
        <p:nvSpPr>
          <p:cNvPr id="15" name="Text 10"/>
          <p:cNvSpPr/>
          <p:nvPr/>
        </p:nvSpPr>
        <p:spPr>
          <a:xfrm>
            <a:off x="1193761" y="6051297"/>
            <a:ext cx="5707936" cy="240008"/>
          </a:xfrm>
          <a:prstGeom prst="rect">
            <a:avLst/>
          </a:prstGeom>
          <a:noFill/>
          <a:ln/>
        </p:spPr>
        <p:txBody>
          <a:bodyPr wrap="none" lIns="0" tIns="0" rIns="0" bIns="0" rtlCol="0" anchor="t"/>
          <a:lstStyle/>
          <a:p>
            <a:pPr marL="0" indent="0" algn="l">
              <a:lnSpc>
                <a:spcPct val="112000"/>
              </a:lnSpc>
              <a:buNone/>
            </a:pPr>
            <a:r>
              <a:rPr lang="en-US" sz="1400" dirty="0">
                <a:solidFill>
                  <a:srgbClr val="2F7468"/>
                </a:solidFill>
                <a:latin typeface="IBM Plex Sans" pitchFamily="34" charset="0"/>
                <a:ea typeface="IBM Plex Sans" pitchFamily="34" charset="-122"/>
                <a:cs typeface="IBM Plex Sans" pitchFamily="34" charset="-120"/>
              </a:rPr>
              <a:t>6.3 Proposed / Future Enhancement</a:t>
            </a:r>
            <a:endParaRPr lang="en-US" sz="1400" dirty="0"/>
          </a:p>
        </p:txBody>
      </p:sp>
      <p:sp>
        <p:nvSpPr>
          <p:cNvPr id="16" name="Text 11"/>
          <p:cNvSpPr/>
          <p:nvPr/>
        </p:nvSpPr>
        <p:spPr>
          <a:xfrm>
            <a:off x="1193761" y="6421134"/>
            <a:ext cx="5707936" cy="914245"/>
          </a:xfrm>
          <a:prstGeom prst="rect">
            <a:avLst/>
          </a:prstGeom>
          <a:noFill/>
          <a:ln/>
        </p:spPr>
        <p:txBody>
          <a:bodyPr wrap="square" lIns="0" tIns="0" rIns="0" bIns="0" rtlCol="0" anchor="t">
            <a:normAutofit/>
          </a:bodyPr>
          <a:lstStyle/>
          <a:p>
            <a:pPr marL="0" indent="0" algn="l">
              <a:lnSpc>
                <a:spcPct val="125000"/>
              </a:lnSpc>
              <a:buNone/>
            </a:pPr>
            <a:r>
              <a:rPr lang="en-US" sz="1200" dirty="0">
                <a:solidFill>
                  <a:srgbClr val="2A2E31"/>
                </a:solidFill>
                <a:latin typeface="IBM Plex Sans" pitchFamily="34" charset="0"/>
                <a:ea typeface="IBM Plex Sans" pitchFamily="34" charset="-122"/>
                <a:cs typeface="IBM Plex Sans" pitchFamily="34" charset="-120"/>
              </a:rPr>
              <a:t>A possible notification capability would alert a passenger when a selected bus is approximately 10 minutes away, helping them prepare to leave or reach the stop. This is a proposed enhancement and should not be presented as a currently implemented feature without further verification.</a:t>
            </a:r>
            <a:endParaRPr lang="en-US" sz="1200" dirty="0"/>
          </a:p>
        </p:txBody>
      </p:sp>
      <p:sp>
        <p:nvSpPr>
          <p:cNvPr id="17" name="Shape 12"/>
          <p:cNvSpPr/>
          <p:nvPr/>
        </p:nvSpPr>
        <p:spPr>
          <a:xfrm>
            <a:off x="660390" y="7821057"/>
            <a:ext cx="2968280" cy="1649100"/>
          </a:xfrm>
          <a:prstGeom prst="rect">
            <a:avLst/>
          </a:prstGeom>
          <a:solidFill>
            <a:srgbClr val="EAF1ED"/>
          </a:solidFill>
          <a:ln/>
        </p:spPr>
      </p:sp>
      <p:sp>
        <p:nvSpPr>
          <p:cNvPr id="18" name="Text 13"/>
          <p:cNvSpPr/>
          <p:nvPr/>
        </p:nvSpPr>
        <p:spPr>
          <a:xfrm>
            <a:off x="914368" y="8055572"/>
            <a:ext cx="2714302" cy="166652"/>
          </a:xfrm>
          <a:prstGeom prst="rect">
            <a:avLst/>
          </a:prstGeom>
          <a:noFill/>
          <a:ln/>
        </p:spPr>
        <p:txBody>
          <a:bodyPr wrap="none" lIns="0" tIns="0" rIns="0" bIns="0" rtlCol="0" anchor="t"/>
          <a:lstStyle/>
          <a:p>
            <a:pPr marL="0" indent="0" algn="l">
              <a:lnSpc>
                <a:spcPct val="104000"/>
              </a:lnSpc>
              <a:buNone/>
            </a:pPr>
            <a:r>
              <a:rPr lang="en-US" sz="1050" kern="100" spc="79" dirty="0">
                <a:solidFill>
                  <a:srgbClr val="000000"/>
                </a:solidFill>
                <a:latin typeface="IBM Plex Sans SemiBold" pitchFamily="34" charset="0"/>
                <a:ea typeface="IBM Plex Sans SemiBold" pitchFamily="34" charset="-122"/>
                <a:cs typeface="IBM Plex Sans SemiBold" pitchFamily="34" charset="-120"/>
              </a:rPr>
              <a:t>CURRENT PROTOTYPE</a:t>
            </a:r>
            <a:endParaRPr lang="en-US" sz="1050" dirty="0"/>
          </a:p>
        </p:txBody>
      </p:sp>
      <p:sp>
        <p:nvSpPr>
          <p:cNvPr id="19" name="Text 14"/>
          <p:cNvSpPr/>
          <p:nvPr/>
        </p:nvSpPr>
        <p:spPr>
          <a:xfrm>
            <a:off x="914368" y="8327351"/>
            <a:ext cx="2460325" cy="914245"/>
          </a:xfrm>
          <a:prstGeom prst="rect">
            <a:avLst/>
          </a:prstGeom>
          <a:noFill/>
          <a:ln/>
        </p:spPr>
        <p:txBody>
          <a:bodyPr wrap="square" lIns="0" tIns="0" rIns="0" bIns="0" rtlCol="0" anchor="t">
            <a:normAutofit/>
          </a:bodyPr>
          <a:lstStyle/>
          <a:p>
            <a:pPr marL="0" indent="0" algn="l">
              <a:lnSpc>
                <a:spcPct val="125000"/>
              </a:lnSpc>
              <a:buNone/>
            </a:pPr>
            <a:r>
              <a:rPr lang="en-US" sz="1200" dirty="0">
                <a:solidFill>
                  <a:srgbClr val="000000"/>
                </a:solidFill>
                <a:latin typeface="IBM Plex Sans" pitchFamily="34" charset="0"/>
                <a:ea typeface="IBM Plex Sans" pitchFamily="34" charset="-122"/>
                <a:cs typeface="IBM Plex Sans" pitchFamily="34" charset="-120"/>
              </a:rPr>
              <a:t>Transport status, bus conditions, passenger reporting and decision support are presented as connected user-facing components.</a:t>
            </a:r>
            <a:endParaRPr lang="en-US" sz="1200" dirty="0"/>
          </a:p>
        </p:txBody>
      </p:sp>
      <p:sp>
        <p:nvSpPr>
          <p:cNvPr id="20" name="Text 15"/>
          <p:cNvSpPr/>
          <p:nvPr/>
        </p:nvSpPr>
        <p:spPr>
          <a:xfrm>
            <a:off x="3933418" y="8055572"/>
            <a:ext cx="2968280" cy="166652"/>
          </a:xfrm>
          <a:prstGeom prst="rect">
            <a:avLst/>
          </a:prstGeom>
          <a:noFill/>
          <a:ln/>
        </p:spPr>
        <p:txBody>
          <a:bodyPr wrap="none" lIns="0" tIns="0" rIns="0" bIns="0" rtlCol="0" anchor="t"/>
          <a:lstStyle/>
          <a:p>
            <a:pPr marL="0" indent="0" algn="l">
              <a:lnSpc>
                <a:spcPct val="104000"/>
              </a:lnSpc>
              <a:buNone/>
            </a:pPr>
            <a:r>
              <a:rPr lang="en-US" sz="1050" kern="100" spc="79" dirty="0">
                <a:solidFill>
                  <a:srgbClr val="2F7468"/>
                </a:solidFill>
                <a:latin typeface="IBM Plex Sans SemiBold" pitchFamily="34" charset="0"/>
                <a:ea typeface="IBM Plex Sans SemiBold" pitchFamily="34" charset="-122"/>
                <a:cs typeface="IBM Plex Sans SemiBold" pitchFamily="34" charset="-120"/>
              </a:rPr>
              <a:t>FUTURE BOUNDARY</a:t>
            </a:r>
            <a:endParaRPr lang="en-US" sz="1050" dirty="0"/>
          </a:p>
        </p:txBody>
      </p:sp>
      <p:sp>
        <p:nvSpPr>
          <p:cNvPr id="21" name="Text 16"/>
          <p:cNvSpPr/>
          <p:nvPr/>
        </p:nvSpPr>
        <p:spPr>
          <a:xfrm>
            <a:off x="3933418" y="8327351"/>
            <a:ext cx="2968280" cy="914245"/>
          </a:xfrm>
          <a:prstGeom prst="rect">
            <a:avLst/>
          </a:prstGeom>
          <a:noFill/>
          <a:ln/>
        </p:spPr>
        <p:txBody>
          <a:bodyPr wrap="square" lIns="0" tIns="0" rIns="0" bIns="0" rtlCol="0" anchor="t">
            <a:normAutofit/>
          </a:bodyPr>
          <a:lstStyle/>
          <a:p>
            <a:pPr marL="0" indent="0" algn="l">
              <a:lnSpc>
                <a:spcPct val="125000"/>
              </a:lnSpc>
              <a:buNone/>
            </a:pPr>
            <a:r>
              <a:rPr lang="en-US" sz="1200" dirty="0">
                <a:solidFill>
                  <a:srgbClr val="2A2E31"/>
                </a:solidFill>
                <a:latin typeface="IBM Plex Sans" pitchFamily="34" charset="0"/>
                <a:ea typeface="IBM Plex Sans" pitchFamily="34" charset="-122"/>
                <a:cs typeface="IBM Plex Sans" pitchFamily="34" charset="-120"/>
              </a:rPr>
              <a:t>Notifications require verified live data, event handling, and a delivery mechanism before they can be claimed as implemented.</a:t>
            </a:r>
            <a:endParaRPr lang="en-US" sz="1200" dirty="0"/>
          </a:p>
        </p:txBody>
      </p:sp>
      <p:sp>
        <p:nvSpPr>
          <p:cNvPr id="22" name="Shape 17"/>
          <p:cNvSpPr/>
          <p:nvPr/>
        </p:nvSpPr>
        <p:spPr>
          <a:xfrm>
            <a:off x="0" y="10130548"/>
            <a:ext cx="7562088" cy="9477"/>
          </a:xfrm>
          <a:prstGeom prst="rect">
            <a:avLst/>
          </a:prstGeom>
          <a:solidFill>
            <a:srgbClr val="2A2E31">
              <a:alpha val="20000"/>
            </a:srgbClr>
          </a:solidFill>
          <a:ln/>
        </p:spPr>
      </p:sp>
      <p:sp>
        <p:nvSpPr>
          <p:cNvPr id="23" name="Text 18"/>
          <p:cNvSpPr/>
          <p:nvPr/>
        </p:nvSpPr>
        <p:spPr>
          <a:xfrm>
            <a:off x="660390" y="10324216"/>
            <a:ext cx="773194" cy="171390"/>
          </a:xfrm>
          <a:prstGeom prst="rect">
            <a:avLst/>
          </a:prstGeom>
          <a:noFill/>
          <a:ln/>
        </p:spPr>
        <p:txBody>
          <a:bodyPr wrap="none" lIns="0" tIns="0" rIns="0" bIns="0" rtlCol="0" anchor="ctr"/>
          <a:lstStyle/>
          <a:p>
            <a:pPr marL="0" indent="0" algn="l">
              <a:lnSpc>
                <a:spcPct val="125000"/>
              </a:lnSpc>
              <a:buNone/>
            </a:pPr>
            <a:r>
              <a:rPr lang="en-US" sz="900" kern="100" spc="68" dirty="0">
                <a:solidFill>
                  <a:srgbClr val="2A2E31"/>
                </a:solidFill>
                <a:latin typeface="IBM Plex Sans" pitchFamily="34" charset="0"/>
                <a:ea typeface="IBM Plex Sans" pitchFamily="34" charset="-122"/>
                <a:cs typeface="IBM Plex Sans" pitchFamily="34" charset="-120"/>
              </a:rPr>
              <a:t>MOVIT</a:t>
            </a:r>
            <a:endParaRPr lang="en-US" sz="900" dirty="0"/>
          </a:p>
        </p:txBody>
      </p:sp>
      <p:sp>
        <p:nvSpPr>
          <p:cNvPr id="24" name="Text 19"/>
          <p:cNvSpPr/>
          <p:nvPr/>
        </p:nvSpPr>
        <p:spPr>
          <a:xfrm>
            <a:off x="6747416" y="10324216"/>
            <a:ext cx="532386" cy="171390"/>
          </a:xfrm>
          <a:prstGeom prst="rect">
            <a:avLst/>
          </a:prstGeom>
          <a:noFill/>
          <a:ln/>
        </p:spPr>
        <p:txBody>
          <a:bodyPr wrap="none" lIns="0" tIns="0" rIns="0" bIns="0" rtlCol="0" anchor="ctr"/>
          <a:lstStyle/>
          <a:p>
            <a:pPr marL="0" indent="0" algn="l">
              <a:lnSpc>
                <a:spcPct val="125000"/>
              </a:lnSpc>
              <a:buNone/>
            </a:pPr>
            <a:r>
              <a:rPr lang="en-US" sz="900" kern="100" spc="68" dirty="0">
                <a:solidFill>
                  <a:srgbClr val="2A2E31"/>
                </a:solidFill>
                <a:latin typeface="IBM Plex Sans" pitchFamily="34" charset="0"/>
                <a:ea typeface="IBM Plex Sans" pitchFamily="34" charset="-122"/>
                <a:cs typeface="IBM Plex Sans" pitchFamily="34" charset="-120"/>
              </a:rPr>
              <a:t>07</a:t>
            </a:r>
            <a:endParaRPr lang="en-US" sz="900" dirty="0"/>
          </a:p>
        </p:txBody>
      </p:sp>
      <p:sp>
        <p:nvSpPr>
          <p:cNvPr id="25" name="Shape 20"/>
          <p:cNvSpPr/>
          <p:nvPr/>
        </p:nvSpPr>
        <p:spPr>
          <a:xfrm>
            <a:off x="660390" y="3949976"/>
            <a:ext cx="6241307" cy="7877"/>
          </a:xfrm>
          <a:prstGeom prst="rect">
            <a:avLst/>
          </a:prstGeom>
          <a:solidFill>
            <a:srgbClr val="C9C5BB"/>
          </a:solidFill>
          <a:ln/>
        </p:spPr>
      </p:sp>
      <p:sp>
        <p:nvSpPr>
          <p:cNvPr id="26" name="Shape 21"/>
          <p:cNvSpPr/>
          <p:nvPr/>
        </p:nvSpPr>
        <p:spPr>
          <a:xfrm>
            <a:off x="660390" y="5850223"/>
            <a:ext cx="6241307" cy="7877"/>
          </a:xfrm>
          <a:prstGeom prst="rect">
            <a:avLst/>
          </a:prstGeom>
          <a:solidFill>
            <a:srgbClr val="C9C5BB"/>
          </a:solidFill>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0390" y="193668"/>
            <a:ext cx="773194" cy="171390"/>
          </a:xfrm>
          <a:prstGeom prst="rect">
            <a:avLst/>
          </a:prstGeom>
          <a:noFill/>
          <a:ln/>
        </p:spPr>
        <p:txBody>
          <a:bodyPr wrap="none" lIns="0" tIns="0" rIns="0" bIns="0" rtlCol="0" anchor="ctr"/>
          <a:lstStyle/>
          <a:p>
            <a:pPr marL="0" indent="0" algn="l">
              <a:lnSpc>
                <a:spcPct val="125000"/>
              </a:lnSpc>
              <a:buNone/>
            </a:pPr>
            <a:r>
              <a:rPr lang="en-US" sz="900" kern="100" spc="68" dirty="0">
                <a:solidFill>
                  <a:srgbClr val="2A2E31"/>
                </a:solidFill>
                <a:latin typeface="IBM Plex Sans" pitchFamily="34" charset="0"/>
                <a:ea typeface="IBM Plex Sans" pitchFamily="34" charset="-122"/>
                <a:cs typeface="IBM Plex Sans" pitchFamily="34" charset="-120"/>
              </a:rPr>
              <a:t>MOVIT</a:t>
            </a:r>
            <a:endParaRPr lang="en-US" sz="900" dirty="0"/>
          </a:p>
        </p:txBody>
      </p:sp>
      <p:sp>
        <p:nvSpPr>
          <p:cNvPr id="3" name="Text 1"/>
          <p:cNvSpPr/>
          <p:nvPr/>
        </p:nvSpPr>
        <p:spPr>
          <a:xfrm>
            <a:off x="6506608" y="193668"/>
            <a:ext cx="773194" cy="171390"/>
          </a:xfrm>
          <a:prstGeom prst="rect">
            <a:avLst/>
          </a:prstGeom>
          <a:noFill/>
          <a:ln/>
        </p:spPr>
        <p:txBody>
          <a:bodyPr wrap="none" lIns="0" tIns="0" rIns="0" bIns="0" rtlCol="0" anchor="ctr"/>
          <a:lstStyle/>
          <a:p>
            <a:pPr marL="0" indent="0" algn="l">
              <a:lnSpc>
                <a:spcPct val="125000"/>
              </a:lnSpc>
              <a:buNone/>
            </a:pPr>
            <a:r>
              <a:rPr lang="en-US" sz="900" kern="100" spc="68" dirty="0">
                <a:solidFill>
                  <a:srgbClr val="2A2E31"/>
                </a:solidFill>
                <a:latin typeface="IBM Plex Sans" pitchFamily="34" charset="0"/>
                <a:ea typeface="IBM Plex Sans" pitchFamily="34" charset="-122"/>
                <a:cs typeface="IBM Plex Sans" pitchFamily="34" charset="-120"/>
              </a:rPr>
              <a:t>MOVIT</a:t>
            </a:r>
            <a:endParaRPr lang="en-US" sz="900" dirty="0"/>
          </a:p>
        </p:txBody>
      </p:sp>
      <p:sp>
        <p:nvSpPr>
          <p:cNvPr id="4" name="Shape 2"/>
          <p:cNvSpPr/>
          <p:nvPr/>
        </p:nvSpPr>
        <p:spPr>
          <a:xfrm>
            <a:off x="0" y="549310"/>
            <a:ext cx="7562088" cy="9477"/>
          </a:xfrm>
          <a:prstGeom prst="rect">
            <a:avLst/>
          </a:prstGeom>
          <a:solidFill>
            <a:srgbClr val="2A2E31">
              <a:alpha val="20000"/>
            </a:srgbClr>
          </a:solidFill>
          <a:ln/>
        </p:spPr>
      </p:sp>
      <p:sp>
        <p:nvSpPr>
          <p:cNvPr id="5" name="Text 3"/>
          <p:cNvSpPr/>
          <p:nvPr/>
        </p:nvSpPr>
        <p:spPr>
          <a:xfrm>
            <a:off x="660390" y="1225132"/>
            <a:ext cx="6619412" cy="166652"/>
          </a:xfrm>
          <a:prstGeom prst="rect">
            <a:avLst/>
          </a:prstGeom>
          <a:noFill/>
          <a:ln/>
        </p:spPr>
        <p:txBody>
          <a:bodyPr wrap="none" lIns="0" tIns="0" rIns="0" bIns="0" rtlCol="0" anchor="t"/>
          <a:lstStyle/>
          <a:p>
            <a:pPr marL="0" indent="0" algn="l">
              <a:lnSpc>
                <a:spcPct val="104000"/>
              </a:lnSpc>
              <a:buNone/>
            </a:pPr>
            <a:r>
              <a:rPr lang="en-US" sz="1050" kern="100" spc="79" dirty="0">
                <a:solidFill>
                  <a:srgbClr val="2F7468"/>
                </a:solidFill>
                <a:latin typeface="IBM Plex Sans SemiBold" pitchFamily="34" charset="0"/>
                <a:ea typeface="IBM Plex Sans SemiBold" pitchFamily="34" charset="-122"/>
                <a:cs typeface="IBM Plex Sans SemiBold" pitchFamily="34" charset="-120"/>
              </a:rPr>
              <a:t>07 · INTERACTION DESIGN</a:t>
            </a:r>
            <a:endParaRPr lang="en-US" sz="1050" dirty="0"/>
          </a:p>
        </p:txBody>
      </p:sp>
      <p:sp>
        <p:nvSpPr>
          <p:cNvPr id="6" name="Text 4"/>
          <p:cNvSpPr/>
          <p:nvPr/>
        </p:nvSpPr>
        <p:spPr>
          <a:xfrm>
            <a:off x="660390" y="1462017"/>
            <a:ext cx="6241307" cy="350473"/>
          </a:xfrm>
          <a:prstGeom prst="rect">
            <a:avLst/>
          </a:prstGeom>
          <a:noFill/>
          <a:ln/>
        </p:spPr>
        <p:txBody>
          <a:bodyPr wrap="none" lIns="0" tIns="0" rIns="0" bIns="0" rtlCol="0" anchor="t"/>
          <a:lstStyle/>
          <a:p>
            <a:pPr marL="0" indent="0" algn="l">
              <a:lnSpc>
                <a:spcPct val="96000"/>
              </a:lnSpc>
              <a:buNone/>
            </a:pPr>
            <a:r>
              <a:rPr lang="en-US" sz="2400" kern="100" spc="-12" dirty="0">
                <a:solidFill>
                  <a:srgbClr val="173B5C"/>
                </a:solidFill>
                <a:latin typeface="Newsreader SemiBold" pitchFamily="34" charset="0"/>
                <a:ea typeface="Newsreader SemiBold" pitchFamily="34" charset="-122"/>
                <a:cs typeface="Newsreader SemiBold" pitchFamily="34" charset="-120"/>
              </a:rPr>
              <a:t>7. User Interface Design</a:t>
            </a:r>
            <a:endParaRPr lang="en-US" sz="2400" dirty="0"/>
          </a:p>
        </p:txBody>
      </p:sp>
      <p:sp>
        <p:nvSpPr>
          <p:cNvPr id="7" name="Shape 5"/>
          <p:cNvSpPr/>
          <p:nvPr/>
        </p:nvSpPr>
        <p:spPr>
          <a:xfrm>
            <a:off x="660390" y="2041052"/>
            <a:ext cx="1560296" cy="31509"/>
          </a:xfrm>
          <a:prstGeom prst="roundRect">
            <a:avLst>
              <a:gd name="adj" fmla="val 50000"/>
            </a:avLst>
          </a:prstGeom>
          <a:solidFill>
            <a:srgbClr val="B8581A"/>
          </a:solidFill>
          <a:ln/>
        </p:spPr>
      </p:sp>
      <p:sp>
        <p:nvSpPr>
          <p:cNvPr id="8" name="Text 6"/>
          <p:cNvSpPr/>
          <p:nvPr/>
        </p:nvSpPr>
        <p:spPr>
          <a:xfrm>
            <a:off x="660390" y="2282229"/>
            <a:ext cx="6095949" cy="1142807"/>
          </a:xfrm>
          <a:prstGeom prst="rect">
            <a:avLst/>
          </a:prstGeom>
          <a:noFill/>
          <a:ln/>
        </p:spPr>
        <p:txBody>
          <a:bodyPr wrap="square" lIns="0" tIns="0" rIns="0" bIns="0" rtlCol="0" anchor="t">
            <a:normAutofit/>
          </a:bodyPr>
          <a:lstStyle/>
          <a:p>
            <a:pPr marL="0" indent="0" algn="l">
              <a:lnSpc>
                <a:spcPct val="125000"/>
              </a:lnSpc>
              <a:buNone/>
            </a:pPr>
            <a:r>
              <a:rPr lang="en-US" sz="1200" dirty="0">
                <a:solidFill>
                  <a:srgbClr val="2A2E31"/>
                </a:solidFill>
                <a:latin typeface="IBM Plex Sans" pitchFamily="34" charset="0"/>
                <a:ea typeface="IBM Plex Sans" pitchFamily="34" charset="-122"/>
                <a:cs typeface="IBM Plex Sans" pitchFamily="34" charset="-120"/>
              </a:rPr>
              <a:t>The MOVIT interface follows a task-oriented structure: a journey-selection entry point, a bus-options view, a transport-status view, and a passenger-report view. The public reference uses labels such as “Where are you headed?”, “Find your best bus,” “Stay informed,” and “Your update matters,” with route examples including Tirupati → Chittoor and a “Next 60 minutes” time filter.</a:t>
            </a:r>
            <a:endParaRPr lang="en-US" sz="1200" dirty="0"/>
          </a:p>
        </p:txBody>
      </p:sp>
      <p:sp>
        <p:nvSpPr>
          <p:cNvPr id="9" name="Text 7"/>
          <p:cNvSpPr/>
          <p:nvPr/>
        </p:nvSpPr>
        <p:spPr>
          <a:xfrm>
            <a:off x="660390" y="3752000"/>
            <a:ext cx="6241307" cy="335826"/>
          </a:xfrm>
          <a:prstGeom prst="rect">
            <a:avLst/>
          </a:prstGeom>
          <a:noFill/>
          <a:ln/>
        </p:spPr>
        <p:txBody>
          <a:bodyPr wrap="none" lIns="0" tIns="0" rIns="0" bIns="0" rtlCol="0" anchor="t"/>
          <a:lstStyle/>
          <a:p>
            <a:pPr marL="0" indent="0" algn="l">
              <a:lnSpc>
                <a:spcPct val="96000"/>
              </a:lnSpc>
              <a:buNone/>
            </a:pPr>
            <a:r>
              <a:rPr lang="en-US" sz="2300" kern="100" spc="-11" dirty="0">
                <a:solidFill>
                  <a:srgbClr val="173B5C"/>
                </a:solidFill>
                <a:latin typeface="Newsreader SemiBold" pitchFamily="34" charset="0"/>
                <a:ea typeface="Newsreader SemiBold" pitchFamily="34" charset="-122"/>
                <a:cs typeface="Newsreader SemiBold" pitchFamily="34" charset="-120"/>
              </a:rPr>
              <a:t>Interface principles</a:t>
            </a:r>
            <a:endParaRPr lang="en-US" sz="2300" dirty="0"/>
          </a:p>
        </p:txBody>
      </p:sp>
      <p:sp>
        <p:nvSpPr>
          <p:cNvPr id="10" name="Shape 8"/>
          <p:cNvSpPr/>
          <p:nvPr/>
        </p:nvSpPr>
        <p:spPr>
          <a:xfrm>
            <a:off x="660390" y="4354482"/>
            <a:ext cx="274840" cy="274840"/>
          </a:xfrm>
          <a:prstGeom prst="ellipse">
            <a:avLst/>
          </a:prstGeom>
          <a:solidFill>
            <a:srgbClr val="B8581A"/>
          </a:solidFill>
          <a:ln w="7877">
            <a:solidFill>
              <a:srgbClr val="D5D3CA"/>
            </a:solidFill>
            <a:prstDash val="solid"/>
          </a:ln>
        </p:spPr>
      </p:sp>
      <p:sp>
        <p:nvSpPr>
          <p:cNvPr id="11" name="Text 9"/>
          <p:cNvSpPr/>
          <p:nvPr/>
        </p:nvSpPr>
        <p:spPr>
          <a:xfrm>
            <a:off x="706361" y="4415714"/>
            <a:ext cx="561003" cy="152374"/>
          </a:xfrm>
          <a:prstGeom prst="rect">
            <a:avLst/>
          </a:prstGeom>
          <a:noFill/>
          <a:ln/>
        </p:spPr>
        <p:txBody>
          <a:bodyPr wrap="none" lIns="0" tIns="0" rIns="0" bIns="0" rtlCol="0" anchor="t"/>
          <a:lstStyle/>
          <a:p>
            <a:pPr marL="0" indent="0" algn="l">
              <a:lnSpc>
                <a:spcPct val="83000"/>
              </a:lnSpc>
              <a:buNone/>
            </a:pPr>
            <a:r>
              <a:rPr lang="en-US" sz="1200" dirty="0">
                <a:solidFill>
                  <a:srgbClr val="FFFFFF"/>
                </a:solidFill>
                <a:latin typeface="IBM Plex Sans SemiBold" pitchFamily="34" charset="0"/>
                <a:ea typeface="IBM Plex Sans SemiBold" pitchFamily="34" charset="-122"/>
                <a:cs typeface="IBM Plex Sans SemiBold" pitchFamily="34" charset="-120"/>
              </a:rPr>
              <a:t>01</a:t>
            </a:r>
            <a:endParaRPr lang="en-US" sz="1200" dirty="0"/>
          </a:p>
        </p:txBody>
      </p:sp>
      <p:sp>
        <p:nvSpPr>
          <p:cNvPr id="12" name="Text 10"/>
          <p:cNvSpPr/>
          <p:nvPr/>
        </p:nvSpPr>
        <p:spPr>
          <a:xfrm>
            <a:off x="1062188" y="4376328"/>
            <a:ext cx="5839510" cy="228561"/>
          </a:xfrm>
          <a:prstGeom prst="rect">
            <a:avLst/>
          </a:prstGeom>
          <a:noFill/>
          <a:ln/>
        </p:spPr>
        <p:txBody>
          <a:bodyPr wrap="none" lIns="0" tIns="0" rIns="0" bIns="0" rtlCol="0" anchor="t"/>
          <a:lstStyle/>
          <a:p>
            <a:pPr marL="0" indent="0" algn="l">
              <a:lnSpc>
                <a:spcPct val="125000"/>
              </a:lnSpc>
              <a:buNone/>
            </a:pPr>
            <a:r>
              <a:rPr lang="en-US" sz="1200" dirty="0">
                <a:solidFill>
                  <a:srgbClr val="2A2E31"/>
                </a:solidFill>
                <a:latin typeface="IBM Plex Sans" pitchFamily="34" charset="0"/>
                <a:ea typeface="IBM Plex Sans" pitchFamily="34" charset="-122"/>
                <a:cs typeface="IBM Plex Sans" pitchFamily="34" charset="-120"/>
              </a:rPr>
              <a:t>Simplicity for quick travel decisions.</a:t>
            </a:r>
            <a:endParaRPr lang="en-US" sz="1200" dirty="0"/>
          </a:p>
        </p:txBody>
      </p:sp>
      <p:sp>
        <p:nvSpPr>
          <p:cNvPr id="13" name="Shape 11"/>
          <p:cNvSpPr/>
          <p:nvPr/>
        </p:nvSpPr>
        <p:spPr>
          <a:xfrm>
            <a:off x="660390" y="4781696"/>
            <a:ext cx="274840" cy="274840"/>
          </a:xfrm>
          <a:prstGeom prst="ellipse">
            <a:avLst/>
          </a:prstGeom>
          <a:solidFill>
            <a:srgbClr val="B8581A"/>
          </a:solidFill>
          <a:ln w="7877">
            <a:solidFill>
              <a:srgbClr val="D5D3CA"/>
            </a:solidFill>
            <a:prstDash val="solid"/>
          </a:ln>
        </p:spPr>
      </p:sp>
      <p:sp>
        <p:nvSpPr>
          <p:cNvPr id="14" name="Text 12"/>
          <p:cNvSpPr/>
          <p:nvPr/>
        </p:nvSpPr>
        <p:spPr>
          <a:xfrm>
            <a:off x="706361" y="4842928"/>
            <a:ext cx="561003" cy="152374"/>
          </a:xfrm>
          <a:prstGeom prst="rect">
            <a:avLst/>
          </a:prstGeom>
          <a:noFill/>
          <a:ln/>
        </p:spPr>
        <p:txBody>
          <a:bodyPr wrap="none" lIns="0" tIns="0" rIns="0" bIns="0" rtlCol="0" anchor="t"/>
          <a:lstStyle/>
          <a:p>
            <a:pPr marL="0" indent="0" algn="l">
              <a:lnSpc>
                <a:spcPct val="83000"/>
              </a:lnSpc>
              <a:buNone/>
            </a:pPr>
            <a:r>
              <a:rPr lang="en-US" sz="1200" dirty="0">
                <a:solidFill>
                  <a:srgbClr val="FFFFFF"/>
                </a:solidFill>
                <a:latin typeface="IBM Plex Sans SemiBold" pitchFamily="34" charset="0"/>
                <a:ea typeface="IBM Plex Sans SemiBold" pitchFamily="34" charset="-122"/>
                <a:cs typeface="IBM Plex Sans SemiBold" pitchFamily="34" charset="-120"/>
              </a:rPr>
              <a:t>02</a:t>
            </a:r>
            <a:endParaRPr lang="en-US" sz="1200" dirty="0"/>
          </a:p>
        </p:txBody>
      </p:sp>
      <p:sp>
        <p:nvSpPr>
          <p:cNvPr id="15" name="Text 13"/>
          <p:cNvSpPr/>
          <p:nvPr/>
        </p:nvSpPr>
        <p:spPr>
          <a:xfrm>
            <a:off x="1062188" y="4803543"/>
            <a:ext cx="5839510" cy="228561"/>
          </a:xfrm>
          <a:prstGeom prst="rect">
            <a:avLst/>
          </a:prstGeom>
          <a:noFill/>
          <a:ln/>
        </p:spPr>
        <p:txBody>
          <a:bodyPr wrap="none" lIns="0" tIns="0" rIns="0" bIns="0" rtlCol="0" anchor="t"/>
          <a:lstStyle/>
          <a:p>
            <a:pPr marL="0" indent="0" algn="l">
              <a:lnSpc>
                <a:spcPct val="125000"/>
              </a:lnSpc>
              <a:buNone/>
            </a:pPr>
            <a:r>
              <a:rPr lang="en-US" sz="1200" dirty="0">
                <a:solidFill>
                  <a:srgbClr val="2A2E31"/>
                </a:solidFill>
                <a:latin typeface="IBM Plex Sans" pitchFamily="34" charset="0"/>
                <a:ea typeface="IBM Plex Sans" pitchFamily="34" charset="-122"/>
                <a:cs typeface="IBM Plex Sans" pitchFamily="34" charset="-120"/>
              </a:rPr>
              <a:t>Clear information hierarchy.</a:t>
            </a:r>
            <a:endParaRPr lang="en-US" sz="1200" dirty="0"/>
          </a:p>
        </p:txBody>
      </p:sp>
      <p:sp>
        <p:nvSpPr>
          <p:cNvPr id="16" name="Shape 14"/>
          <p:cNvSpPr/>
          <p:nvPr/>
        </p:nvSpPr>
        <p:spPr>
          <a:xfrm>
            <a:off x="660390" y="5208910"/>
            <a:ext cx="274840" cy="274840"/>
          </a:xfrm>
          <a:prstGeom prst="ellipse">
            <a:avLst/>
          </a:prstGeom>
          <a:solidFill>
            <a:srgbClr val="B8581A"/>
          </a:solidFill>
          <a:ln w="7877">
            <a:solidFill>
              <a:srgbClr val="D5D3CA"/>
            </a:solidFill>
            <a:prstDash val="solid"/>
          </a:ln>
        </p:spPr>
      </p:sp>
      <p:sp>
        <p:nvSpPr>
          <p:cNvPr id="17" name="Text 15"/>
          <p:cNvSpPr/>
          <p:nvPr/>
        </p:nvSpPr>
        <p:spPr>
          <a:xfrm>
            <a:off x="706361" y="5270142"/>
            <a:ext cx="561003" cy="152374"/>
          </a:xfrm>
          <a:prstGeom prst="rect">
            <a:avLst/>
          </a:prstGeom>
          <a:noFill/>
          <a:ln/>
        </p:spPr>
        <p:txBody>
          <a:bodyPr wrap="none" lIns="0" tIns="0" rIns="0" bIns="0" rtlCol="0" anchor="t"/>
          <a:lstStyle/>
          <a:p>
            <a:pPr marL="0" indent="0" algn="l">
              <a:lnSpc>
                <a:spcPct val="83000"/>
              </a:lnSpc>
              <a:buNone/>
            </a:pPr>
            <a:r>
              <a:rPr lang="en-US" sz="1200" dirty="0">
                <a:solidFill>
                  <a:srgbClr val="FFFFFF"/>
                </a:solidFill>
                <a:latin typeface="IBM Plex Sans SemiBold" pitchFamily="34" charset="0"/>
                <a:ea typeface="IBM Plex Sans SemiBold" pitchFamily="34" charset="-122"/>
                <a:cs typeface="IBM Plex Sans SemiBold" pitchFamily="34" charset="-120"/>
              </a:rPr>
              <a:t>03</a:t>
            </a:r>
            <a:endParaRPr lang="en-US" sz="1200" dirty="0"/>
          </a:p>
        </p:txBody>
      </p:sp>
      <p:sp>
        <p:nvSpPr>
          <p:cNvPr id="18" name="Text 16"/>
          <p:cNvSpPr/>
          <p:nvPr/>
        </p:nvSpPr>
        <p:spPr>
          <a:xfrm>
            <a:off x="1062188" y="5230757"/>
            <a:ext cx="5839510" cy="228561"/>
          </a:xfrm>
          <a:prstGeom prst="rect">
            <a:avLst/>
          </a:prstGeom>
          <a:noFill/>
          <a:ln/>
        </p:spPr>
        <p:txBody>
          <a:bodyPr wrap="none" lIns="0" tIns="0" rIns="0" bIns="0" rtlCol="0" anchor="t"/>
          <a:lstStyle/>
          <a:p>
            <a:pPr marL="0" indent="0" algn="l">
              <a:lnSpc>
                <a:spcPct val="125000"/>
              </a:lnSpc>
              <a:buNone/>
            </a:pPr>
            <a:r>
              <a:rPr lang="en-US" sz="1200" dirty="0">
                <a:solidFill>
                  <a:srgbClr val="2A2E31"/>
                </a:solidFill>
                <a:latin typeface="IBM Plex Sans" pitchFamily="34" charset="0"/>
                <a:ea typeface="IBM Plex Sans" pitchFamily="34" charset="-122"/>
                <a:cs typeface="IBM Plex Sans" pitchFamily="34" charset="-120"/>
              </a:rPr>
              <a:t>Minimal interaction.</a:t>
            </a:r>
            <a:endParaRPr lang="en-US" sz="1200" dirty="0"/>
          </a:p>
        </p:txBody>
      </p:sp>
      <p:sp>
        <p:nvSpPr>
          <p:cNvPr id="19" name="Shape 17"/>
          <p:cNvSpPr/>
          <p:nvPr/>
        </p:nvSpPr>
        <p:spPr>
          <a:xfrm>
            <a:off x="660390" y="5636124"/>
            <a:ext cx="274840" cy="274840"/>
          </a:xfrm>
          <a:prstGeom prst="ellipse">
            <a:avLst/>
          </a:prstGeom>
          <a:solidFill>
            <a:srgbClr val="B8581A"/>
          </a:solidFill>
          <a:ln w="7877">
            <a:solidFill>
              <a:srgbClr val="D5D3CA"/>
            </a:solidFill>
            <a:prstDash val="solid"/>
          </a:ln>
        </p:spPr>
      </p:sp>
      <p:sp>
        <p:nvSpPr>
          <p:cNvPr id="20" name="Text 18"/>
          <p:cNvSpPr/>
          <p:nvPr/>
        </p:nvSpPr>
        <p:spPr>
          <a:xfrm>
            <a:off x="706361" y="5697357"/>
            <a:ext cx="561003" cy="152374"/>
          </a:xfrm>
          <a:prstGeom prst="rect">
            <a:avLst/>
          </a:prstGeom>
          <a:noFill/>
          <a:ln/>
        </p:spPr>
        <p:txBody>
          <a:bodyPr wrap="none" lIns="0" tIns="0" rIns="0" bIns="0" rtlCol="0" anchor="t"/>
          <a:lstStyle/>
          <a:p>
            <a:pPr marL="0" indent="0" algn="l">
              <a:lnSpc>
                <a:spcPct val="83000"/>
              </a:lnSpc>
              <a:buNone/>
            </a:pPr>
            <a:r>
              <a:rPr lang="en-US" sz="1200" dirty="0">
                <a:solidFill>
                  <a:srgbClr val="FFFFFF"/>
                </a:solidFill>
                <a:latin typeface="IBM Plex Sans SemiBold" pitchFamily="34" charset="0"/>
                <a:ea typeface="IBM Plex Sans SemiBold" pitchFamily="34" charset="-122"/>
                <a:cs typeface="IBM Plex Sans SemiBold" pitchFamily="34" charset="-120"/>
              </a:rPr>
              <a:t>04</a:t>
            </a:r>
            <a:endParaRPr lang="en-US" sz="1200" dirty="0"/>
          </a:p>
        </p:txBody>
      </p:sp>
      <p:sp>
        <p:nvSpPr>
          <p:cNvPr id="21" name="Text 19"/>
          <p:cNvSpPr/>
          <p:nvPr/>
        </p:nvSpPr>
        <p:spPr>
          <a:xfrm>
            <a:off x="1062188" y="5657971"/>
            <a:ext cx="5839510" cy="228561"/>
          </a:xfrm>
          <a:prstGeom prst="rect">
            <a:avLst/>
          </a:prstGeom>
          <a:noFill/>
          <a:ln/>
        </p:spPr>
        <p:txBody>
          <a:bodyPr wrap="none" lIns="0" tIns="0" rIns="0" bIns="0" rtlCol="0" anchor="t"/>
          <a:lstStyle/>
          <a:p>
            <a:pPr marL="0" indent="0" algn="l">
              <a:lnSpc>
                <a:spcPct val="125000"/>
              </a:lnSpc>
              <a:buNone/>
            </a:pPr>
            <a:r>
              <a:rPr lang="en-US" sz="1200" dirty="0">
                <a:solidFill>
                  <a:srgbClr val="2A2E31"/>
                </a:solidFill>
                <a:latin typeface="IBM Plex Sans" pitchFamily="34" charset="0"/>
                <a:ea typeface="IBM Plex Sans" pitchFamily="34" charset="-122"/>
                <a:cs typeface="IBM Plex Sans" pitchFamily="34" charset="-120"/>
              </a:rPr>
              <a:t>Readable status indicators.</a:t>
            </a:r>
            <a:endParaRPr lang="en-US" sz="1200" dirty="0"/>
          </a:p>
        </p:txBody>
      </p:sp>
      <p:sp>
        <p:nvSpPr>
          <p:cNvPr id="22" name="Shape 20"/>
          <p:cNvSpPr/>
          <p:nvPr/>
        </p:nvSpPr>
        <p:spPr>
          <a:xfrm>
            <a:off x="660390" y="6063338"/>
            <a:ext cx="274840" cy="274840"/>
          </a:xfrm>
          <a:prstGeom prst="ellipse">
            <a:avLst/>
          </a:prstGeom>
          <a:solidFill>
            <a:srgbClr val="B8581A"/>
          </a:solidFill>
          <a:ln w="7877">
            <a:solidFill>
              <a:srgbClr val="D5D3CA"/>
            </a:solidFill>
            <a:prstDash val="solid"/>
          </a:ln>
        </p:spPr>
      </p:sp>
      <p:sp>
        <p:nvSpPr>
          <p:cNvPr id="23" name="Text 21"/>
          <p:cNvSpPr/>
          <p:nvPr/>
        </p:nvSpPr>
        <p:spPr>
          <a:xfrm>
            <a:off x="706361" y="6124571"/>
            <a:ext cx="561003" cy="152374"/>
          </a:xfrm>
          <a:prstGeom prst="rect">
            <a:avLst/>
          </a:prstGeom>
          <a:noFill/>
          <a:ln/>
        </p:spPr>
        <p:txBody>
          <a:bodyPr wrap="none" lIns="0" tIns="0" rIns="0" bIns="0" rtlCol="0" anchor="t"/>
          <a:lstStyle/>
          <a:p>
            <a:pPr marL="0" indent="0" algn="l">
              <a:lnSpc>
                <a:spcPct val="83000"/>
              </a:lnSpc>
              <a:buNone/>
            </a:pPr>
            <a:r>
              <a:rPr lang="en-US" sz="1200" dirty="0">
                <a:solidFill>
                  <a:srgbClr val="FFFFFF"/>
                </a:solidFill>
                <a:latin typeface="IBM Plex Sans SemiBold" pitchFamily="34" charset="0"/>
                <a:ea typeface="IBM Plex Sans SemiBold" pitchFamily="34" charset="-122"/>
                <a:cs typeface="IBM Plex Sans SemiBold" pitchFamily="34" charset="-120"/>
              </a:rPr>
              <a:t>05</a:t>
            </a:r>
            <a:endParaRPr lang="en-US" sz="1200" dirty="0"/>
          </a:p>
        </p:txBody>
      </p:sp>
      <p:sp>
        <p:nvSpPr>
          <p:cNvPr id="24" name="Text 22"/>
          <p:cNvSpPr/>
          <p:nvPr/>
        </p:nvSpPr>
        <p:spPr>
          <a:xfrm>
            <a:off x="1062188" y="6085185"/>
            <a:ext cx="5839510" cy="228561"/>
          </a:xfrm>
          <a:prstGeom prst="rect">
            <a:avLst/>
          </a:prstGeom>
          <a:noFill/>
          <a:ln/>
        </p:spPr>
        <p:txBody>
          <a:bodyPr wrap="none" lIns="0" tIns="0" rIns="0" bIns="0" rtlCol="0" anchor="t"/>
          <a:lstStyle/>
          <a:p>
            <a:pPr marL="0" indent="0" algn="l">
              <a:lnSpc>
                <a:spcPct val="125000"/>
              </a:lnSpc>
              <a:buNone/>
            </a:pPr>
            <a:r>
              <a:rPr lang="en-US" sz="1200" dirty="0">
                <a:solidFill>
                  <a:srgbClr val="2A2E31"/>
                </a:solidFill>
                <a:latin typeface="IBM Plex Sans" pitchFamily="34" charset="0"/>
                <a:ea typeface="IBM Plex Sans" pitchFamily="34" charset="-122"/>
                <a:cs typeface="IBM Plex Sans" pitchFamily="34" charset="-120"/>
              </a:rPr>
              <a:t>Consistent navigation.</a:t>
            </a:r>
            <a:endParaRPr lang="en-US" sz="1200" dirty="0"/>
          </a:p>
        </p:txBody>
      </p:sp>
      <p:sp>
        <p:nvSpPr>
          <p:cNvPr id="25" name="Shape 23"/>
          <p:cNvSpPr/>
          <p:nvPr/>
        </p:nvSpPr>
        <p:spPr>
          <a:xfrm>
            <a:off x="660390" y="6490552"/>
            <a:ext cx="274840" cy="274840"/>
          </a:xfrm>
          <a:prstGeom prst="ellipse">
            <a:avLst/>
          </a:prstGeom>
          <a:solidFill>
            <a:srgbClr val="B8581A"/>
          </a:solidFill>
          <a:ln w="7877">
            <a:solidFill>
              <a:srgbClr val="D5D3CA"/>
            </a:solidFill>
            <a:prstDash val="solid"/>
          </a:ln>
        </p:spPr>
      </p:sp>
      <p:sp>
        <p:nvSpPr>
          <p:cNvPr id="26" name="Text 24"/>
          <p:cNvSpPr/>
          <p:nvPr/>
        </p:nvSpPr>
        <p:spPr>
          <a:xfrm>
            <a:off x="706361" y="6551785"/>
            <a:ext cx="561003" cy="152374"/>
          </a:xfrm>
          <a:prstGeom prst="rect">
            <a:avLst/>
          </a:prstGeom>
          <a:noFill/>
          <a:ln/>
        </p:spPr>
        <p:txBody>
          <a:bodyPr wrap="none" lIns="0" tIns="0" rIns="0" bIns="0" rtlCol="0" anchor="t"/>
          <a:lstStyle/>
          <a:p>
            <a:pPr marL="0" indent="0" algn="l">
              <a:lnSpc>
                <a:spcPct val="83000"/>
              </a:lnSpc>
              <a:buNone/>
            </a:pPr>
            <a:r>
              <a:rPr lang="en-US" sz="1200" dirty="0">
                <a:solidFill>
                  <a:srgbClr val="FFFFFF"/>
                </a:solidFill>
                <a:latin typeface="IBM Plex Sans SemiBold" pitchFamily="34" charset="0"/>
                <a:ea typeface="IBM Plex Sans SemiBold" pitchFamily="34" charset="-122"/>
                <a:cs typeface="IBM Plex Sans SemiBold" pitchFamily="34" charset="-120"/>
              </a:rPr>
              <a:t>06</a:t>
            </a:r>
            <a:endParaRPr lang="en-US" sz="1200" dirty="0"/>
          </a:p>
        </p:txBody>
      </p:sp>
      <p:sp>
        <p:nvSpPr>
          <p:cNvPr id="27" name="Text 25"/>
          <p:cNvSpPr/>
          <p:nvPr/>
        </p:nvSpPr>
        <p:spPr>
          <a:xfrm>
            <a:off x="1062188" y="6512399"/>
            <a:ext cx="5839510" cy="228561"/>
          </a:xfrm>
          <a:prstGeom prst="rect">
            <a:avLst/>
          </a:prstGeom>
          <a:noFill/>
          <a:ln/>
        </p:spPr>
        <p:txBody>
          <a:bodyPr wrap="none" lIns="0" tIns="0" rIns="0" bIns="0" rtlCol="0" anchor="t"/>
          <a:lstStyle/>
          <a:p>
            <a:pPr marL="0" indent="0" algn="l">
              <a:lnSpc>
                <a:spcPct val="125000"/>
              </a:lnSpc>
              <a:buNone/>
            </a:pPr>
            <a:r>
              <a:rPr lang="en-US" sz="1200" dirty="0">
                <a:solidFill>
                  <a:srgbClr val="2A2E31"/>
                </a:solidFill>
                <a:latin typeface="IBM Plex Sans" pitchFamily="34" charset="0"/>
                <a:ea typeface="IBM Plex Sans" pitchFamily="34" charset="-122"/>
                <a:cs typeface="IBM Plex Sans" pitchFamily="34" charset="-120"/>
              </a:rPr>
              <a:t>Mobile-friendly design direction.</a:t>
            </a:r>
            <a:endParaRPr lang="en-US" sz="1200" dirty="0"/>
          </a:p>
        </p:txBody>
      </p:sp>
      <p:sp>
        <p:nvSpPr>
          <p:cNvPr id="28" name="Shape 26"/>
          <p:cNvSpPr/>
          <p:nvPr/>
        </p:nvSpPr>
        <p:spPr>
          <a:xfrm>
            <a:off x="660390" y="6917766"/>
            <a:ext cx="274840" cy="274840"/>
          </a:xfrm>
          <a:prstGeom prst="ellipse">
            <a:avLst/>
          </a:prstGeom>
          <a:solidFill>
            <a:srgbClr val="B8581A"/>
          </a:solidFill>
          <a:ln w="7877">
            <a:solidFill>
              <a:srgbClr val="D5D3CA"/>
            </a:solidFill>
            <a:prstDash val="solid"/>
          </a:ln>
        </p:spPr>
      </p:sp>
      <p:sp>
        <p:nvSpPr>
          <p:cNvPr id="29" name="Text 27"/>
          <p:cNvSpPr/>
          <p:nvPr/>
        </p:nvSpPr>
        <p:spPr>
          <a:xfrm>
            <a:off x="706361" y="6978999"/>
            <a:ext cx="561003" cy="152374"/>
          </a:xfrm>
          <a:prstGeom prst="rect">
            <a:avLst/>
          </a:prstGeom>
          <a:noFill/>
          <a:ln/>
        </p:spPr>
        <p:txBody>
          <a:bodyPr wrap="none" lIns="0" tIns="0" rIns="0" bIns="0" rtlCol="0" anchor="t"/>
          <a:lstStyle/>
          <a:p>
            <a:pPr marL="0" indent="0" algn="l">
              <a:lnSpc>
                <a:spcPct val="83000"/>
              </a:lnSpc>
              <a:buNone/>
            </a:pPr>
            <a:r>
              <a:rPr lang="en-US" sz="1200" dirty="0">
                <a:solidFill>
                  <a:srgbClr val="FFFFFF"/>
                </a:solidFill>
                <a:latin typeface="IBM Plex Sans SemiBold" pitchFamily="34" charset="0"/>
                <a:ea typeface="IBM Plex Sans SemiBold" pitchFamily="34" charset="-122"/>
                <a:cs typeface="IBM Plex Sans SemiBold" pitchFamily="34" charset="-120"/>
              </a:rPr>
              <a:t>07</a:t>
            </a:r>
            <a:endParaRPr lang="en-US" sz="1200" dirty="0"/>
          </a:p>
        </p:txBody>
      </p:sp>
      <p:sp>
        <p:nvSpPr>
          <p:cNvPr id="30" name="Text 28"/>
          <p:cNvSpPr/>
          <p:nvPr/>
        </p:nvSpPr>
        <p:spPr>
          <a:xfrm>
            <a:off x="1062188" y="6939613"/>
            <a:ext cx="5839510" cy="228561"/>
          </a:xfrm>
          <a:prstGeom prst="rect">
            <a:avLst/>
          </a:prstGeom>
          <a:noFill/>
          <a:ln/>
        </p:spPr>
        <p:txBody>
          <a:bodyPr wrap="none" lIns="0" tIns="0" rIns="0" bIns="0" rtlCol="0" anchor="t"/>
          <a:lstStyle/>
          <a:p>
            <a:pPr marL="0" indent="0" algn="l">
              <a:lnSpc>
                <a:spcPct val="125000"/>
              </a:lnSpc>
              <a:buNone/>
            </a:pPr>
            <a:r>
              <a:rPr lang="en-US" sz="1200" dirty="0">
                <a:solidFill>
                  <a:srgbClr val="2A2E31"/>
                </a:solidFill>
                <a:latin typeface="IBM Plex Sans" pitchFamily="34" charset="0"/>
                <a:ea typeface="IBM Plex Sans" pitchFamily="34" charset="-122"/>
                <a:cs typeface="IBM Plex Sans" pitchFamily="34" charset="-120"/>
              </a:rPr>
              <a:t>Visual focus on transport information rather than decoration.</a:t>
            </a:r>
            <a:endParaRPr lang="en-US" sz="1200" dirty="0"/>
          </a:p>
        </p:txBody>
      </p:sp>
      <p:sp>
        <p:nvSpPr>
          <p:cNvPr id="31" name="Shape 29"/>
          <p:cNvSpPr/>
          <p:nvPr/>
        </p:nvSpPr>
        <p:spPr>
          <a:xfrm>
            <a:off x="660390" y="7446583"/>
            <a:ext cx="2770366" cy="1420539"/>
          </a:xfrm>
          <a:prstGeom prst="rect">
            <a:avLst/>
          </a:prstGeom>
          <a:solidFill>
            <a:srgbClr val="173B5C"/>
          </a:solidFill>
          <a:ln/>
        </p:spPr>
      </p:sp>
      <p:sp>
        <p:nvSpPr>
          <p:cNvPr id="32" name="Text 30"/>
          <p:cNvSpPr/>
          <p:nvPr/>
        </p:nvSpPr>
        <p:spPr>
          <a:xfrm>
            <a:off x="914368" y="7681098"/>
            <a:ext cx="2516388" cy="166652"/>
          </a:xfrm>
          <a:prstGeom prst="rect">
            <a:avLst/>
          </a:prstGeom>
          <a:noFill/>
          <a:ln/>
        </p:spPr>
        <p:txBody>
          <a:bodyPr wrap="none" lIns="0" tIns="0" rIns="0" bIns="0" rtlCol="0" anchor="t"/>
          <a:lstStyle/>
          <a:p>
            <a:pPr marL="0" indent="0" algn="l">
              <a:lnSpc>
                <a:spcPct val="104000"/>
              </a:lnSpc>
              <a:buNone/>
            </a:pPr>
            <a:r>
              <a:rPr lang="en-US" sz="1050" kern="100" spc="79" dirty="0">
                <a:solidFill>
                  <a:srgbClr val="FFFFFF"/>
                </a:solidFill>
                <a:latin typeface="IBM Plex Sans SemiBold" pitchFamily="34" charset="0"/>
                <a:ea typeface="IBM Plex Sans SemiBold" pitchFamily="34" charset="-122"/>
                <a:cs typeface="IBM Plex Sans SemiBold" pitchFamily="34" charset="-120"/>
              </a:rPr>
              <a:t>VISUAL TREATMENT</a:t>
            </a:r>
            <a:endParaRPr lang="en-US" sz="1050" dirty="0"/>
          </a:p>
        </p:txBody>
      </p:sp>
      <p:sp>
        <p:nvSpPr>
          <p:cNvPr id="33" name="Text 31"/>
          <p:cNvSpPr/>
          <p:nvPr/>
        </p:nvSpPr>
        <p:spPr>
          <a:xfrm>
            <a:off x="914368" y="7952877"/>
            <a:ext cx="2262411" cy="685684"/>
          </a:xfrm>
          <a:prstGeom prst="rect">
            <a:avLst/>
          </a:prstGeom>
          <a:noFill/>
          <a:ln/>
        </p:spPr>
        <p:txBody>
          <a:bodyPr wrap="square" lIns="0" tIns="0" rIns="0" bIns="0" rtlCol="0" anchor="t">
            <a:normAutofit/>
          </a:bodyPr>
          <a:lstStyle/>
          <a:p>
            <a:pPr marL="0" indent="0" algn="l">
              <a:lnSpc>
                <a:spcPct val="125000"/>
              </a:lnSpc>
              <a:buNone/>
            </a:pPr>
            <a:r>
              <a:rPr lang="en-US" sz="1200" dirty="0">
                <a:solidFill>
                  <a:srgbClr val="FFFFFF"/>
                </a:solidFill>
                <a:latin typeface="IBM Plex Sans" pitchFamily="34" charset="0"/>
                <a:ea typeface="IBM Plex Sans" pitchFamily="34" charset="-122"/>
                <a:cs typeface="IBM Plex Sans" pitchFamily="34" charset="-120"/>
              </a:rPr>
              <a:t>Dark interface, high contrast, clear cards, strong typography, and limited visual clutter.</a:t>
            </a:r>
            <a:endParaRPr lang="en-US" sz="1200" dirty="0"/>
          </a:p>
        </p:txBody>
      </p:sp>
      <p:sp>
        <p:nvSpPr>
          <p:cNvPr id="34" name="Text 32"/>
          <p:cNvSpPr/>
          <p:nvPr/>
        </p:nvSpPr>
        <p:spPr>
          <a:xfrm>
            <a:off x="3735504" y="7751617"/>
            <a:ext cx="3166194" cy="378720"/>
          </a:xfrm>
          <a:prstGeom prst="rect">
            <a:avLst/>
          </a:prstGeom>
          <a:noFill/>
          <a:ln/>
        </p:spPr>
        <p:txBody>
          <a:bodyPr wrap="square" lIns="0" tIns="0" rIns="0" bIns="0" rtlCol="0" anchor="t">
            <a:normAutofit/>
          </a:bodyPr>
          <a:lstStyle/>
          <a:p>
            <a:pPr marL="0" indent="0" algn="l">
              <a:lnSpc>
                <a:spcPct val="118000"/>
              </a:lnSpc>
              <a:buNone/>
            </a:pPr>
            <a:r>
              <a:rPr lang="en-US" sz="1050" b="1" dirty="0">
                <a:solidFill>
                  <a:srgbClr val="173B5C"/>
                </a:solidFill>
                <a:latin typeface="IBM Plex Sans Bold" pitchFamily="34" charset="0"/>
                <a:ea typeface="IBM Plex Sans Bold" pitchFamily="34" charset="-122"/>
                <a:cs typeface="IBM Plex Sans Bold" pitchFamily="34" charset="-120"/>
              </a:rPr>
              <a:t>Figure 7.1.</a:t>
            </a:r>
            <a:r>
              <a:rPr lang="en-US" sz="1050" dirty="0">
                <a:solidFill>
                  <a:srgbClr val="5F6361"/>
                </a:solidFill>
                <a:latin typeface="IBM Plex Sans" pitchFamily="34" charset="0"/>
                <a:ea typeface="IBM Plex Sans" pitchFamily="34" charset="-122"/>
                <a:cs typeface="IBM Plex Sans" pitchFamily="34" charset="-120"/>
              </a:rPr>
              <a:t> Published MOVIT visual reference: intercity bus travel context.</a:t>
            </a:r>
            <a:endParaRPr lang="en-US" sz="1050" dirty="0"/>
          </a:p>
        </p:txBody>
      </p:sp>
      <p:sp>
        <p:nvSpPr>
          <p:cNvPr id="35" name="Text 33"/>
          <p:cNvSpPr/>
          <p:nvPr/>
        </p:nvSpPr>
        <p:spPr>
          <a:xfrm>
            <a:off x="660390" y="9038798"/>
            <a:ext cx="6241307" cy="378720"/>
          </a:xfrm>
          <a:prstGeom prst="rect">
            <a:avLst/>
          </a:prstGeom>
          <a:noFill/>
          <a:ln/>
        </p:spPr>
        <p:txBody>
          <a:bodyPr wrap="square" lIns="0" tIns="0" rIns="0" bIns="0" rtlCol="0" anchor="t">
            <a:normAutofit/>
          </a:bodyPr>
          <a:lstStyle/>
          <a:p>
            <a:pPr marL="0" indent="0" algn="l">
              <a:lnSpc>
                <a:spcPct val="118000"/>
              </a:lnSpc>
              <a:buNone/>
            </a:pPr>
            <a:r>
              <a:rPr lang="en-US" sz="1050" dirty="0">
                <a:solidFill>
                  <a:srgbClr val="5F6361"/>
                </a:solidFill>
                <a:latin typeface="IBM Plex Sans" pitchFamily="34" charset="0"/>
                <a:ea typeface="IBM Plex Sans" pitchFamily="34" charset="-122"/>
                <a:cs typeface="IBM Plex Sans" pitchFamily="34" charset="-120"/>
              </a:rPr>
              <a:t>Additional interface screenshots should be inserted from the current prototype for a submission-ready figure set rather than replaced with generic illustrations.</a:t>
            </a:r>
            <a:endParaRPr lang="en-US" sz="1050" dirty="0"/>
          </a:p>
        </p:txBody>
      </p:sp>
      <p:sp>
        <p:nvSpPr>
          <p:cNvPr id="36" name="Shape 34"/>
          <p:cNvSpPr/>
          <p:nvPr/>
        </p:nvSpPr>
        <p:spPr>
          <a:xfrm>
            <a:off x="0" y="10130548"/>
            <a:ext cx="7562088" cy="9477"/>
          </a:xfrm>
          <a:prstGeom prst="rect">
            <a:avLst/>
          </a:prstGeom>
          <a:solidFill>
            <a:srgbClr val="2A2E31">
              <a:alpha val="20000"/>
            </a:srgbClr>
          </a:solidFill>
          <a:ln/>
        </p:spPr>
      </p:sp>
      <p:sp>
        <p:nvSpPr>
          <p:cNvPr id="37" name="Text 35"/>
          <p:cNvSpPr/>
          <p:nvPr/>
        </p:nvSpPr>
        <p:spPr>
          <a:xfrm>
            <a:off x="660390" y="10324216"/>
            <a:ext cx="773194" cy="171390"/>
          </a:xfrm>
          <a:prstGeom prst="rect">
            <a:avLst/>
          </a:prstGeom>
          <a:noFill/>
          <a:ln/>
        </p:spPr>
        <p:txBody>
          <a:bodyPr wrap="none" lIns="0" tIns="0" rIns="0" bIns="0" rtlCol="0" anchor="ctr"/>
          <a:lstStyle/>
          <a:p>
            <a:pPr marL="0" indent="0" algn="l">
              <a:lnSpc>
                <a:spcPct val="125000"/>
              </a:lnSpc>
              <a:buNone/>
            </a:pPr>
            <a:r>
              <a:rPr lang="en-US" sz="900" kern="100" spc="68" dirty="0">
                <a:solidFill>
                  <a:srgbClr val="2A2E31"/>
                </a:solidFill>
                <a:latin typeface="IBM Plex Sans" pitchFamily="34" charset="0"/>
                <a:ea typeface="IBM Plex Sans" pitchFamily="34" charset="-122"/>
                <a:cs typeface="IBM Plex Sans" pitchFamily="34" charset="-120"/>
              </a:rPr>
              <a:t>MOVIT</a:t>
            </a:r>
            <a:endParaRPr lang="en-US" sz="900" dirty="0"/>
          </a:p>
        </p:txBody>
      </p:sp>
      <p:sp>
        <p:nvSpPr>
          <p:cNvPr id="38" name="Text 36"/>
          <p:cNvSpPr/>
          <p:nvPr/>
        </p:nvSpPr>
        <p:spPr>
          <a:xfrm>
            <a:off x="6747416" y="10324216"/>
            <a:ext cx="532386" cy="171390"/>
          </a:xfrm>
          <a:prstGeom prst="rect">
            <a:avLst/>
          </a:prstGeom>
          <a:noFill/>
          <a:ln/>
        </p:spPr>
        <p:txBody>
          <a:bodyPr wrap="none" lIns="0" tIns="0" rIns="0" bIns="0" rtlCol="0" anchor="ctr"/>
          <a:lstStyle/>
          <a:p>
            <a:pPr marL="0" indent="0" algn="l">
              <a:lnSpc>
                <a:spcPct val="125000"/>
              </a:lnSpc>
              <a:buNone/>
            </a:pPr>
            <a:r>
              <a:rPr lang="en-US" sz="900" kern="100" spc="68" dirty="0">
                <a:solidFill>
                  <a:srgbClr val="2A2E31"/>
                </a:solidFill>
                <a:latin typeface="IBM Plex Sans" pitchFamily="34" charset="0"/>
                <a:ea typeface="IBM Plex Sans" pitchFamily="34" charset="-122"/>
                <a:cs typeface="IBM Plex Sans" pitchFamily="34" charset="-120"/>
              </a:rPr>
              <a:t>08</a:t>
            </a:r>
            <a:endParaRPr lang="en-US" sz="900" dirty="0"/>
          </a:p>
        </p:txBody>
      </p:sp>
      <p:sp>
        <p:nvSpPr>
          <p:cNvPr id="39" name="Shape 37"/>
          <p:cNvSpPr/>
          <p:nvPr/>
        </p:nvSpPr>
        <p:spPr>
          <a:xfrm>
            <a:off x="660390" y="4701570"/>
            <a:ext cx="6241307" cy="7877"/>
          </a:xfrm>
          <a:prstGeom prst="rect">
            <a:avLst/>
          </a:prstGeom>
          <a:solidFill>
            <a:srgbClr val="2F7468"/>
          </a:solidFill>
          <a:ln/>
        </p:spPr>
      </p:sp>
      <p:sp>
        <p:nvSpPr>
          <p:cNvPr id="40" name="Shape 38"/>
          <p:cNvSpPr/>
          <p:nvPr/>
        </p:nvSpPr>
        <p:spPr>
          <a:xfrm>
            <a:off x="660390" y="5128784"/>
            <a:ext cx="6241307" cy="7877"/>
          </a:xfrm>
          <a:prstGeom prst="rect">
            <a:avLst/>
          </a:prstGeom>
          <a:solidFill>
            <a:srgbClr val="2F7468"/>
          </a:solidFill>
          <a:ln/>
        </p:spPr>
      </p:sp>
      <p:sp>
        <p:nvSpPr>
          <p:cNvPr id="41" name="Shape 39"/>
          <p:cNvSpPr/>
          <p:nvPr/>
        </p:nvSpPr>
        <p:spPr>
          <a:xfrm>
            <a:off x="660390" y="5555998"/>
            <a:ext cx="6241307" cy="7877"/>
          </a:xfrm>
          <a:prstGeom prst="rect">
            <a:avLst/>
          </a:prstGeom>
          <a:solidFill>
            <a:srgbClr val="2F7468"/>
          </a:solidFill>
          <a:ln/>
        </p:spPr>
      </p:sp>
      <p:sp>
        <p:nvSpPr>
          <p:cNvPr id="42" name="Shape 40"/>
          <p:cNvSpPr/>
          <p:nvPr/>
        </p:nvSpPr>
        <p:spPr>
          <a:xfrm>
            <a:off x="660390" y="5983212"/>
            <a:ext cx="6241307" cy="7877"/>
          </a:xfrm>
          <a:prstGeom prst="rect">
            <a:avLst/>
          </a:prstGeom>
          <a:solidFill>
            <a:srgbClr val="2F7468"/>
          </a:solidFill>
          <a:ln/>
        </p:spPr>
      </p:sp>
      <p:sp>
        <p:nvSpPr>
          <p:cNvPr id="43" name="Shape 41"/>
          <p:cNvSpPr/>
          <p:nvPr/>
        </p:nvSpPr>
        <p:spPr>
          <a:xfrm>
            <a:off x="660390" y="6410426"/>
            <a:ext cx="6241307" cy="7877"/>
          </a:xfrm>
          <a:prstGeom prst="rect">
            <a:avLst/>
          </a:prstGeom>
          <a:solidFill>
            <a:srgbClr val="2F7468"/>
          </a:solidFill>
          <a:ln/>
        </p:spPr>
      </p:sp>
      <p:sp>
        <p:nvSpPr>
          <p:cNvPr id="44" name="Shape 42"/>
          <p:cNvSpPr/>
          <p:nvPr/>
        </p:nvSpPr>
        <p:spPr>
          <a:xfrm>
            <a:off x="660390" y="6837640"/>
            <a:ext cx="6241307" cy="7877"/>
          </a:xfrm>
          <a:prstGeom prst="rect">
            <a:avLst/>
          </a:prstGeom>
          <a:solidFill>
            <a:srgbClr val="2F7468"/>
          </a:solidFill>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0390" y="193668"/>
            <a:ext cx="773194" cy="171390"/>
          </a:xfrm>
          <a:prstGeom prst="rect">
            <a:avLst/>
          </a:prstGeom>
          <a:noFill/>
          <a:ln/>
        </p:spPr>
        <p:txBody>
          <a:bodyPr wrap="none" lIns="0" tIns="0" rIns="0" bIns="0" rtlCol="0" anchor="ctr"/>
          <a:lstStyle/>
          <a:p>
            <a:pPr marL="0" indent="0" algn="l">
              <a:lnSpc>
                <a:spcPct val="125000"/>
              </a:lnSpc>
              <a:buNone/>
            </a:pPr>
            <a:r>
              <a:rPr lang="en-US" sz="900" kern="100" spc="68" dirty="0">
                <a:solidFill>
                  <a:srgbClr val="2A2E31"/>
                </a:solidFill>
                <a:latin typeface="IBM Plex Sans" pitchFamily="34" charset="0"/>
                <a:ea typeface="IBM Plex Sans" pitchFamily="34" charset="-122"/>
                <a:cs typeface="IBM Plex Sans" pitchFamily="34" charset="-120"/>
              </a:rPr>
              <a:t>MOVIT</a:t>
            </a:r>
            <a:endParaRPr lang="en-US" sz="900" dirty="0"/>
          </a:p>
        </p:txBody>
      </p:sp>
      <p:sp>
        <p:nvSpPr>
          <p:cNvPr id="3" name="Text 1"/>
          <p:cNvSpPr/>
          <p:nvPr/>
        </p:nvSpPr>
        <p:spPr>
          <a:xfrm>
            <a:off x="6506608" y="193668"/>
            <a:ext cx="773194" cy="171390"/>
          </a:xfrm>
          <a:prstGeom prst="rect">
            <a:avLst/>
          </a:prstGeom>
          <a:noFill/>
          <a:ln/>
        </p:spPr>
        <p:txBody>
          <a:bodyPr wrap="none" lIns="0" tIns="0" rIns="0" bIns="0" rtlCol="0" anchor="ctr"/>
          <a:lstStyle/>
          <a:p>
            <a:pPr marL="0" indent="0" algn="l">
              <a:lnSpc>
                <a:spcPct val="125000"/>
              </a:lnSpc>
              <a:buNone/>
            </a:pPr>
            <a:r>
              <a:rPr lang="en-US" sz="900" kern="100" spc="68" dirty="0">
                <a:solidFill>
                  <a:srgbClr val="2A2E31"/>
                </a:solidFill>
                <a:latin typeface="IBM Plex Sans" pitchFamily="34" charset="0"/>
                <a:ea typeface="IBM Plex Sans" pitchFamily="34" charset="-122"/>
                <a:cs typeface="IBM Plex Sans" pitchFamily="34" charset="-120"/>
              </a:rPr>
              <a:t>MOVIT</a:t>
            </a:r>
            <a:endParaRPr lang="en-US" sz="900" dirty="0"/>
          </a:p>
        </p:txBody>
      </p:sp>
      <p:sp>
        <p:nvSpPr>
          <p:cNvPr id="4" name="Shape 2"/>
          <p:cNvSpPr/>
          <p:nvPr/>
        </p:nvSpPr>
        <p:spPr>
          <a:xfrm>
            <a:off x="0" y="549310"/>
            <a:ext cx="7562088" cy="9477"/>
          </a:xfrm>
          <a:prstGeom prst="rect">
            <a:avLst/>
          </a:prstGeom>
          <a:solidFill>
            <a:srgbClr val="2A2E31">
              <a:alpha val="20000"/>
            </a:srgbClr>
          </a:solidFill>
          <a:ln/>
        </p:spPr>
      </p:sp>
      <p:sp>
        <p:nvSpPr>
          <p:cNvPr id="5" name="Text 3"/>
          <p:cNvSpPr/>
          <p:nvPr/>
        </p:nvSpPr>
        <p:spPr>
          <a:xfrm>
            <a:off x="660390" y="1225132"/>
            <a:ext cx="6619412" cy="166652"/>
          </a:xfrm>
          <a:prstGeom prst="rect">
            <a:avLst/>
          </a:prstGeom>
          <a:noFill/>
          <a:ln/>
        </p:spPr>
        <p:txBody>
          <a:bodyPr wrap="none" lIns="0" tIns="0" rIns="0" bIns="0" rtlCol="0" anchor="t"/>
          <a:lstStyle/>
          <a:p>
            <a:pPr marL="0" indent="0" algn="l">
              <a:lnSpc>
                <a:spcPct val="104000"/>
              </a:lnSpc>
              <a:buNone/>
            </a:pPr>
            <a:r>
              <a:rPr lang="en-US" sz="1050" kern="100" spc="79" dirty="0">
                <a:solidFill>
                  <a:srgbClr val="2F7468"/>
                </a:solidFill>
                <a:latin typeface="IBM Plex Sans SemiBold" pitchFamily="34" charset="0"/>
                <a:ea typeface="IBM Plex Sans SemiBold" pitchFamily="34" charset="-122"/>
                <a:cs typeface="IBM Plex Sans SemiBold" pitchFamily="34" charset="-120"/>
              </a:rPr>
              <a:t>08 · DELIVERY AND NEXT STEPS</a:t>
            </a:r>
            <a:endParaRPr lang="en-US" sz="1050" dirty="0"/>
          </a:p>
        </p:txBody>
      </p:sp>
      <p:sp>
        <p:nvSpPr>
          <p:cNvPr id="6" name="Text 4"/>
          <p:cNvSpPr/>
          <p:nvPr/>
        </p:nvSpPr>
        <p:spPr>
          <a:xfrm>
            <a:off x="660390" y="1462017"/>
            <a:ext cx="6241307" cy="350473"/>
          </a:xfrm>
          <a:prstGeom prst="rect">
            <a:avLst/>
          </a:prstGeom>
          <a:noFill/>
          <a:ln/>
        </p:spPr>
        <p:txBody>
          <a:bodyPr wrap="none" lIns="0" tIns="0" rIns="0" bIns="0" rtlCol="0" anchor="t"/>
          <a:lstStyle/>
          <a:p>
            <a:pPr marL="0" indent="0" algn="l">
              <a:lnSpc>
                <a:spcPct val="96000"/>
              </a:lnSpc>
              <a:buNone/>
            </a:pPr>
            <a:r>
              <a:rPr lang="en-US" sz="2400" kern="100" spc="-12" dirty="0">
                <a:solidFill>
                  <a:srgbClr val="173B5C"/>
                </a:solidFill>
                <a:latin typeface="Newsreader SemiBold" pitchFamily="34" charset="0"/>
                <a:ea typeface="Newsreader SemiBold" pitchFamily="34" charset="-122"/>
                <a:cs typeface="Newsreader SemiBold" pitchFamily="34" charset="-120"/>
              </a:rPr>
              <a:t>8. Implementation and Future Development</a:t>
            </a:r>
            <a:endParaRPr lang="en-US" sz="2400" dirty="0"/>
          </a:p>
        </p:txBody>
      </p:sp>
      <p:sp>
        <p:nvSpPr>
          <p:cNvPr id="7" name="Shape 5"/>
          <p:cNvSpPr/>
          <p:nvPr/>
        </p:nvSpPr>
        <p:spPr>
          <a:xfrm>
            <a:off x="660390" y="2041052"/>
            <a:ext cx="1560296" cy="31509"/>
          </a:xfrm>
          <a:prstGeom prst="roundRect">
            <a:avLst>
              <a:gd name="adj" fmla="val 50000"/>
            </a:avLst>
          </a:prstGeom>
          <a:solidFill>
            <a:srgbClr val="B8581A"/>
          </a:solidFill>
          <a:ln/>
        </p:spPr>
      </p:sp>
      <p:sp>
        <p:nvSpPr>
          <p:cNvPr id="8" name="Text 6"/>
          <p:cNvSpPr/>
          <p:nvPr/>
        </p:nvSpPr>
        <p:spPr>
          <a:xfrm>
            <a:off x="660390" y="2437803"/>
            <a:ext cx="6241307" cy="335826"/>
          </a:xfrm>
          <a:prstGeom prst="rect">
            <a:avLst/>
          </a:prstGeom>
          <a:noFill/>
          <a:ln/>
        </p:spPr>
        <p:txBody>
          <a:bodyPr wrap="none" lIns="0" tIns="0" rIns="0" bIns="0" rtlCol="0" anchor="t"/>
          <a:lstStyle/>
          <a:p>
            <a:pPr marL="0" indent="0" algn="l">
              <a:lnSpc>
                <a:spcPct val="96000"/>
              </a:lnSpc>
              <a:buNone/>
            </a:pPr>
            <a:r>
              <a:rPr lang="en-US" sz="2300" kern="100" spc="-11" dirty="0">
                <a:solidFill>
                  <a:srgbClr val="173B5C"/>
                </a:solidFill>
                <a:latin typeface="Newsreader SemiBold" pitchFamily="34" charset="0"/>
                <a:ea typeface="Newsreader SemiBold" pitchFamily="34" charset="-122"/>
                <a:cs typeface="Newsreader SemiBold" pitchFamily="34" charset="-120"/>
              </a:rPr>
              <a:t>8.1 Prototype implementation</a:t>
            </a:r>
            <a:endParaRPr lang="en-US" sz="2300" dirty="0"/>
          </a:p>
        </p:txBody>
      </p:sp>
      <p:sp>
        <p:nvSpPr>
          <p:cNvPr id="9" name="Text 7"/>
          <p:cNvSpPr/>
          <p:nvPr/>
        </p:nvSpPr>
        <p:spPr>
          <a:xfrm>
            <a:off x="660390" y="2964097"/>
            <a:ext cx="6095949" cy="1142807"/>
          </a:xfrm>
          <a:prstGeom prst="rect">
            <a:avLst/>
          </a:prstGeom>
          <a:noFill/>
          <a:ln/>
        </p:spPr>
        <p:txBody>
          <a:bodyPr wrap="square" lIns="0" tIns="0" rIns="0" bIns="0" rtlCol="0" anchor="t">
            <a:normAutofit/>
          </a:bodyPr>
          <a:lstStyle/>
          <a:p>
            <a:pPr marL="0" indent="0" algn="l">
              <a:lnSpc>
                <a:spcPct val="125000"/>
              </a:lnSpc>
              <a:buNone/>
            </a:pPr>
            <a:r>
              <a:rPr lang="en-US" sz="1200" dirty="0">
                <a:solidFill>
                  <a:srgbClr val="2A2E31"/>
                </a:solidFill>
                <a:latin typeface="IBM Plex Sans" pitchFamily="34" charset="0"/>
                <a:ea typeface="IBM Plex Sans" pitchFamily="34" charset="-122"/>
                <a:cs typeface="IBM Plex Sans" pitchFamily="34" charset="-120"/>
              </a:rPr>
              <a:t>MOVIT is currently described as a functional web prototype with interactive journey selection, bus discovery, next-hour bus listing, bus status information, an optimal-bus indication, passenger reporting, and a transport-status interface. No specific programming language, framework, database, API, or deployment infrastructure is asserted here because those details were not confirmed.</a:t>
            </a:r>
            <a:endParaRPr lang="en-US" sz="1200" dirty="0"/>
          </a:p>
        </p:txBody>
      </p:sp>
      <p:sp>
        <p:nvSpPr>
          <p:cNvPr id="10" name="Text 8"/>
          <p:cNvSpPr/>
          <p:nvPr/>
        </p:nvSpPr>
        <p:spPr>
          <a:xfrm>
            <a:off x="660390" y="4433869"/>
            <a:ext cx="6241307" cy="335826"/>
          </a:xfrm>
          <a:prstGeom prst="rect">
            <a:avLst/>
          </a:prstGeom>
          <a:noFill/>
          <a:ln/>
        </p:spPr>
        <p:txBody>
          <a:bodyPr wrap="none" lIns="0" tIns="0" rIns="0" bIns="0" rtlCol="0" anchor="t"/>
          <a:lstStyle/>
          <a:p>
            <a:pPr marL="0" indent="0" algn="l">
              <a:lnSpc>
                <a:spcPct val="96000"/>
              </a:lnSpc>
              <a:buNone/>
            </a:pPr>
            <a:r>
              <a:rPr lang="en-US" sz="2300" kern="100" spc="-11" dirty="0">
                <a:solidFill>
                  <a:srgbClr val="173B5C"/>
                </a:solidFill>
                <a:latin typeface="Newsreader SemiBold" pitchFamily="34" charset="0"/>
                <a:ea typeface="Newsreader SemiBold" pitchFamily="34" charset="-122"/>
                <a:cs typeface="Newsreader SemiBold" pitchFamily="34" charset="-120"/>
              </a:rPr>
              <a:t>8.2 Prototype testing</a:t>
            </a:r>
            <a:endParaRPr lang="en-US" sz="2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60390" y="4960163"/>
          <a:ext cx="6241307" cy="914400"/>
        </p:xfrm>
        <a:graphic>
          <a:graphicData uri="http://schemas.openxmlformats.org/drawingml/2006/table">
            <a:tbl>
              <a:tblPr/>
              <a:tblGrid>
                <a:gridCol w="2246841">
                  <a:extLst>
                    <a:ext uri="{9D8B030D-6E8A-4147-A177-3AD203B41FA5}">
                      <a16:colId xmlns:a16="http://schemas.microsoft.com/office/drawing/2014/main" val="20000"/>
                    </a:ext>
                  </a:extLst>
                </a:gridCol>
                <a:gridCol w="2746119">
                  <a:extLst>
                    <a:ext uri="{9D8B030D-6E8A-4147-A177-3AD203B41FA5}">
                      <a16:colId xmlns:a16="http://schemas.microsoft.com/office/drawing/2014/main" val="20001"/>
                    </a:ext>
                  </a:extLst>
                </a:gridCol>
                <a:gridCol w="1248348">
                  <a:extLst>
                    <a:ext uri="{9D8B030D-6E8A-4147-A177-3AD203B41FA5}">
                      <a16:colId xmlns:a16="http://schemas.microsoft.com/office/drawing/2014/main" val="20002"/>
                    </a:ext>
                  </a:extLst>
                </a:gridCol>
              </a:tblGrid>
              <a:tr h="345180">
                <a:tc>
                  <a:txBody>
                    <a:bodyPr/>
                    <a:lstStyle/>
                    <a:p>
                      <a:pPr marL="0" indent="0" algn="l">
                        <a:buNone/>
                      </a:pPr>
                      <a:r>
                        <a:rPr lang="en-US" sz="950" kern="100" spc="47" dirty="0">
                          <a:solidFill>
                            <a:srgbClr val="173B5C"/>
                          </a:solidFill>
                          <a:latin typeface="IBM Plex Sans" pitchFamily="34" charset="0"/>
                          <a:ea typeface="IBM Plex Sans" pitchFamily="34" charset="-122"/>
                          <a:cs typeface="IBM Plex Sans" pitchFamily="34" charset="-120"/>
                        </a:rPr>
                        <a:t>TEST CASE</a:t>
                      </a:r>
                      <a:endParaRPr lang="en-US" sz="950" dirty="0">
                        <a:latin typeface="IBM Plex Sans" charset="0"/>
                        <a:ea typeface="IBM Plex Sans" charset="0"/>
                        <a:cs typeface="IBM Plex Sans" charset="0"/>
                      </a:endParaRPr>
                    </a:p>
                  </a:txBody>
                  <a:tcPr marL="90488" marR="90488" marT="76200" marB="76200" anchor="ctr">
                    <a:lnL w="12700" cap="flat" cmpd="sng" algn="ctr">
                      <a:solidFill>
                        <a:srgbClr val="FBFAF6"/>
                      </a:solidFill>
                      <a:prstDash val="solid"/>
                      <a:round/>
                      <a:headEnd type="none" w="med" len="med"/>
                      <a:tailEnd type="none" w="med" len="med"/>
                    </a:lnL>
                    <a:lnR w="12700" cap="flat" cmpd="sng" algn="ctr">
                      <a:solidFill>
                        <a:srgbClr val="FBFAF6"/>
                      </a:solidFill>
                      <a:prstDash val="solid"/>
                      <a:round/>
                      <a:headEnd type="none" w="med" len="med"/>
                      <a:tailEnd type="none" w="med" len="med"/>
                    </a:lnR>
                    <a:lnT w="12700" cap="flat" cmpd="sng" algn="ctr">
                      <a:solidFill>
                        <a:srgbClr val="FBFAF6"/>
                      </a:solidFill>
                      <a:prstDash val="solid"/>
                      <a:round/>
                      <a:headEnd type="none" w="med" len="med"/>
                      <a:tailEnd type="none" w="med" len="med"/>
                    </a:lnT>
                    <a:lnB w="12700" cap="flat" cmpd="sng" algn="ctr">
                      <a:solidFill>
                        <a:srgbClr val="173B5C"/>
                      </a:solidFill>
                      <a:prstDash val="solid"/>
                      <a:round/>
                      <a:headEnd type="none" w="med" len="med"/>
                      <a:tailEnd type="none" w="med" len="med"/>
                    </a:lnB>
                  </a:tcPr>
                </a:tc>
                <a:tc>
                  <a:txBody>
                    <a:bodyPr/>
                    <a:lstStyle/>
                    <a:p>
                      <a:pPr marL="0" indent="0" algn="l">
                        <a:buNone/>
                      </a:pPr>
                      <a:r>
                        <a:rPr lang="en-US" sz="950" kern="100" spc="47" dirty="0">
                          <a:solidFill>
                            <a:srgbClr val="173B5C"/>
                          </a:solidFill>
                          <a:latin typeface="IBM Plex Sans" pitchFamily="34" charset="0"/>
                          <a:ea typeface="IBM Plex Sans" pitchFamily="34" charset="-122"/>
                          <a:cs typeface="IBM Plex Sans" pitchFamily="34" charset="-120"/>
                        </a:rPr>
                        <a:t>EXPECTED RESULT</a:t>
                      </a:r>
                      <a:endParaRPr lang="en-US" sz="950" dirty="0">
                        <a:latin typeface="IBM Plex Sans" charset="0"/>
                        <a:ea typeface="IBM Plex Sans" charset="0"/>
                        <a:cs typeface="IBM Plex Sans" charset="0"/>
                      </a:endParaRPr>
                    </a:p>
                  </a:txBody>
                  <a:tcPr marL="90488" marR="90488" marT="76200" marB="76200" anchor="ctr">
                    <a:lnL w="12700" cap="flat" cmpd="sng" algn="ctr">
                      <a:solidFill>
                        <a:srgbClr val="FBFAF6"/>
                      </a:solidFill>
                      <a:prstDash val="solid"/>
                      <a:round/>
                      <a:headEnd type="none" w="med" len="med"/>
                      <a:tailEnd type="none" w="med" len="med"/>
                    </a:lnL>
                    <a:lnR w="12700" cap="flat" cmpd="sng" algn="ctr">
                      <a:solidFill>
                        <a:srgbClr val="FBFAF6"/>
                      </a:solidFill>
                      <a:prstDash val="solid"/>
                      <a:round/>
                      <a:headEnd type="none" w="med" len="med"/>
                      <a:tailEnd type="none" w="med" len="med"/>
                    </a:lnR>
                    <a:lnT w="12700" cap="flat" cmpd="sng" algn="ctr">
                      <a:solidFill>
                        <a:srgbClr val="FBFAF6"/>
                      </a:solidFill>
                      <a:prstDash val="solid"/>
                      <a:round/>
                      <a:headEnd type="none" w="med" len="med"/>
                      <a:tailEnd type="none" w="med" len="med"/>
                    </a:lnT>
                    <a:lnB w="12700" cap="flat" cmpd="sng" algn="ctr">
                      <a:solidFill>
                        <a:srgbClr val="173B5C"/>
                      </a:solidFill>
                      <a:prstDash val="solid"/>
                      <a:round/>
                      <a:headEnd type="none" w="med" len="med"/>
                      <a:tailEnd type="none" w="med" len="med"/>
                    </a:lnB>
                  </a:tcPr>
                </a:tc>
                <a:tc>
                  <a:txBody>
                    <a:bodyPr/>
                    <a:lstStyle/>
                    <a:p>
                      <a:pPr marL="0" indent="0" algn="l">
                        <a:buNone/>
                      </a:pPr>
                      <a:r>
                        <a:rPr lang="en-US" sz="950" kern="100" spc="47" dirty="0">
                          <a:solidFill>
                            <a:srgbClr val="173B5C"/>
                          </a:solidFill>
                          <a:latin typeface="IBM Plex Sans" pitchFamily="34" charset="0"/>
                          <a:ea typeface="IBM Plex Sans" pitchFamily="34" charset="-122"/>
                          <a:cs typeface="IBM Plex Sans" pitchFamily="34" charset="-120"/>
                        </a:rPr>
                        <a:t>STATUS</a:t>
                      </a:r>
                      <a:endParaRPr lang="en-US" sz="950" dirty="0">
                        <a:latin typeface="IBM Plex Sans" charset="0"/>
                        <a:ea typeface="IBM Plex Sans" charset="0"/>
                        <a:cs typeface="IBM Plex Sans" charset="0"/>
                      </a:endParaRPr>
                    </a:p>
                  </a:txBody>
                  <a:tcPr marL="90488" marR="90488" marT="76200" marB="76200" anchor="ctr">
                    <a:lnL w="12700" cap="flat" cmpd="sng" algn="ctr">
                      <a:solidFill>
                        <a:srgbClr val="FBFAF6"/>
                      </a:solidFill>
                      <a:prstDash val="solid"/>
                      <a:round/>
                      <a:headEnd type="none" w="med" len="med"/>
                      <a:tailEnd type="none" w="med" len="med"/>
                    </a:lnL>
                    <a:lnR w="12700" cap="flat" cmpd="sng" algn="ctr">
                      <a:solidFill>
                        <a:srgbClr val="FBFAF6"/>
                      </a:solidFill>
                      <a:prstDash val="solid"/>
                      <a:round/>
                      <a:headEnd type="none" w="med" len="med"/>
                      <a:tailEnd type="none" w="med" len="med"/>
                    </a:lnR>
                    <a:lnT w="12700" cap="flat" cmpd="sng" algn="ctr">
                      <a:solidFill>
                        <a:srgbClr val="FBFAF6"/>
                      </a:solidFill>
                      <a:prstDash val="solid"/>
                      <a:round/>
                      <a:headEnd type="none" w="med" len="med"/>
                      <a:tailEnd type="none" w="med" len="med"/>
                    </a:lnT>
                    <a:lnB w="12700" cap="flat" cmpd="sng" algn="ctr">
                      <a:solidFill>
                        <a:srgbClr val="173B5C"/>
                      </a:solidFill>
                      <a:prstDash val="solid"/>
                      <a:round/>
                      <a:headEnd type="none" w="med" len="med"/>
                      <a:tailEnd type="none" w="med" len="med"/>
                    </a:lnB>
                  </a:tcPr>
                </a:tc>
                <a:extLst>
                  <a:ext uri="{0D108BD9-81ED-4DB2-BD59-A6C34878D82A}">
                    <a16:rowId xmlns:a16="http://schemas.microsoft.com/office/drawing/2014/main" val="10000"/>
                  </a:ext>
                </a:extLst>
              </a:tr>
              <a:tr h="388812">
                <a:tc>
                  <a:txBody>
                    <a:bodyPr/>
                    <a:lstStyle/>
                    <a:p>
                      <a:pPr marL="0" indent="0" algn="l">
                        <a:buNone/>
                      </a:pPr>
                      <a:r>
                        <a:rPr lang="en-US" sz="1200" dirty="0">
                          <a:solidFill>
                            <a:srgbClr val="2A2E31"/>
                          </a:solidFill>
                          <a:latin typeface="IBM Plex Sans" pitchFamily="34" charset="0"/>
                          <a:ea typeface="IBM Plex Sans" pitchFamily="34" charset="-122"/>
                          <a:cs typeface="IBM Plex Sans" pitchFamily="34" charset="-120"/>
                        </a:rPr>
                        <a:t>Select valid FROM and TO</a:t>
                      </a:r>
                      <a:endParaRPr lang="en-US" sz="1200" dirty="0">
                        <a:latin typeface="IBM Plex Sans" charset="0"/>
                        <a:ea typeface="IBM Plex Sans" charset="0"/>
                        <a:cs typeface="IBM Plex Sans" charset="0"/>
                      </a:endParaRPr>
                    </a:p>
                  </a:txBody>
                  <a:tcPr marL="114300" marR="114300" marT="76200" marB="76200" anchor="ctr">
                    <a:lnL w="12700" cap="flat" cmpd="sng" algn="ctr">
                      <a:solidFill>
                        <a:srgbClr val="FBFAF6"/>
                      </a:solidFill>
                      <a:prstDash val="solid"/>
                      <a:round/>
                      <a:headEnd type="none" w="med" len="med"/>
                      <a:tailEnd type="none" w="med" len="med"/>
                    </a:lnL>
                    <a:lnR w="12700" cap="flat" cmpd="sng" algn="ctr">
                      <a:solidFill>
                        <a:srgbClr val="FBFAF6"/>
                      </a:solidFill>
                      <a:prstDash val="solid"/>
                      <a:round/>
                      <a:headEnd type="none" w="med" len="med"/>
                      <a:tailEnd type="none" w="med" len="med"/>
                    </a:lnR>
                    <a:lnT w="12700" cap="flat" cmpd="sng" algn="ctr">
                      <a:solidFill>
                        <a:srgbClr val="173B5C"/>
                      </a:solidFill>
                      <a:prstDash val="solid"/>
                      <a:round/>
                      <a:headEnd type="none" w="med" len="med"/>
                      <a:tailEnd type="none" w="med" len="med"/>
                    </a:lnT>
                    <a:lnB w="12700" cap="flat" cmpd="sng" algn="ctr">
                      <a:solidFill>
                        <a:srgbClr val="173B5C"/>
                      </a:solidFill>
                      <a:prstDash val="solid"/>
                      <a:round/>
                      <a:headEnd type="none" w="med" len="med"/>
                      <a:tailEnd type="none" w="med" len="med"/>
                    </a:lnB>
                  </a:tcPr>
                </a:tc>
                <a:tc>
                  <a:txBody>
                    <a:bodyPr/>
                    <a:lstStyle/>
                    <a:p>
                      <a:pPr marL="0" indent="0" algn="l">
                        <a:buNone/>
                      </a:pPr>
                      <a:r>
                        <a:rPr lang="en-US" sz="1200" dirty="0">
                          <a:solidFill>
                            <a:srgbClr val="2A2E31"/>
                          </a:solidFill>
                          <a:latin typeface="IBM Plex Sans" pitchFamily="34" charset="0"/>
                          <a:ea typeface="IBM Plex Sans" pitchFamily="34" charset="-122"/>
                          <a:cs typeface="IBM Plex Sans" pitchFamily="34" charset="-120"/>
                        </a:rPr>
                        <a:t>Relevant bus options displayed</a:t>
                      </a:r>
                      <a:endParaRPr lang="en-US" sz="1200" dirty="0">
                        <a:latin typeface="IBM Plex Sans" charset="0"/>
                        <a:ea typeface="IBM Plex Sans" charset="0"/>
                        <a:cs typeface="IBM Plex Sans" charset="0"/>
                      </a:endParaRPr>
                    </a:p>
                  </a:txBody>
                  <a:tcPr marL="114300" marR="114300" marT="76200" marB="76200" anchor="ctr">
                    <a:lnL w="12700" cap="flat" cmpd="sng" algn="ctr">
                      <a:solidFill>
                        <a:srgbClr val="FBFAF6"/>
                      </a:solidFill>
                      <a:prstDash val="solid"/>
                      <a:round/>
                      <a:headEnd type="none" w="med" len="med"/>
                      <a:tailEnd type="none" w="med" len="med"/>
                    </a:lnL>
                    <a:lnR w="12700" cap="flat" cmpd="sng" algn="ctr">
                      <a:solidFill>
                        <a:srgbClr val="FBFAF6"/>
                      </a:solidFill>
                      <a:prstDash val="solid"/>
                      <a:round/>
                      <a:headEnd type="none" w="med" len="med"/>
                      <a:tailEnd type="none" w="med" len="med"/>
                    </a:lnR>
                    <a:lnT w="12700" cap="flat" cmpd="sng" algn="ctr">
                      <a:solidFill>
                        <a:srgbClr val="173B5C"/>
                      </a:solidFill>
                      <a:prstDash val="solid"/>
                      <a:round/>
                      <a:headEnd type="none" w="med" len="med"/>
                      <a:tailEnd type="none" w="med" len="med"/>
                    </a:lnT>
                    <a:lnB w="12700" cap="flat" cmpd="sng" algn="ctr">
                      <a:solidFill>
                        <a:srgbClr val="173B5C"/>
                      </a:solidFill>
                      <a:prstDash val="solid"/>
                      <a:round/>
                      <a:headEnd type="none" w="med" len="med"/>
                      <a:tailEnd type="none" w="med" len="med"/>
                    </a:lnB>
                  </a:tcPr>
                </a:tc>
                <a:tc>
                  <a:txBody>
                    <a:bodyPr/>
                    <a:lstStyle/>
                    <a:p>
                      <a:pPr marL="0" indent="0" algn="l">
                        <a:buNone/>
                      </a:pPr>
                      <a:r>
                        <a:rPr lang="en-US" sz="1200" dirty="0">
                          <a:solidFill>
                            <a:srgbClr val="2A2E31"/>
                          </a:solidFill>
                          <a:latin typeface="IBM Plex Sans" pitchFamily="34" charset="0"/>
                          <a:ea typeface="IBM Plex Sans" pitchFamily="34" charset="-122"/>
                          <a:cs typeface="IBM Plex Sans" pitchFamily="34" charset="-120"/>
                        </a:rPr>
                        <a:t>Passed</a:t>
                      </a:r>
                      <a:endParaRPr lang="en-US" sz="1200" dirty="0">
                        <a:latin typeface="IBM Plex Sans" charset="0"/>
                        <a:ea typeface="IBM Plex Sans" charset="0"/>
                        <a:cs typeface="IBM Plex Sans" charset="0"/>
                      </a:endParaRPr>
                    </a:p>
                  </a:txBody>
                  <a:tcPr marL="114300" marR="114300" marT="76200" marB="76200" anchor="ctr">
                    <a:lnL w="12700" cap="flat" cmpd="sng" algn="ctr">
                      <a:solidFill>
                        <a:srgbClr val="FBFAF6"/>
                      </a:solidFill>
                      <a:prstDash val="solid"/>
                      <a:round/>
                      <a:headEnd type="none" w="med" len="med"/>
                      <a:tailEnd type="none" w="med" len="med"/>
                    </a:lnL>
                    <a:lnR w="12700" cap="flat" cmpd="sng" algn="ctr">
                      <a:solidFill>
                        <a:srgbClr val="FBFAF6"/>
                      </a:solidFill>
                      <a:prstDash val="solid"/>
                      <a:round/>
                      <a:headEnd type="none" w="med" len="med"/>
                      <a:tailEnd type="none" w="med" len="med"/>
                    </a:lnR>
                    <a:lnT w="12700" cap="flat" cmpd="sng" algn="ctr">
                      <a:solidFill>
                        <a:srgbClr val="173B5C"/>
                      </a:solidFill>
                      <a:prstDash val="solid"/>
                      <a:round/>
                      <a:headEnd type="none" w="med" len="med"/>
                      <a:tailEnd type="none" w="med" len="med"/>
                    </a:lnT>
                    <a:lnB w="12700" cap="flat" cmpd="sng" algn="ctr">
                      <a:solidFill>
                        <a:srgbClr val="173B5C"/>
                      </a:solidFill>
                      <a:prstDash val="solid"/>
                      <a:round/>
                      <a:headEnd type="none" w="med" len="med"/>
                      <a:tailEnd type="none" w="med" len="med"/>
                    </a:lnB>
                  </a:tcPr>
                </a:tc>
                <a:extLst>
                  <a:ext uri="{0D108BD9-81ED-4DB2-BD59-A6C34878D82A}">
                    <a16:rowId xmlns:a16="http://schemas.microsoft.com/office/drawing/2014/main" val="10001"/>
                  </a:ext>
                </a:extLst>
              </a:tr>
              <a:tr h="388812">
                <a:tc>
                  <a:txBody>
                    <a:bodyPr/>
                    <a:lstStyle/>
                    <a:p>
                      <a:pPr marL="0" indent="0" algn="l">
                        <a:buNone/>
                      </a:pPr>
                      <a:r>
                        <a:rPr lang="en-US" sz="1200" dirty="0">
                          <a:solidFill>
                            <a:srgbClr val="2A2E31"/>
                          </a:solidFill>
                          <a:latin typeface="IBM Plex Sans" pitchFamily="34" charset="0"/>
                          <a:ea typeface="IBM Plex Sans" pitchFamily="34" charset="-122"/>
                          <a:cs typeface="IBM Plex Sans" pitchFamily="34" charset="-120"/>
                        </a:rPr>
                        <a:t>View next-hour buses</a:t>
                      </a:r>
                      <a:endParaRPr lang="en-US" sz="1200" dirty="0">
                        <a:latin typeface="IBM Plex Sans" charset="0"/>
                        <a:ea typeface="IBM Plex Sans" charset="0"/>
                        <a:cs typeface="IBM Plex Sans" charset="0"/>
                      </a:endParaRPr>
                    </a:p>
                  </a:txBody>
                  <a:tcPr marL="114300" marR="114300" marT="76200" marB="76200" anchor="ctr">
                    <a:lnL w="12700" cap="flat" cmpd="sng" algn="ctr">
                      <a:solidFill>
                        <a:srgbClr val="FBFAF6"/>
                      </a:solidFill>
                      <a:prstDash val="solid"/>
                      <a:round/>
                      <a:headEnd type="none" w="med" len="med"/>
                      <a:tailEnd type="none" w="med" len="med"/>
                    </a:lnL>
                    <a:lnR w="12700" cap="flat" cmpd="sng" algn="ctr">
                      <a:solidFill>
                        <a:srgbClr val="FBFAF6"/>
                      </a:solidFill>
                      <a:prstDash val="solid"/>
                      <a:round/>
                      <a:headEnd type="none" w="med" len="med"/>
                      <a:tailEnd type="none" w="med" len="med"/>
                    </a:lnR>
                    <a:lnT w="12700" cap="flat" cmpd="sng" algn="ctr">
                      <a:solidFill>
                        <a:srgbClr val="173B5C"/>
                      </a:solidFill>
                      <a:prstDash val="solid"/>
                      <a:round/>
                      <a:headEnd type="none" w="med" len="med"/>
                      <a:tailEnd type="none" w="med" len="med"/>
                    </a:lnT>
                    <a:lnB w="12700" cap="flat" cmpd="sng" algn="ctr">
                      <a:solidFill>
                        <a:srgbClr val="173B5C"/>
                      </a:solidFill>
                      <a:prstDash val="solid"/>
                      <a:round/>
                      <a:headEnd type="none" w="med" len="med"/>
                      <a:tailEnd type="none" w="med" len="med"/>
                    </a:lnB>
                  </a:tcPr>
                </a:tc>
                <a:tc>
                  <a:txBody>
                    <a:bodyPr/>
                    <a:lstStyle/>
                    <a:p>
                      <a:pPr marL="0" indent="0" algn="l">
                        <a:buNone/>
                      </a:pPr>
                      <a:r>
                        <a:rPr lang="en-US" sz="1200" dirty="0">
                          <a:solidFill>
                            <a:srgbClr val="2A2E31"/>
                          </a:solidFill>
                          <a:latin typeface="IBM Plex Sans" pitchFamily="34" charset="0"/>
                          <a:ea typeface="IBM Plex Sans" pitchFamily="34" charset="-122"/>
                          <a:cs typeface="IBM Plex Sans" pitchFamily="34" charset="-120"/>
                        </a:rPr>
                        <a:t>Upcoming buses displayed</a:t>
                      </a:r>
                      <a:endParaRPr lang="en-US" sz="1200" dirty="0">
                        <a:latin typeface="IBM Plex Sans" charset="0"/>
                        <a:ea typeface="IBM Plex Sans" charset="0"/>
                        <a:cs typeface="IBM Plex Sans" charset="0"/>
                      </a:endParaRPr>
                    </a:p>
                  </a:txBody>
                  <a:tcPr marL="114300" marR="114300" marT="76200" marB="76200" anchor="ctr">
                    <a:lnL w="12700" cap="flat" cmpd="sng" algn="ctr">
                      <a:solidFill>
                        <a:srgbClr val="FBFAF6"/>
                      </a:solidFill>
                      <a:prstDash val="solid"/>
                      <a:round/>
                      <a:headEnd type="none" w="med" len="med"/>
                      <a:tailEnd type="none" w="med" len="med"/>
                    </a:lnL>
                    <a:lnR w="12700" cap="flat" cmpd="sng" algn="ctr">
                      <a:solidFill>
                        <a:srgbClr val="FBFAF6"/>
                      </a:solidFill>
                      <a:prstDash val="solid"/>
                      <a:round/>
                      <a:headEnd type="none" w="med" len="med"/>
                      <a:tailEnd type="none" w="med" len="med"/>
                    </a:lnR>
                    <a:lnT w="12700" cap="flat" cmpd="sng" algn="ctr">
                      <a:solidFill>
                        <a:srgbClr val="173B5C"/>
                      </a:solidFill>
                      <a:prstDash val="solid"/>
                      <a:round/>
                      <a:headEnd type="none" w="med" len="med"/>
                      <a:tailEnd type="none" w="med" len="med"/>
                    </a:lnT>
                    <a:lnB w="12700" cap="flat" cmpd="sng" algn="ctr">
                      <a:solidFill>
                        <a:srgbClr val="173B5C"/>
                      </a:solidFill>
                      <a:prstDash val="solid"/>
                      <a:round/>
                      <a:headEnd type="none" w="med" len="med"/>
                      <a:tailEnd type="none" w="med" len="med"/>
                    </a:lnB>
                  </a:tcPr>
                </a:tc>
                <a:tc>
                  <a:txBody>
                    <a:bodyPr/>
                    <a:lstStyle/>
                    <a:p>
                      <a:pPr marL="0" indent="0" algn="l">
                        <a:buNone/>
                      </a:pPr>
                      <a:r>
                        <a:rPr lang="en-US" sz="1200" dirty="0">
                          <a:solidFill>
                            <a:srgbClr val="2A2E31"/>
                          </a:solidFill>
                          <a:latin typeface="IBM Plex Sans" pitchFamily="34" charset="0"/>
                          <a:ea typeface="IBM Plex Sans" pitchFamily="34" charset="-122"/>
                          <a:cs typeface="IBM Plex Sans" pitchFamily="34" charset="-120"/>
                        </a:rPr>
                        <a:t>Passed</a:t>
                      </a:r>
                      <a:endParaRPr lang="en-US" sz="1200" dirty="0">
                        <a:latin typeface="IBM Plex Sans" charset="0"/>
                        <a:ea typeface="IBM Plex Sans" charset="0"/>
                        <a:cs typeface="IBM Plex Sans" charset="0"/>
                      </a:endParaRPr>
                    </a:p>
                  </a:txBody>
                  <a:tcPr marL="114300" marR="114300" marT="76200" marB="76200" anchor="ctr">
                    <a:lnL w="12700" cap="flat" cmpd="sng" algn="ctr">
                      <a:solidFill>
                        <a:srgbClr val="FBFAF6"/>
                      </a:solidFill>
                      <a:prstDash val="solid"/>
                      <a:round/>
                      <a:headEnd type="none" w="med" len="med"/>
                      <a:tailEnd type="none" w="med" len="med"/>
                    </a:lnL>
                    <a:lnR w="12700" cap="flat" cmpd="sng" algn="ctr">
                      <a:solidFill>
                        <a:srgbClr val="FBFAF6"/>
                      </a:solidFill>
                      <a:prstDash val="solid"/>
                      <a:round/>
                      <a:headEnd type="none" w="med" len="med"/>
                      <a:tailEnd type="none" w="med" len="med"/>
                    </a:lnR>
                    <a:lnT w="12700" cap="flat" cmpd="sng" algn="ctr">
                      <a:solidFill>
                        <a:srgbClr val="173B5C"/>
                      </a:solidFill>
                      <a:prstDash val="solid"/>
                      <a:round/>
                      <a:headEnd type="none" w="med" len="med"/>
                      <a:tailEnd type="none" w="med" len="med"/>
                    </a:lnT>
                    <a:lnB w="12700" cap="flat" cmpd="sng" algn="ctr">
                      <a:solidFill>
                        <a:srgbClr val="173B5C"/>
                      </a:solidFill>
                      <a:prstDash val="solid"/>
                      <a:round/>
                      <a:headEnd type="none" w="med" len="med"/>
                      <a:tailEnd type="none" w="med" len="med"/>
                    </a:lnB>
                  </a:tcPr>
                </a:tc>
                <a:extLst>
                  <a:ext uri="{0D108BD9-81ED-4DB2-BD59-A6C34878D82A}">
                    <a16:rowId xmlns:a16="http://schemas.microsoft.com/office/drawing/2014/main" val="10002"/>
                  </a:ext>
                </a:extLst>
              </a:tr>
              <a:tr h="388812">
                <a:tc>
                  <a:txBody>
                    <a:bodyPr/>
                    <a:lstStyle/>
                    <a:p>
                      <a:pPr marL="0" indent="0" algn="l">
                        <a:buNone/>
                      </a:pPr>
                      <a:r>
                        <a:rPr lang="en-US" sz="1200" dirty="0">
                          <a:solidFill>
                            <a:srgbClr val="2A2E31"/>
                          </a:solidFill>
                          <a:latin typeface="IBM Plex Sans" pitchFamily="34" charset="0"/>
                          <a:ea typeface="IBM Plex Sans" pitchFamily="34" charset="-122"/>
                          <a:cs typeface="IBM Plex Sans" pitchFamily="34" charset="-120"/>
                        </a:rPr>
                        <a:t>Check bus condition</a:t>
                      </a:r>
                      <a:endParaRPr lang="en-US" sz="1200" dirty="0">
                        <a:latin typeface="IBM Plex Sans" charset="0"/>
                        <a:ea typeface="IBM Plex Sans" charset="0"/>
                        <a:cs typeface="IBM Plex Sans" charset="0"/>
                      </a:endParaRPr>
                    </a:p>
                  </a:txBody>
                  <a:tcPr marL="114300" marR="114300" marT="76200" marB="76200" anchor="ctr">
                    <a:lnL w="12700" cap="flat" cmpd="sng" algn="ctr">
                      <a:solidFill>
                        <a:srgbClr val="FBFAF6"/>
                      </a:solidFill>
                      <a:prstDash val="solid"/>
                      <a:round/>
                      <a:headEnd type="none" w="med" len="med"/>
                      <a:tailEnd type="none" w="med" len="med"/>
                    </a:lnL>
                    <a:lnR w="12700" cap="flat" cmpd="sng" algn="ctr">
                      <a:solidFill>
                        <a:srgbClr val="FBFAF6"/>
                      </a:solidFill>
                      <a:prstDash val="solid"/>
                      <a:round/>
                      <a:headEnd type="none" w="med" len="med"/>
                      <a:tailEnd type="none" w="med" len="med"/>
                    </a:lnR>
                    <a:lnT w="12700" cap="flat" cmpd="sng" algn="ctr">
                      <a:solidFill>
                        <a:srgbClr val="173B5C"/>
                      </a:solidFill>
                      <a:prstDash val="solid"/>
                      <a:round/>
                      <a:headEnd type="none" w="med" len="med"/>
                      <a:tailEnd type="none" w="med" len="med"/>
                    </a:lnT>
                    <a:lnB w="12700" cap="flat" cmpd="sng" algn="ctr">
                      <a:solidFill>
                        <a:srgbClr val="173B5C"/>
                      </a:solidFill>
                      <a:prstDash val="solid"/>
                      <a:round/>
                      <a:headEnd type="none" w="med" len="med"/>
                      <a:tailEnd type="none" w="med" len="med"/>
                    </a:lnB>
                  </a:tcPr>
                </a:tc>
                <a:tc>
                  <a:txBody>
                    <a:bodyPr/>
                    <a:lstStyle/>
                    <a:p>
                      <a:pPr marL="0" indent="0" algn="l">
                        <a:buNone/>
                      </a:pPr>
                      <a:r>
                        <a:rPr lang="en-US" sz="1200" dirty="0">
                          <a:solidFill>
                            <a:srgbClr val="2A2E31"/>
                          </a:solidFill>
                          <a:latin typeface="IBM Plex Sans" pitchFamily="34" charset="0"/>
                          <a:ea typeface="IBM Plex Sans" pitchFamily="34" charset="-122"/>
                          <a:cs typeface="IBM Plex Sans" pitchFamily="34" charset="-120"/>
                        </a:rPr>
                        <a:t>ETA, status and crowding visible</a:t>
                      </a:r>
                      <a:endParaRPr lang="en-US" sz="1200" dirty="0">
                        <a:latin typeface="IBM Plex Sans" charset="0"/>
                        <a:ea typeface="IBM Plex Sans" charset="0"/>
                        <a:cs typeface="IBM Plex Sans" charset="0"/>
                      </a:endParaRPr>
                    </a:p>
                  </a:txBody>
                  <a:tcPr marL="114300" marR="114300" marT="76200" marB="76200" anchor="ctr">
                    <a:lnL w="12700" cap="flat" cmpd="sng" algn="ctr">
                      <a:solidFill>
                        <a:srgbClr val="FBFAF6"/>
                      </a:solidFill>
                      <a:prstDash val="solid"/>
                      <a:round/>
                      <a:headEnd type="none" w="med" len="med"/>
                      <a:tailEnd type="none" w="med" len="med"/>
                    </a:lnL>
                    <a:lnR w="12700" cap="flat" cmpd="sng" algn="ctr">
                      <a:solidFill>
                        <a:srgbClr val="FBFAF6"/>
                      </a:solidFill>
                      <a:prstDash val="solid"/>
                      <a:round/>
                      <a:headEnd type="none" w="med" len="med"/>
                      <a:tailEnd type="none" w="med" len="med"/>
                    </a:lnR>
                    <a:lnT w="12700" cap="flat" cmpd="sng" algn="ctr">
                      <a:solidFill>
                        <a:srgbClr val="173B5C"/>
                      </a:solidFill>
                      <a:prstDash val="solid"/>
                      <a:round/>
                      <a:headEnd type="none" w="med" len="med"/>
                      <a:tailEnd type="none" w="med" len="med"/>
                    </a:lnT>
                    <a:lnB w="12700" cap="flat" cmpd="sng" algn="ctr">
                      <a:solidFill>
                        <a:srgbClr val="173B5C"/>
                      </a:solidFill>
                      <a:prstDash val="solid"/>
                      <a:round/>
                      <a:headEnd type="none" w="med" len="med"/>
                      <a:tailEnd type="none" w="med" len="med"/>
                    </a:lnB>
                  </a:tcPr>
                </a:tc>
                <a:tc>
                  <a:txBody>
                    <a:bodyPr/>
                    <a:lstStyle/>
                    <a:p>
                      <a:pPr marL="0" indent="0" algn="l">
                        <a:buNone/>
                      </a:pPr>
                      <a:r>
                        <a:rPr lang="en-US" sz="1200" dirty="0">
                          <a:solidFill>
                            <a:srgbClr val="2A2E31"/>
                          </a:solidFill>
                          <a:latin typeface="IBM Plex Sans" pitchFamily="34" charset="0"/>
                          <a:ea typeface="IBM Plex Sans" pitchFamily="34" charset="-122"/>
                          <a:cs typeface="IBM Plex Sans" pitchFamily="34" charset="-120"/>
                        </a:rPr>
                        <a:t>Passed</a:t>
                      </a:r>
                      <a:endParaRPr lang="en-US" sz="1200" dirty="0">
                        <a:latin typeface="IBM Plex Sans" charset="0"/>
                        <a:ea typeface="IBM Plex Sans" charset="0"/>
                        <a:cs typeface="IBM Plex Sans" charset="0"/>
                      </a:endParaRPr>
                    </a:p>
                  </a:txBody>
                  <a:tcPr marL="114300" marR="114300" marT="76200" marB="76200" anchor="ctr">
                    <a:lnL w="12700" cap="flat" cmpd="sng" algn="ctr">
                      <a:solidFill>
                        <a:srgbClr val="FBFAF6"/>
                      </a:solidFill>
                      <a:prstDash val="solid"/>
                      <a:round/>
                      <a:headEnd type="none" w="med" len="med"/>
                      <a:tailEnd type="none" w="med" len="med"/>
                    </a:lnL>
                    <a:lnR w="12700" cap="flat" cmpd="sng" algn="ctr">
                      <a:solidFill>
                        <a:srgbClr val="FBFAF6"/>
                      </a:solidFill>
                      <a:prstDash val="solid"/>
                      <a:round/>
                      <a:headEnd type="none" w="med" len="med"/>
                      <a:tailEnd type="none" w="med" len="med"/>
                    </a:lnR>
                    <a:lnT w="12700" cap="flat" cmpd="sng" algn="ctr">
                      <a:solidFill>
                        <a:srgbClr val="173B5C"/>
                      </a:solidFill>
                      <a:prstDash val="solid"/>
                      <a:round/>
                      <a:headEnd type="none" w="med" len="med"/>
                      <a:tailEnd type="none" w="med" len="med"/>
                    </a:lnT>
                    <a:lnB w="12700" cap="flat" cmpd="sng" algn="ctr">
                      <a:solidFill>
                        <a:srgbClr val="173B5C"/>
                      </a:solidFill>
                      <a:prstDash val="solid"/>
                      <a:round/>
                      <a:headEnd type="none" w="med" len="med"/>
                      <a:tailEnd type="none" w="med" len="med"/>
                    </a:lnB>
                  </a:tcPr>
                </a:tc>
                <a:extLst>
                  <a:ext uri="{0D108BD9-81ED-4DB2-BD59-A6C34878D82A}">
                    <a16:rowId xmlns:a16="http://schemas.microsoft.com/office/drawing/2014/main" val="10003"/>
                  </a:ext>
                </a:extLst>
              </a:tr>
              <a:tr h="388812">
                <a:tc>
                  <a:txBody>
                    <a:bodyPr/>
                    <a:lstStyle/>
                    <a:p>
                      <a:pPr marL="0" indent="0" algn="l">
                        <a:buNone/>
                      </a:pPr>
                      <a:r>
                        <a:rPr lang="en-US" sz="1200" dirty="0">
                          <a:solidFill>
                            <a:srgbClr val="2A2E31"/>
                          </a:solidFill>
                          <a:latin typeface="IBM Plex Sans" pitchFamily="34" charset="0"/>
                          <a:ea typeface="IBM Plex Sans" pitchFamily="34" charset="-122"/>
                          <a:cs typeface="IBM Plex Sans" pitchFamily="34" charset="-120"/>
                        </a:rPr>
                        <a:t>Open transport status</a:t>
                      </a:r>
                      <a:endParaRPr lang="en-US" sz="1200" dirty="0">
                        <a:latin typeface="IBM Plex Sans" charset="0"/>
                        <a:ea typeface="IBM Plex Sans" charset="0"/>
                        <a:cs typeface="IBM Plex Sans" charset="0"/>
                      </a:endParaRPr>
                    </a:p>
                  </a:txBody>
                  <a:tcPr marL="114300" marR="114300" marT="76200" marB="76200" anchor="ctr">
                    <a:lnL w="12700" cap="flat" cmpd="sng" algn="ctr">
                      <a:solidFill>
                        <a:srgbClr val="FBFAF6"/>
                      </a:solidFill>
                      <a:prstDash val="solid"/>
                      <a:round/>
                      <a:headEnd type="none" w="med" len="med"/>
                      <a:tailEnd type="none" w="med" len="med"/>
                    </a:lnL>
                    <a:lnR w="12700" cap="flat" cmpd="sng" algn="ctr">
                      <a:solidFill>
                        <a:srgbClr val="FBFAF6"/>
                      </a:solidFill>
                      <a:prstDash val="solid"/>
                      <a:round/>
                      <a:headEnd type="none" w="med" len="med"/>
                      <a:tailEnd type="none" w="med" len="med"/>
                    </a:lnR>
                    <a:lnT w="12700" cap="flat" cmpd="sng" algn="ctr">
                      <a:solidFill>
                        <a:srgbClr val="173B5C"/>
                      </a:solidFill>
                      <a:prstDash val="solid"/>
                      <a:round/>
                      <a:headEnd type="none" w="med" len="med"/>
                      <a:tailEnd type="none" w="med" len="med"/>
                    </a:lnT>
                    <a:lnB w="12700" cap="flat" cmpd="sng" algn="ctr">
                      <a:solidFill>
                        <a:srgbClr val="173B5C"/>
                      </a:solidFill>
                      <a:prstDash val="solid"/>
                      <a:round/>
                      <a:headEnd type="none" w="med" len="med"/>
                      <a:tailEnd type="none" w="med" len="med"/>
                    </a:lnB>
                  </a:tcPr>
                </a:tc>
                <a:tc>
                  <a:txBody>
                    <a:bodyPr/>
                    <a:lstStyle/>
                    <a:p>
                      <a:pPr marL="0" indent="0" algn="l">
                        <a:buNone/>
                      </a:pPr>
                      <a:r>
                        <a:rPr lang="en-US" sz="1200" dirty="0">
                          <a:solidFill>
                            <a:srgbClr val="2A2E31"/>
                          </a:solidFill>
                          <a:latin typeface="IBM Plex Sans" pitchFamily="34" charset="0"/>
                          <a:ea typeface="IBM Plex Sans" pitchFamily="34" charset="-122"/>
                          <a:cs typeface="IBM Plex Sans" pitchFamily="34" charset="-120"/>
                        </a:rPr>
                        <a:t>Status information displayed</a:t>
                      </a:r>
                      <a:endParaRPr lang="en-US" sz="1200" dirty="0">
                        <a:latin typeface="IBM Plex Sans" charset="0"/>
                        <a:ea typeface="IBM Plex Sans" charset="0"/>
                        <a:cs typeface="IBM Plex Sans" charset="0"/>
                      </a:endParaRPr>
                    </a:p>
                  </a:txBody>
                  <a:tcPr marL="114300" marR="114300" marT="76200" marB="76200" anchor="ctr">
                    <a:lnL w="12700" cap="flat" cmpd="sng" algn="ctr">
                      <a:solidFill>
                        <a:srgbClr val="FBFAF6"/>
                      </a:solidFill>
                      <a:prstDash val="solid"/>
                      <a:round/>
                      <a:headEnd type="none" w="med" len="med"/>
                      <a:tailEnd type="none" w="med" len="med"/>
                    </a:lnL>
                    <a:lnR w="12700" cap="flat" cmpd="sng" algn="ctr">
                      <a:solidFill>
                        <a:srgbClr val="FBFAF6"/>
                      </a:solidFill>
                      <a:prstDash val="solid"/>
                      <a:round/>
                      <a:headEnd type="none" w="med" len="med"/>
                      <a:tailEnd type="none" w="med" len="med"/>
                    </a:lnR>
                    <a:lnT w="12700" cap="flat" cmpd="sng" algn="ctr">
                      <a:solidFill>
                        <a:srgbClr val="173B5C"/>
                      </a:solidFill>
                      <a:prstDash val="solid"/>
                      <a:round/>
                      <a:headEnd type="none" w="med" len="med"/>
                      <a:tailEnd type="none" w="med" len="med"/>
                    </a:lnT>
                    <a:lnB w="12700" cap="flat" cmpd="sng" algn="ctr">
                      <a:solidFill>
                        <a:srgbClr val="173B5C"/>
                      </a:solidFill>
                      <a:prstDash val="solid"/>
                      <a:round/>
                      <a:headEnd type="none" w="med" len="med"/>
                      <a:tailEnd type="none" w="med" len="med"/>
                    </a:lnB>
                  </a:tcPr>
                </a:tc>
                <a:tc>
                  <a:txBody>
                    <a:bodyPr/>
                    <a:lstStyle/>
                    <a:p>
                      <a:pPr marL="0" indent="0" algn="l">
                        <a:buNone/>
                      </a:pPr>
                      <a:r>
                        <a:rPr lang="en-US" sz="1200" dirty="0">
                          <a:solidFill>
                            <a:srgbClr val="2A2E31"/>
                          </a:solidFill>
                          <a:latin typeface="IBM Plex Sans" pitchFamily="34" charset="0"/>
                          <a:ea typeface="IBM Plex Sans" pitchFamily="34" charset="-122"/>
                          <a:cs typeface="IBM Plex Sans" pitchFamily="34" charset="-120"/>
                        </a:rPr>
                        <a:t>Passed</a:t>
                      </a:r>
                      <a:endParaRPr lang="en-US" sz="1200" dirty="0">
                        <a:latin typeface="IBM Plex Sans" charset="0"/>
                        <a:ea typeface="IBM Plex Sans" charset="0"/>
                        <a:cs typeface="IBM Plex Sans" charset="0"/>
                      </a:endParaRPr>
                    </a:p>
                  </a:txBody>
                  <a:tcPr marL="114300" marR="114300" marT="76200" marB="76200" anchor="ctr">
                    <a:lnL w="12700" cap="flat" cmpd="sng" algn="ctr">
                      <a:solidFill>
                        <a:srgbClr val="FBFAF6"/>
                      </a:solidFill>
                      <a:prstDash val="solid"/>
                      <a:round/>
                      <a:headEnd type="none" w="med" len="med"/>
                      <a:tailEnd type="none" w="med" len="med"/>
                    </a:lnL>
                    <a:lnR w="12700" cap="flat" cmpd="sng" algn="ctr">
                      <a:solidFill>
                        <a:srgbClr val="FBFAF6"/>
                      </a:solidFill>
                      <a:prstDash val="solid"/>
                      <a:round/>
                      <a:headEnd type="none" w="med" len="med"/>
                      <a:tailEnd type="none" w="med" len="med"/>
                    </a:lnR>
                    <a:lnT w="12700" cap="flat" cmpd="sng" algn="ctr">
                      <a:solidFill>
                        <a:srgbClr val="173B5C"/>
                      </a:solidFill>
                      <a:prstDash val="solid"/>
                      <a:round/>
                      <a:headEnd type="none" w="med" len="med"/>
                      <a:tailEnd type="none" w="med" len="med"/>
                    </a:lnT>
                    <a:lnB w="12700" cap="flat" cmpd="sng" algn="ctr">
                      <a:solidFill>
                        <a:srgbClr val="173B5C"/>
                      </a:solidFill>
                      <a:prstDash val="solid"/>
                      <a:round/>
                      <a:headEnd type="none" w="med" len="med"/>
                      <a:tailEnd type="none" w="med" len="med"/>
                    </a:lnB>
                  </a:tcPr>
                </a:tc>
                <a:extLst>
                  <a:ext uri="{0D108BD9-81ED-4DB2-BD59-A6C34878D82A}">
                    <a16:rowId xmlns:a16="http://schemas.microsoft.com/office/drawing/2014/main" val="10004"/>
                  </a:ext>
                </a:extLst>
              </a:tr>
              <a:tr h="388812">
                <a:tc>
                  <a:txBody>
                    <a:bodyPr/>
                    <a:lstStyle/>
                    <a:p>
                      <a:pPr marL="0" indent="0" algn="l">
                        <a:buNone/>
                      </a:pPr>
                      <a:r>
                        <a:rPr lang="en-US" sz="1200" dirty="0">
                          <a:solidFill>
                            <a:srgbClr val="2A2E31"/>
                          </a:solidFill>
                          <a:latin typeface="IBM Plex Sans" pitchFamily="34" charset="0"/>
                          <a:ea typeface="IBM Plex Sans" pitchFamily="34" charset="-122"/>
                          <a:cs typeface="IBM Plex Sans" pitchFamily="34" charset="-120"/>
                        </a:rPr>
                        <a:t>Submit passenger report</a:t>
                      </a:r>
                      <a:endParaRPr lang="en-US" sz="1200" dirty="0">
                        <a:latin typeface="IBM Plex Sans" charset="0"/>
                        <a:ea typeface="IBM Plex Sans" charset="0"/>
                        <a:cs typeface="IBM Plex Sans" charset="0"/>
                      </a:endParaRPr>
                    </a:p>
                  </a:txBody>
                  <a:tcPr marL="114300" marR="114300" marT="76200" marB="76200" anchor="ctr">
                    <a:lnL w="12700" cap="flat" cmpd="sng" algn="ctr">
                      <a:solidFill>
                        <a:srgbClr val="FBFAF6"/>
                      </a:solidFill>
                      <a:prstDash val="solid"/>
                      <a:round/>
                      <a:headEnd type="none" w="med" len="med"/>
                      <a:tailEnd type="none" w="med" len="med"/>
                    </a:lnL>
                    <a:lnR w="12700" cap="flat" cmpd="sng" algn="ctr">
                      <a:solidFill>
                        <a:srgbClr val="FBFAF6"/>
                      </a:solidFill>
                      <a:prstDash val="solid"/>
                      <a:round/>
                      <a:headEnd type="none" w="med" len="med"/>
                      <a:tailEnd type="none" w="med" len="med"/>
                    </a:lnR>
                    <a:lnT w="12700" cap="flat" cmpd="sng" algn="ctr">
                      <a:solidFill>
                        <a:srgbClr val="173B5C"/>
                      </a:solidFill>
                      <a:prstDash val="solid"/>
                      <a:round/>
                      <a:headEnd type="none" w="med" len="med"/>
                      <a:tailEnd type="none" w="med" len="med"/>
                    </a:lnT>
                    <a:lnB w="12700" cap="flat" cmpd="sng" algn="ctr">
                      <a:solidFill>
                        <a:srgbClr val="173B5C"/>
                      </a:solidFill>
                      <a:prstDash val="solid"/>
                      <a:round/>
                      <a:headEnd type="none" w="med" len="med"/>
                      <a:tailEnd type="none" w="med" len="med"/>
                    </a:lnB>
                  </a:tcPr>
                </a:tc>
                <a:tc>
                  <a:txBody>
                    <a:bodyPr/>
                    <a:lstStyle/>
                    <a:p>
                      <a:pPr marL="0" indent="0" algn="l">
                        <a:buNone/>
                      </a:pPr>
                      <a:r>
                        <a:rPr lang="en-US" sz="1200" dirty="0">
                          <a:solidFill>
                            <a:srgbClr val="2A2E31"/>
                          </a:solidFill>
                          <a:latin typeface="IBM Plex Sans" pitchFamily="34" charset="0"/>
                          <a:ea typeface="IBM Plex Sans" pitchFamily="34" charset="-122"/>
                          <a:cs typeface="IBM Plex Sans" pitchFamily="34" charset="-120"/>
                        </a:rPr>
                        <a:t>Report interface available</a:t>
                      </a:r>
                      <a:endParaRPr lang="en-US" sz="1200" dirty="0">
                        <a:latin typeface="IBM Plex Sans" charset="0"/>
                        <a:ea typeface="IBM Plex Sans" charset="0"/>
                        <a:cs typeface="IBM Plex Sans" charset="0"/>
                      </a:endParaRPr>
                    </a:p>
                  </a:txBody>
                  <a:tcPr marL="114300" marR="114300" marT="76200" marB="76200" anchor="ctr">
                    <a:lnL w="12700" cap="flat" cmpd="sng" algn="ctr">
                      <a:solidFill>
                        <a:srgbClr val="FBFAF6"/>
                      </a:solidFill>
                      <a:prstDash val="solid"/>
                      <a:round/>
                      <a:headEnd type="none" w="med" len="med"/>
                      <a:tailEnd type="none" w="med" len="med"/>
                    </a:lnL>
                    <a:lnR w="12700" cap="flat" cmpd="sng" algn="ctr">
                      <a:solidFill>
                        <a:srgbClr val="FBFAF6"/>
                      </a:solidFill>
                      <a:prstDash val="solid"/>
                      <a:round/>
                      <a:headEnd type="none" w="med" len="med"/>
                      <a:tailEnd type="none" w="med" len="med"/>
                    </a:lnR>
                    <a:lnT w="12700" cap="flat" cmpd="sng" algn="ctr">
                      <a:solidFill>
                        <a:srgbClr val="173B5C"/>
                      </a:solidFill>
                      <a:prstDash val="solid"/>
                      <a:round/>
                      <a:headEnd type="none" w="med" len="med"/>
                      <a:tailEnd type="none" w="med" len="med"/>
                    </a:lnT>
                    <a:lnB w="12700" cap="flat" cmpd="sng" algn="ctr">
                      <a:solidFill>
                        <a:srgbClr val="173B5C"/>
                      </a:solidFill>
                      <a:prstDash val="solid"/>
                      <a:round/>
                      <a:headEnd type="none" w="med" len="med"/>
                      <a:tailEnd type="none" w="med" len="med"/>
                    </a:lnB>
                  </a:tcPr>
                </a:tc>
                <a:tc>
                  <a:txBody>
                    <a:bodyPr/>
                    <a:lstStyle/>
                    <a:p>
                      <a:pPr marL="0" indent="0" algn="l">
                        <a:buNone/>
                      </a:pPr>
                      <a:r>
                        <a:rPr lang="en-US" sz="1200" dirty="0">
                          <a:solidFill>
                            <a:srgbClr val="2A2E31"/>
                          </a:solidFill>
                          <a:latin typeface="IBM Plex Sans" pitchFamily="34" charset="0"/>
                          <a:ea typeface="IBM Plex Sans" pitchFamily="34" charset="-122"/>
                          <a:cs typeface="IBM Plex Sans" pitchFamily="34" charset="-120"/>
                        </a:rPr>
                        <a:t>Passed</a:t>
                      </a:r>
                      <a:endParaRPr lang="en-US" sz="1200" dirty="0">
                        <a:latin typeface="IBM Plex Sans" charset="0"/>
                        <a:ea typeface="IBM Plex Sans" charset="0"/>
                        <a:cs typeface="IBM Plex Sans" charset="0"/>
                      </a:endParaRPr>
                    </a:p>
                  </a:txBody>
                  <a:tcPr marL="114300" marR="114300" marT="76200" marB="76200" anchor="ctr">
                    <a:lnL w="12700" cap="flat" cmpd="sng" algn="ctr">
                      <a:solidFill>
                        <a:srgbClr val="FBFAF6"/>
                      </a:solidFill>
                      <a:prstDash val="solid"/>
                      <a:round/>
                      <a:headEnd type="none" w="med" len="med"/>
                      <a:tailEnd type="none" w="med" len="med"/>
                    </a:lnL>
                    <a:lnR w="12700" cap="flat" cmpd="sng" algn="ctr">
                      <a:solidFill>
                        <a:srgbClr val="FBFAF6"/>
                      </a:solidFill>
                      <a:prstDash val="solid"/>
                      <a:round/>
                      <a:headEnd type="none" w="med" len="med"/>
                      <a:tailEnd type="none" w="med" len="med"/>
                    </a:lnR>
                    <a:lnT w="12700" cap="flat" cmpd="sng" algn="ctr">
                      <a:solidFill>
                        <a:srgbClr val="173B5C"/>
                      </a:solidFill>
                      <a:prstDash val="solid"/>
                      <a:round/>
                      <a:headEnd type="none" w="med" len="med"/>
                      <a:tailEnd type="none" w="med" len="med"/>
                    </a:lnT>
                    <a:lnB w="12700" cap="flat" cmpd="sng" algn="ctr">
                      <a:solidFill>
                        <a:srgbClr val="173B5C"/>
                      </a:solidFill>
                      <a:prstDash val="solid"/>
                      <a:round/>
                      <a:headEnd type="none" w="med" len="med"/>
                      <a:tailEnd type="none" w="med" len="med"/>
                    </a:lnB>
                  </a:tcPr>
                </a:tc>
                <a:extLst>
                  <a:ext uri="{0D108BD9-81ED-4DB2-BD59-A6C34878D82A}">
                    <a16:rowId xmlns:a16="http://schemas.microsoft.com/office/drawing/2014/main" val="10005"/>
                  </a:ext>
                </a:extLst>
              </a:tr>
              <a:tr h="396690">
                <a:tc>
                  <a:txBody>
                    <a:bodyPr/>
                    <a:lstStyle/>
                    <a:p>
                      <a:pPr marL="0" indent="0">
                        <a:buNone/>
                      </a:pPr>
                      <a:endParaRPr lang="en-US" sz="1200" dirty="0">
                        <a:latin typeface="IBM Plex Sans" charset="0"/>
                        <a:ea typeface="IBM Plex Sans" charset="0"/>
                        <a:cs typeface="IBM Plex Sans" charset="0"/>
                      </a:endParaRPr>
                    </a:p>
                  </a:txBody>
                  <a:tcPr marL="114300" marR="114300" marT="76200" marB="76200" anchor="ctr">
                    <a:lnL w="12700" cap="flat" cmpd="sng" algn="ctr">
                      <a:solidFill>
                        <a:srgbClr val="FBFAF6"/>
                      </a:solidFill>
                      <a:prstDash val="solid"/>
                      <a:round/>
                      <a:headEnd type="none" w="med" len="med"/>
                      <a:tailEnd type="none" w="med" len="med"/>
                    </a:lnL>
                    <a:lnR w="12700" cap="flat" cmpd="sng" algn="ctr">
                      <a:solidFill>
                        <a:srgbClr val="FBFAF6"/>
                      </a:solidFill>
                      <a:prstDash val="solid"/>
                      <a:round/>
                      <a:headEnd type="none" w="med" len="med"/>
                      <a:tailEnd type="none" w="med" len="med"/>
                    </a:lnR>
                    <a:lnT w="12700" cap="flat" cmpd="sng" algn="ctr">
                      <a:solidFill>
                        <a:srgbClr val="173B5C"/>
                      </a:solidFill>
                      <a:prstDash val="solid"/>
                      <a:round/>
                      <a:headEnd type="none" w="med" len="med"/>
                      <a:tailEnd type="none" w="med" len="med"/>
                    </a:lnT>
                    <a:lnB w="12700" cap="flat" cmpd="sng" algn="ctr">
                      <a:solidFill>
                        <a:srgbClr val="FBFAF6"/>
                      </a:solidFill>
                      <a:prstDash val="solid"/>
                      <a:round/>
                      <a:headEnd type="none" w="med" len="med"/>
                      <a:tailEnd type="none" w="med" len="med"/>
                    </a:lnB>
                  </a:tcPr>
                </a:tc>
                <a:tc>
                  <a:txBody>
                    <a:bodyPr/>
                    <a:lstStyle/>
                    <a:p>
                      <a:pPr marL="0" indent="0">
                        <a:buNone/>
                      </a:pPr>
                      <a:endParaRPr lang="en-US" sz="1200" dirty="0">
                        <a:latin typeface="IBM Plex Sans" charset="0"/>
                        <a:ea typeface="IBM Plex Sans" charset="0"/>
                        <a:cs typeface="IBM Plex Sans" charset="0"/>
                      </a:endParaRPr>
                    </a:p>
                  </a:txBody>
                  <a:tcPr marL="114300" marR="114300" marT="76200" marB="76200" anchor="ctr">
                    <a:lnL w="12700" cap="flat" cmpd="sng" algn="ctr">
                      <a:solidFill>
                        <a:srgbClr val="FBFAF6"/>
                      </a:solidFill>
                      <a:prstDash val="solid"/>
                      <a:round/>
                      <a:headEnd type="none" w="med" len="med"/>
                      <a:tailEnd type="none" w="med" len="med"/>
                    </a:lnL>
                    <a:lnR w="12700" cap="flat" cmpd="sng" algn="ctr">
                      <a:solidFill>
                        <a:srgbClr val="FBFAF6"/>
                      </a:solidFill>
                      <a:prstDash val="solid"/>
                      <a:round/>
                      <a:headEnd type="none" w="med" len="med"/>
                      <a:tailEnd type="none" w="med" len="med"/>
                    </a:lnR>
                    <a:lnT w="12700" cap="flat" cmpd="sng" algn="ctr">
                      <a:solidFill>
                        <a:srgbClr val="173B5C"/>
                      </a:solidFill>
                      <a:prstDash val="solid"/>
                      <a:round/>
                      <a:headEnd type="none" w="med" len="med"/>
                      <a:tailEnd type="none" w="med" len="med"/>
                    </a:lnT>
                    <a:lnB w="12700" cap="flat" cmpd="sng" algn="ctr">
                      <a:solidFill>
                        <a:srgbClr val="FBFAF6"/>
                      </a:solidFill>
                      <a:prstDash val="solid"/>
                      <a:round/>
                      <a:headEnd type="none" w="med" len="med"/>
                      <a:tailEnd type="none" w="med" len="med"/>
                    </a:lnB>
                  </a:tcPr>
                </a:tc>
                <a:tc>
                  <a:txBody>
                    <a:bodyPr/>
                    <a:lstStyle/>
                    <a:p>
                      <a:pPr marL="0" indent="0">
                        <a:buNone/>
                      </a:pPr>
                      <a:endParaRPr lang="en-US" sz="1200" dirty="0">
                        <a:latin typeface="IBM Plex Sans" charset="0"/>
                        <a:ea typeface="IBM Plex Sans" charset="0"/>
                        <a:cs typeface="IBM Plex Sans" charset="0"/>
                      </a:endParaRPr>
                    </a:p>
                  </a:txBody>
                  <a:tcPr marL="114300" marR="114300" marT="76200" marB="76200" anchor="ctr">
                    <a:lnL w="12700" cap="flat" cmpd="sng" algn="ctr">
                      <a:solidFill>
                        <a:srgbClr val="FBFAF6"/>
                      </a:solidFill>
                      <a:prstDash val="solid"/>
                      <a:round/>
                      <a:headEnd type="none" w="med" len="med"/>
                      <a:tailEnd type="none" w="med" len="med"/>
                    </a:lnL>
                    <a:lnR w="12700" cap="flat" cmpd="sng" algn="ctr">
                      <a:solidFill>
                        <a:srgbClr val="FBFAF6"/>
                      </a:solidFill>
                      <a:prstDash val="solid"/>
                      <a:round/>
                      <a:headEnd type="none" w="med" len="med"/>
                      <a:tailEnd type="none" w="med" len="med"/>
                    </a:lnR>
                    <a:lnT w="12700" cap="flat" cmpd="sng" algn="ctr">
                      <a:solidFill>
                        <a:srgbClr val="173B5C"/>
                      </a:solidFill>
                      <a:prstDash val="solid"/>
                      <a:round/>
                      <a:headEnd type="none" w="med" len="med"/>
                      <a:tailEnd type="none" w="med" len="med"/>
                    </a:lnT>
                    <a:lnB w="12700" cap="flat" cmpd="sng" algn="ctr">
                      <a:solidFill>
                        <a:srgbClr val="FBFAF6"/>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12" name="Text 9"/>
          <p:cNvSpPr/>
          <p:nvPr/>
        </p:nvSpPr>
        <p:spPr>
          <a:xfrm>
            <a:off x="660390" y="7817488"/>
            <a:ext cx="2968280" cy="671653"/>
          </a:xfrm>
          <a:prstGeom prst="rect">
            <a:avLst/>
          </a:prstGeom>
          <a:noFill/>
          <a:ln/>
        </p:spPr>
        <p:txBody>
          <a:bodyPr wrap="square" lIns="0" tIns="0" rIns="0" bIns="0" rtlCol="0" anchor="t">
            <a:normAutofit/>
          </a:bodyPr>
          <a:lstStyle/>
          <a:p>
            <a:pPr marL="0" indent="0" algn="l">
              <a:lnSpc>
                <a:spcPct val="96000"/>
              </a:lnSpc>
              <a:buNone/>
            </a:pPr>
            <a:r>
              <a:rPr lang="en-US" sz="2300" kern="100" spc="-11" dirty="0">
                <a:solidFill>
                  <a:srgbClr val="173B5C"/>
                </a:solidFill>
                <a:latin typeface="Newsreader SemiBold" pitchFamily="34" charset="0"/>
                <a:ea typeface="Newsreader SemiBold" pitchFamily="34" charset="-122"/>
                <a:cs typeface="Newsreader SemiBold" pitchFamily="34" charset="-120"/>
              </a:rPr>
              <a:t>8.3 Current limitations</a:t>
            </a:r>
            <a:endParaRPr lang="en-US" sz="2300" dirty="0"/>
          </a:p>
        </p:txBody>
      </p:sp>
      <p:sp>
        <p:nvSpPr>
          <p:cNvPr id="13" name="Text 10"/>
          <p:cNvSpPr/>
          <p:nvPr/>
        </p:nvSpPr>
        <p:spPr>
          <a:xfrm>
            <a:off x="660390" y="8679608"/>
            <a:ext cx="2968280" cy="1599930"/>
          </a:xfrm>
          <a:prstGeom prst="rect">
            <a:avLst/>
          </a:prstGeom>
          <a:noFill/>
          <a:ln/>
        </p:spPr>
        <p:txBody>
          <a:bodyPr wrap="square" lIns="0" tIns="0" rIns="0" bIns="0" rtlCol="0" anchor="t">
            <a:normAutofit/>
          </a:bodyPr>
          <a:lstStyle/>
          <a:p>
            <a:pPr marL="0" indent="0" algn="l">
              <a:lnSpc>
                <a:spcPct val="125000"/>
              </a:lnSpc>
              <a:buNone/>
            </a:pPr>
            <a:r>
              <a:rPr lang="en-US" sz="1200" dirty="0">
                <a:solidFill>
                  <a:srgbClr val="2A2E31"/>
                </a:solidFill>
                <a:latin typeface="IBM Plex Sans" pitchFamily="34" charset="0"/>
                <a:ea typeface="IBM Plex Sans" pitchFamily="34" charset="-122"/>
                <a:cs typeface="IBM Plex Sans" pitchFamily="34" charset="-120"/>
              </a:rPr>
              <a:t>Prototype uses demo or simulated transport information; actual real-time GPS integration is not currently demonstrated; passenger reports may require validation in a production system; recommendation quality depends on the availability and accuracy of transport data.</a:t>
            </a:r>
            <a:endParaRPr lang="en-US" sz="1200" dirty="0"/>
          </a:p>
        </p:txBody>
      </p:sp>
      <p:sp>
        <p:nvSpPr>
          <p:cNvPr id="14" name="Text 11"/>
          <p:cNvSpPr/>
          <p:nvPr/>
        </p:nvSpPr>
        <p:spPr>
          <a:xfrm>
            <a:off x="3933418" y="7817488"/>
            <a:ext cx="2968280" cy="335826"/>
          </a:xfrm>
          <a:prstGeom prst="rect">
            <a:avLst/>
          </a:prstGeom>
          <a:noFill/>
          <a:ln/>
        </p:spPr>
        <p:txBody>
          <a:bodyPr wrap="none" lIns="0" tIns="0" rIns="0" bIns="0" rtlCol="0" anchor="t"/>
          <a:lstStyle/>
          <a:p>
            <a:pPr marL="0" indent="0" algn="l">
              <a:lnSpc>
                <a:spcPct val="96000"/>
              </a:lnSpc>
              <a:buNone/>
            </a:pPr>
            <a:r>
              <a:rPr lang="en-US" sz="2300" kern="100" spc="-11" dirty="0">
                <a:solidFill>
                  <a:srgbClr val="173B5C"/>
                </a:solidFill>
                <a:latin typeface="Newsreader SemiBold" pitchFamily="34" charset="0"/>
                <a:ea typeface="Newsreader SemiBold" pitchFamily="34" charset="-122"/>
                <a:cs typeface="Newsreader SemiBold" pitchFamily="34" charset="-120"/>
              </a:rPr>
              <a:t>8.4 Future scope</a:t>
            </a:r>
            <a:endParaRPr lang="en-US" sz="2300" dirty="0"/>
          </a:p>
        </p:txBody>
      </p:sp>
      <p:sp>
        <p:nvSpPr>
          <p:cNvPr id="15" name="Text 12"/>
          <p:cNvSpPr/>
          <p:nvPr/>
        </p:nvSpPr>
        <p:spPr>
          <a:xfrm>
            <a:off x="3933418" y="8343782"/>
            <a:ext cx="2968280" cy="2057052"/>
          </a:xfrm>
          <a:prstGeom prst="rect">
            <a:avLst/>
          </a:prstGeom>
          <a:noFill/>
          <a:ln/>
        </p:spPr>
        <p:txBody>
          <a:bodyPr wrap="square" lIns="0" tIns="0" rIns="0" bIns="0" rtlCol="0" anchor="t">
            <a:normAutofit/>
          </a:bodyPr>
          <a:lstStyle/>
          <a:p>
            <a:pPr marL="0" indent="0" algn="l">
              <a:lnSpc>
                <a:spcPct val="125000"/>
              </a:lnSpc>
              <a:buNone/>
            </a:pPr>
            <a:r>
              <a:rPr lang="en-US" sz="1200" dirty="0">
                <a:solidFill>
                  <a:srgbClr val="2A2E31"/>
                </a:solidFill>
                <a:latin typeface="IBM Plex Sans" pitchFamily="34" charset="0"/>
                <a:ea typeface="IBM Plex Sans" pitchFamily="34" charset="-122"/>
                <a:cs typeface="IBM Plex Sans" pitchFamily="34" charset="-120"/>
              </a:rPr>
              <a:t>Real-time GPS integration; live vehicle tracking; real-time crowd estimation; push notifications; personalized route preferences; historical travel analytics; public transport API integration; smarter recommendation algorithms; a mobile application; authentication and user profiles; and data validation and fraud prevention.</a:t>
            </a:r>
            <a:endParaRPr lang="en-US" sz="1200" dirty="0"/>
          </a:p>
        </p:txBody>
      </p:sp>
      <p:sp>
        <p:nvSpPr>
          <p:cNvPr id="16" name="Shape 13"/>
          <p:cNvSpPr/>
          <p:nvPr/>
        </p:nvSpPr>
        <p:spPr>
          <a:xfrm>
            <a:off x="0" y="10130548"/>
            <a:ext cx="7562088" cy="9477"/>
          </a:xfrm>
          <a:prstGeom prst="rect">
            <a:avLst/>
          </a:prstGeom>
          <a:solidFill>
            <a:srgbClr val="2A2E31">
              <a:alpha val="20000"/>
            </a:srgbClr>
          </a:solidFill>
          <a:ln/>
        </p:spPr>
      </p:sp>
      <p:sp>
        <p:nvSpPr>
          <p:cNvPr id="17" name="Text 14"/>
          <p:cNvSpPr/>
          <p:nvPr/>
        </p:nvSpPr>
        <p:spPr>
          <a:xfrm>
            <a:off x="660390" y="10324216"/>
            <a:ext cx="773194" cy="171390"/>
          </a:xfrm>
          <a:prstGeom prst="rect">
            <a:avLst/>
          </a:prstGeom>
          <a:noFill/>
          <a:ln/>
        </p:spPr>
        <p:txBody>
          <a:bodyPr wrap="none" lIns="0" tIns="0" rIns="0" bIns="0" rtlCol="0" anchor="ctr"/>
          <a:lstStyle/>
          <a:p>
            <a:pPr marL="0" indent="0" algn="l">
              <a:lnSpc>
                <a:spcPct val="125000"/>
              </a:lnSpc>
              <a:buNone/>
            </a:pPr>
            <a:r>
              <a:rPr lang="en-US" sz="900" kern="100" spc="68" dirty="0">
                <a:solidFill>
                  <a:srgbClr val="2A2E31"/>
                </a:solidFill>
                <a:latin typeface="IBM Plex Sans" pitchFamily="34" charset="0"/>
                <a:ea typeface="IBM Plex Sans" pitchFamily="34" charset="-122"/>
                <a:cs typeface="IBM Plex Sans" pitchFamily="34" charset="-120"/>
              </a:rPr>
              <a:t>MOVIT</a:t>
            </a:r>
            <a:endParaRPr lang="en-US" sz="900" dirty="0"/>
          </a:p>
        </p:txBody>
      </p:sp>
      <p:sp>
        <p:nvSpPr>
          <p:cNvPr id="18" name="Text 15"/>
          <p:cNvSpPr/>
          <p:nvPr/>
        </p:nvSpPr>
        <p:spPr>
          <a:xfrm>
            <a:off x="6747416" y="10324216"/>
            <a:ext cx="532386" cy="171390"/>
          </a:xfrm>
          <a:prstGeom prst="rect">
            <a:avLst/>
          </a:prstGeom>
          <a:noFill/>
          <a:ln/>
        </p:spPr>
        <p:txBody>
          <a:bodyPr wrap="none" lIns="0" tIns="0" rIns="0" bIns="0" rtlCol="0" anchor="ctr"/>
          <a:lstStyle/>
          <a:p>
            <a:pPr marL="0" indent="0" algn="l">
              <a:lnSpc>
                <a:spcPct val="125000"/>
              </a:lnSpc>
              <a:buNone/>
            </a:pPr>
            <a:r>
              <a:rPr lang="en-US" sz="900" kern="100" spc="68" dirty="0">
                <a:solidFill>
                  <a:srgbClr val="2A2E31"/>
                </a:solidFill>
                <a:latin typeface="IBM Plex Sans" pitchFamily="34" charset="0"/>
                <a:ea typeface="IBM Plex Sans" pitchFamily="34" charset="-122"/>
                <a:cs typeface="IBM Plex Sans"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0390" y="193668"/>
            <a:ext cx="773194" cy="171390"/>
          </a:xfrm>
          <a:prstGeom prst="rect">
            <a:avLst/>
          </a:prstGeom>
          <a:noFill/>
          <a:ln/>
        </p:spPr>
        <p:txBody>
          <a:bodyPr wrap="none" lIns="0" tIns="0" rIns="0" bIns="0" rtlCol="0" anchor="ctr"/>
          <a:lstStyle/>
          <a:p>
            <a:pPr marL="0" indent="0" algn="l">
              <a:lnSpc>
                <a:spcPct val="125000"/>
              </a:lnSpc>
              <a:buNone/>
            </a:pPr>
            <a:r>
              <a:rPr lang="en-US" sz="900" kern="100" spc="68" dirty="0">
                <a:solidFill>
                  <a:srgbClr val="2A2E31"/>
                </a:solidFill>
                <a:latin typeface="IBM Plex Sans" pitchFamily="34" charset="0"/>
                <a:ea typeface="IBM Plex Sans" pitchFamily="34" charset="-122"/>
                <a:cs typeface="IBM Plex Sans" pitchFamily="34" charset="-120"/>
              </a:rPr>
              <a:t>MOVIT</a:t>
            </a:r>
            <a:endParaRPr lang="en-US" sz="900" dirty="0"/>
          </a:p>
        </p:txBody>
      </p:sp>
      <p:sp>
        <p:nvSpPr>
          <p:cNvPr id="3" name="Text 1"/>
          <p:cNvSpPr/>
          <p:nvPr/>
        </p:nvSpPr>
        <p:spPr>
          <a:xfrm>
            <a:off x="6506608" y="193668"/>
            <a:ext cx="773194" cy="171390"/>
          </a:xfrm>
          <a:prstGeom prst="rect">
            <a:avLst/>
          </a:prstGeom>
          <a:noFill/>
          <a:ln/>
        </p:spPr>
        <p:txBody>
          <a:bodyPr wrap="none" lIns="0" tIns="0" rIns="0" bIns="0" rtlCol="0" anchor="ctr"/>
          <a:lstStyle/>
          <a:p>
            <a:pPr marL="0" indent="0" algn="l">
              <a:lnSpc>
                <a:spcPct val="125000"/>
              </a:lnSpc>
              <a:buNone/>
            </a:pPr>
            <a:r>
              <a:rPr lang="en-US" sz="900" kern="100" spc="68" dirty="0">
                <a:solidFill>
                  <a:srgbClr val="2A2E31"/>
                </a:solidFill>
                <a:latin typeface="IBM Plex Sans" pitchFamily="34" charset="0"/>
                <a:ea typeface="IBM Plex Sans" pitchFamily="34" charset="-122"/>
                <a:cs typeface="IBM Plex Sans" pitchFamily="34" charset="-120"/>
              </a:rPr>
              <a:t>MOVIT</a:t>
            </a:r>
            <a:endParaRPr lang="en-US" sz="900" dirty="0"/>
          </a:p>
        </p:txBody>
      </p:sp>
      <p:sp>
        <p:nvSpPr>
          <p:cNvPr id="4" name="Shape 2"/>
          <p:cNvSpPr/>
          <p:nvPr/>
        </p:nvSpPr>
        <p:spPr>
          <a:xfrm>
            <a:off x="0" y="549310"/>
            <a:ext cx="7562088" cy="9477"/>
          </a:xfrm>
          <a:prstGeom prst="rect">
            <a:avLst/>
          </a:prstGeom>
          <a:solidFill>
            <a:srgbClr val="2A2E31">
              <a:alpha val="20000"/>
            </a:srgbClr>
          </a:solidFill>
          <a:ln/>
        </p:spPr>
      </p:sp>
      <p:sp>
        <p:nvSpPr>
          <p:cNvPr id="5" name="Text 3"/>
          <p:cNvSpPr/>
          <p:nvPr/>
        </p:nvSpPr>
        <p:spPr>
          <a:xfrm>
            <a:off x="660390" y="1225132"/>
            <a:ext cx="6619412" cy="166652"/>
          </a:xfrm>
          <a:prstGeom prst="rect">
            <a:avLst/>
          </a:prstGeom>
          <a:noFill/>
          <a:ln/>
        </p:spPr>
        <p:txBody>
          <a:bodyPr wrap="none" lIns="0" tIns="0" rIns="0" bIns="0" rtlCol="0" anchor="t"/>
          <a:lstStyle/>
          <a:p>
            <a:pPr marL="0" indent="0" algn="l">
              <a:lnSpc>
                <a:spcPct val="104000"/>
              </a:lnSpc>
              <a:buNone/>
            </a:pPr>
            <a:r>
              <a:rPr lang="en-US" sz="1050" kern="100" spc="79" dirty="0">
                <a:solidFill>
                  <a:srgbClr val="2F7468"/>
                </a:solidFill>
                <a:latin typeface="IBM Plex Sans SemiBold" pitchFamily="34" charset="0"/>
                <a:ea typeface="IBM Plex Sans SemiBold" pitchFamily="34" charset="-122"/>
                <a:cs typeface="IBM Plex Sans SemiBold" pitchFamily="34" charset="-120"/>
              </a:rPr>
              <a:t>09 · CONCLUSION</a:t>
            </a:r>
            <a:endParaRPr lang="en-US" sz="1050" dirty="0"/>
          </a:p>
        </p:txBody>
      </p:sp>
      <p:sp>
        <p:nvSpPr>
          <p:cNvPr id="6" name="Text 4"/>
          <p:cNvSpPr/>
          <p:nvPr/>
        </p:nvSpPr>
        <p:spPr>
          <a:xfrm>
            <a:off x="660390" y="1462017"/>
            <a:ext cx="6241307" cy="350473"/>
          </a:xfrm>
          <a:prstGeom prst="rect">
            <a:avLst/>
          </a:prstGeom>
          <a:noFill/>
          <a:ln/>
        </p:spPr>
        <p:txBody>
          <a:bodyPr wrap="none" lIns="0" tIns="0" rIns="0" bIns="0" rtlCol="0" anchor="t"/>
          <a:lstStyle/>
          <a:p>
            <a:pPr marL="0" indent="0" algn="l">
              <a:lnSpc>
                <a:spcPct val="96000"/>
              </a:lnSpc>
              <a:buNone/>
            </a:pPr>
            <a:r>
              <a:rPr lang="en-US" sz="2400" kern="100" spc="-12" dirty="0">
                <a:solidFill>
                  <a:srgbClr val="173B5C"/>
                </a:solidFill>
                <a:latin typeface="Newsreader SemiBold" pitchFamily="34" charset="0"/>
                <a:ea typeface="Newsreader SemiBold" pitchFamily="34" charset="-122"/>
                <a:cs typeface="Newsreader SemiBold" pitchFamily="34" charset="-120"/>
              </a:rPr>
              <a:t>9. Conclusion</a:t>
            </a:r>
            <a:endParaRPr lang="en-US" sz="2400" dirty="0"/>
          </a:p>
        </p:txBody>
      </p:sp>
      <p:sp>
        <p:nvSpPr>
          <p:cNvPr id="7" name="Shape 5"/>
          <p:cNvSpPr/>
          <p:nvPr/>
        </p:nvSpPr>
        <p:spPr>
          <a:xfrm>
            <a:off x="660390" y="2041052"/>
            <a:ext cx="1560296" cy="31509"/>
          </a:xfrm>
          <a:prstGeom prst="roundRect">
            <a:avLst>
              <a:gd name="adj" fmla="val 50000"/>
            </a:avLst>
          </a:prstGeom>
          <a:solidFill>
            <a:srgbClr val="B8581A"/>
          </a:solidFill>
          <a:ln/>
        </p:spPr>
      </p:sp>
      <p:sp>
        <p:nvSpPr>
          <p:cNvPr id="8" name="Text 6"/>
          <p:cNvSpPr/>
          <p:nvPr/>
        </p:nvSpPr>
        <p:spPr>
          <a:xfrm>
            <a:off x="660390" y="2282229"/>
            <a:ext cx="6095949" cy="2457004"/>
          </a:xfrm>
          <a:prstGeom prst="rect">
            <a:avLst/>
          </a:prstGeom>
          <a:noFill/>
          <a:ln/>
        </p:spPr>
        <p:txBody>
          <a:bodyPr wrap="square" lIns="0" tIns="0" rIns="0" bIns="0" rtlCol="0" anchor="t">
            <a:normAutofit/>
          </a:bodyPr>
          <a:lstStyle/>
          <a:p>
            <a:pPr marL="0" indent="0" algn="l">
              <a:lnSpc>
                <a:spcPct val="125000"/>
              </a:lnSpc>
              <a:spcAft>
                <a:spcPts val="1300"/>
              </a:spcAft>
              <a:buNone/>
            </a:pPr>
            <a:r>
              <a:rPr lang="en-US" sz="1200" dirty="0">
                <a:solidFill>
                  <a:srgbClr val="2A2E31"/>
                </a:solidFill>
                <a:latin typeface="IBM Plex Sans" pitchFamily="34" charset="0"/>
                <a:ea typeface="IBM Plex Sans" pitchFamily="34" charset="-122"/>
                <a:cs typeface="IBM Plex Sans" pitchFamily="34" charset="-120"/>
              </a:rPr>
              <a:t>Passengers do not always need the first bus. They need enough information to choose the bus that best fits their journey. MOVIT addresses this practical problem by bringing bus availability, arrival information, delay information, crowding information, route status, passenger reports, and a bus recommendation into one focused decision-support experience.</a:t>
            </a:r>
            <a:endParaRPr lang="en-US" sz="1200" dirty="0"/>
          </a:p>
          <a:p>
            <a:pPr marL="0" indent="0" algn="l">
              <a:lnSpc>
                <a:spcPct val="125000"/>
              </a:lnSpc>
              <a:buNone/>
            </a:pPr>
            <a:r>
              <a:rPr lang="en-US" sz="1200" dirty="0">
                <a:solidFill>
                  <a:srgbClr val="2A2E31"/>
                </a:solidFill>
                <a:latin typeface="IBM Plex Sans" pitchFamily="34" charset="0"/>
                <a:ea typeface="IBM Plex Sans" pitchFamily="34" charset="-122"/>
                <a:cs typeface="IBM Plex Sans" pitchFamily="34" charset="-120"/>
              </a:rPr>
              <a:t>As a prototype, MOVIT demonstrates the concept without overstating the maturity of its data infrastructure. Its value lies in making the decision visible: passengers can see the available alternatives, understand the conditions attached to each one, and make a more informed choice. The same foundation can later support real-time transport integrations, stronger validation, personalization, and broader mobility services.</a:t>
            </a:r>
            <a:endParaRPr lang="en-US" sz="1200" dirty="0"/>
          </a:p>
        </p:txBody>
      </p:sp>
      <p:sp>
        <p:nvSpPr>
          <p:cNvPr id="9" name="Shape 7"/>
          <p:cNvSpPr/>
          <p:nvPr/>
        </p:nvSpPr>
        <p:spPr>
          <a:xfrm>
            <a:off x="660390" y="4910623"/>
            <a:ext cx="6241307" cy="1022311"/>
          </a:xfrm>
          <a:prstGeom prst="rect">
            <a:avLst/>
          </a:prstGeom>
          <a:solidFill>
            <a:srgbClr val="EAF1ED"/>
          </a:solidFill>
          <a:ln/>
        </p:spPr>
      </p:sp>
      <p:sp>
        <p:nvSpPr>
          <p:cNvPr id="10" name="Text 8"/>
          <p:cNvSpPr/>
          <p:nvPr/>
        </p:nvSpPr>
        <p:spPr>
          <a:xfrm>
            <a:off x="939784" y="5164601"/>
            <a:ext cx="5682520" cy="514355"/>
          </a:xfrm>
          <a:prstGeom prst="rect">
            <a:avLst/>
          </a:prstGeom>
          <a:noFill/>
          <a:ln/>
        </p:spPr>
        <p:txBody>
          <a:bodyPr wrap="square" lIns="0" tIns="0" rIns="0" bIns="0" rtlCol="0" anchor="t">
            <a:normAutofit/>
          </a:bodyPr>
          <a:lstStyle/>
          <a:p>
            <a:pPr marL="0" indent="0" algn="l">
              <a:lnSpc>
                <a:spcPct val="125000"/>
              </a:lnSpc>
              <a:buNone/>
            </a:pPr>
            <a:r>
              <a:rPr lang="en-US" sz="1350" b="1" dirty="0">
                <a:solidFill>
                  <a:srgbClr val="000000"/>
                </a:solidFill>
                <a:latin typeface="IBM Plex Sans Bold" pitchFamily="34" charset="0"/>
                <a:ea typeface="IBM Plex Sans Bold" pitchFamily="34" charset="-122"/>
                <a:cs typeface="IBM Plex Sans Bold" pitchFamily="34" charset="-120"/>
              </a:rPr>
              <a:t>MOVIT aims to make everyday public transport decisions clearer, faster, and more informed.</a:t>
            </a:r>
            <a:endParaRPr lang="en-US" sz="1350" dirty="0"/>
          </a:p>
        </p:txBody>
      </p:sp>
      <p:sp>
        <p:nvSpPr>
          <p:cNvPr id="11" name="Text 9"/>
          <p:cNvSpPr/>
          <p:nvPr/>
        </p:nvSpPr>
        <p:spPr>
          <a:xfrm>
            <a:off x="660390" y="6161495"/>
            <a:ext cx="6241307" cy="335826"/>
          </a:xfrm>
          <a:prstGeom prst="rect">
            <a:avLst/>
          </a:prstGeom>
          <a:noFill/>
          <a:ln/>
        </p:spPr>
        <p:txBody>
          <a:bodyPr wrap="none" lIns="0" tIns="0" rIns="0" bIns="0" rtlCol="0" anchor="t"/>
          <a:lstStyle/>
          <a:p>
            <a:pPr marL="0" indent="0" algn="l">
              <a:lnSpc>
                <a:spcPct val="96000"/>
              </a:lnSpc>
              <a:buNone/>
            </a:pPr>
            <a:r>
              <a:rPr lang="en-US" sz="2300" kern="100" spc="-11" dirty="0">
                <a:solidFill>
                  <a:srgbClr val="173B5C"/>
                </a:solidFill>
                <a:latin typeface="Newsreader SemiBold" pitchFamily="34" charset="0"/>
                <a:ea typeface="Newsreader SemiBold" pitchFamily="34" charset="-122"/>
                <a:cs typeface="Newsreader SemiBold" pitchFamily="34" charset="-120"/>
              </a:rPr>
              <a:t>References</a:t>
            </a:r>
            <a:endParaRPr lang="en-US" sz="2300" dirty="0"/>
          </a:p>
        </p:txBody>
      </p:sp>
      <p:sp>
        <p:nvSpPr>
          <p:cNvPr id="12" name="Text 10"/>
          <p:cNvSpPr/>
          <p:nvPr/>
        </p:nvSpPr>
        <p:spPr>
          <a:xfrm>
            <a:off x="660390" y="6687789"/>
            <a:ext cx="6241307" cy="1237948"/>
          </a:xfrm>
          <a:prstGeom prst="rect">
            <a:avLst/>
          </a:prstGeom>
          <a:noFill/>
          <a:ln/>
        </p:spPr>
        <p:txBody>
          <a:bodyPr wrap="square" lIns="0" tIns="0" rIns="0" bIns="0" rtlCol="0" anchor="t">
            <a:normAutofit/>
          </a:bodyPr>
          <a:lstStyle/>
          <a:p>
            <a:pPr marL="243840" indent="-243840" algn="l">
              <a:lnSpc>
                <a:spcPct val="125000"/>
              </a:lnSpc>
              <a:buSzPct val="100000"/>
              <a:buFont typeface="+mj-lt"/>
              <a:buAutoNum type="arabicPeriod"/>
            </a:pPr>
            <a:r>
              <a:rPr lang="en-US" sz="1200" b="1" u="sng" dirty="0">
                <a:solidFill>
                  <a:srgbClr val="173B5C"/>
                </a:solidFill>
                <a:latin typeface="IBM Plex Sans Bold" pitchFamily="34" charset="0"/>
                <a:ea typeface="IBM Plex Sans Bold" pitchFamily="34" charset="-122"/>
                <a:cs typeface="IBM Plex Sans Bold" pitchFamily="34" charset="-120"/>
                <a:hlinkClick r:id="rId3">
                  <a:extLst>
                    <a:ext uri="{A12FA001-AC4F-418D-AE19-62706E023703}">
                      <ahyp:hlinkClr xmlns:ahyp="http://schemas.microsoft.com/office/drawing/2018/hyperlinkcolor" val="tx"/>
                    </a:ext>
                  </a:extLst>
                </a:hlinkClick>
              </a:rPr>
              <a:t>MOVIT Web Prototype</a:t>
            </a:r>
            <a:r>
              <a:rPr lang="en-US" sz="1200" dirty="0">
                <a:solidFill>
                  <a:srgbClr val="2A2E31"/>
                </a:solidFill>
                <a:latin typeface="IBM Plex Sans" pitchFamily="34" charset="0"/>
                <a:ea typeface="IBM Plex Sans" pitchFamily="34" charset="-122"/>
                <a:cs typeface="IBM Plex Sans" pitchFamily="34" charset="-120"/>
              </a:rPr>
              <a:t> — published prototype reference.</a:t>
            </a:r>
            <a:endParaRPr lang="en-US" sz="1200" dirty="0"/>
          </a:p>
          <a:p>
            <a:pPr marL="243840" indent="-243840" algn="l">
              <a:lnSpc>
                <a:spcPct val="125000"/>
              </a:lnSpc>
              <a:buSzPct val="100000"/>
              <a:buFont typeface="+mj-lt"/>
              <a:buAutoNum type="arabicPeriod" startAt="2"/>
            </a:pPr>
            <a:r>
              <a:rPr lang="en-US" sz="1200" dirty="0">
                <a:solidFill>
                  <a:srgbClr val="2A2E31"/>
                </a:solidFill>
                <a:latin typeface="IBM Plex Sans" pitchFamily="34" charset="0"/>
                <a:ea typeface="IBM Plex Sans" pitchFamily="34" charset="-122"/>
                <a:cs typeface="IBM Plex Sans" pitchFamily="34" charset="-120"/>
              </a:rPr>
              <a:t>Relevant public transportation and smart mobility references — to be added from the literature or institutional sources used by the project team.</a:t>
            </a:r>
            <a:endParaRPr lang="en-US" sz="1200" dirty="0"/>
          </a:p>
          <a:p>
            <a:pPr marL="243840" indent="-243840" algn="l">
              <a:lnSpc>
                <a:spcPct val="125000"/>
              </a:lnSpc>
              <a:buSzPct val="100000"/>
              <a:buFont typeface="+mj-lt"/>
              <a:buAutoNum type="arabicPeriod" startAt="3"/>
            </a:pPr>
            <a:r>
              <a:rPr lang="en-US" sz="1200" dirty="0">
                <a:solidFill>
                  <a:srgbClr val="2A2E31"/>
                </a:solidFill>
                <a:latin typeface="IBM Plex Sans" pitchFamily="34" charset="0"/>
                <a:ea typeface="IBM Plex Sans" pitchFamily="34" charset="-122"/>
                <a:cs typeface="IBM Plex Sans" pitchFamily="34" charset="-120"/>
              </a:rPr>
              <a:t>APIs, frameworks, libraries, or technical resources actually used in the implementation — to be completed by the project team; no unverified technologies are listed here.</a:t>
            </a:r>
            <a:endParaRPr lang="en-US" sz="1200" dirty="0"/>
          </a:p>
        </p:txBody>
      </p:sp>
      <p:sp>
        <p:nvSpPr>
          <p:cNvPr id="13" name="Shape 11"/>
          <p:cNvSpPr/>
          <p:nvPr/>
        </p:nvSpPr>
        <p:spPr>
          <a:xfrm>
            <a:off x="660390" y="9012665"/>
            <a:ext cx="2059512" cy="19693"/>
          </a:xfrm>
          <a:prstGeom prst="roundRect">
            <a:avLst>
              <a:gd name="adj" fmla="val 50000"/>
            </a:avLst>
          </a:prstGeom>
          <a:solidFill>
            <a:srgbClr val="C9C5BB"/>
          </a:solidFill>
          <a:ln/>
        </p:spPr>
      </p:sp>
      <p:sp>
        <p:nvSpPr>
          <p:cNvPr id="14" name="Text 12"/>
          <p:cNvSpPr/>
          <p:nvPr/>
        </p:nvSpPr>
        <p:spPr>
          <a:xfrm>
            <a:off x="471338" y="9241596"/>
            <a:ext cx="6619412" cy="228561"/>
          </a:xfrm>
          <a:prstGeom prst="rect">
            <a:avLst/>
          </a:prstGeom>
          <a:noFill/>
          <a:ln/>
        </p:spPr>
        <p:txBody>
          <a:bodyPr wrap="none" lIns="0" tIns="0" rIns="0" bIns="0" rtlCol="0" anchor="t"/>
          <a:lstStyle/>
          <a:p>
            <a:pPr marL="0" indent="0" algn="ctr">
              <a:lnSpc>
                <a:spcPct val="125000"/>
              </a:lnSpc>
              <a:buNone/>
            </a:pPr>
            <a:r>
              <a:rPr lang="en-US" sz="1200" dirty="0">
                <a:solidFill>
                  <a:srgbClr val="2A2E31"/>
                </a:solidFill>
                <a:latin typeface="IBM Plex Sans" pitchFamily="34" charset="0"/>
                <a:ea typeface="IBM Plex Sans" pitchFamily="34" charset="-122"/>
                <a:cs typeface="IBM Plex Sans" pitchFamily="34" charset="-120"/>
              </a:rPr>
              <a:t>THANK YOU</a:t>
            </a:r>
            <a:endParaRPr lang="en-US" sz="1200" dirty="0"/>
          </a:p>
        </p:txBody>
      </p:sp>
      <p:sp>
        <p:nvSpPr>
          <p:cNvPr id="15" name="Shape 13"/>
          <p:cNvSpPr/>
          <p:nvPr/>
        </p:nvSpPr>
        <p:spPr>
          <a:xfrm>
            <a:off x="0" y="10130548"/>
            <a:ext cx="7562088" cy="9477"/>
          </a:xfrm>
          <a:prstGeom prst="rect">
            <a:avLst/>
          </a:prstGeom>
          <a:solidFill>
            <a:srgbClr val="2A2E31">
              <a:alpha val="20000"/>
            </a:srgbClr>
          </a:solidFill>
          <a:ln/>
        </p:spPr>
      </p:sp>
      <p:sp>
        <p:nvSpPr>
          <p:cNvPr id="16" name="Text 14"/>
          <p:cNvSpPr/>
          <p:nvPr/>
        </p:nvSpPr>
        <p:spPr>
          <a:xfrm>
            <a:off x="660390" y="10324216"/>
            <a:ext cx="773194" cy="171390"/>
          </a:xfrm>
          <a:prstGeom prst="rect">
            <a:avLst/>
          </a:prstGeom>
          <a:noFill/>
          <a:ln/>
        </p:spPr>
        <p:txBody>
          <a:bodyPr wrap="none" lIns="0" tIns="0" rIns="0" bIns="0" rtlCol="0" anchor="ctr"/>
          <a:lstStyle/>
          <a:p>
            <a:pPr marL="0" indent="0" algn="l">
              <a:lnSpc>
                <a:spcPct val="125000"/>
              </a:lnSpc>
              <a:buNone/>
            </a:pPr>
            <a:r>
              <a:rPr lang="en-US" sz="900" kern="100" spc="68" dirty="0">
                <a:solidFill>
                  <a:srgbClr val="2A2E31"/>
                </a:solidFill>
                <a:latin typeface="IBM Plex Sans" pitchFamily="34" charset="0"/>
                <a:ea typeface="IBM Plex Sans" pitchFamily="34" charset="-122"/>
                <a:cs typeface="IBM Plex Sans" pitchFamily="34" charset="-120"/>
              </a:rPr>
              <a:t>MOVIT</a:t>
            </a:r>
            <a:endParaRPr lang="en-US" sz="900" dirty="0"/>
          </a:p>
        </p:txBody>
      </p:sp>
      <p:sp>
        <p:nvSpPr>
          <p:cNvPr id="17" name="Text 15"/>
          <p:cNvSpPr/>
          <p:nvPr/>
        </p:nvSpPr>
        <p:spPr>
          <a:xfrm>
            <a:off x="6747416" y="10324216"/>
            <a:ext cx="532386" cy="171390"/>
          </a:xfrm>
          <a:prstGeom prst="rect">
            <a:avLst/>
          </a:prstGeom>
          <a:noFill/>
          <a:ln/>
        </p:spPr>
        <p:txBody>
          <a:bodyPr wrap="none" lIns="0" tIns="0" rIns="0" bIns="0" rtlCol="0" anchor="ctr"/>
          <a:lstStyle/>
          <a:p>
            <a:pPr marL="0" indent="0" algn="l">
              <a:lnSpc>
                <a:spcPct val="125000"/>
              </a:lnSpc>
              <a:buNone/>
            </a:pPr>
            <a:r>
              <a:rPr lang="en-US" sz="900" kern="100" spc="68" dirty="0">
                <a:solidFill>
                  <a:srgbClr val="2A2E31"/>
                </a:solidFill>
                <a:latin typeface="IBM Plex Sans" pitchFamily="34" charset="0"/>
                <a:ea typeface="IBM Plex Sans" pitchFamily="34" charset="-122"/>
                <a:cs typeface="IBM Plex Sans"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173B5C"/>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1783</Words>
  <Application>Microsoft Office PowerPoint</Application>
  <PresentationFormat>Custom</PresentationFormat>
  <Paragraphs>259</Paragraphs>
  <Slides>10</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IBM Plex Sans</vt:lpstr>
      <vt:lpstr>IBM Plex Sans Bold</vt:lpstr>
      <vt:lpstr>Newsreader SemiBold</vt:lpstr>
      <vt:lpstr>IBM Plex Sans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Lalitha sri</dc:creator>
  <cp:lastModifiedBy>Lalitha sri</cp:lastModifiedBy>
  <cp:revision>3</cp:revision>
  <dcterms:created xsi:type="dcterms:W3CDTF">2026-10-07T05:56:07Z</dcterms:created>
  <dcterms:modified xsi:type="dcterms:W3CDTF">2026-10-07T06:24:52Z</dcterms:modified>
</cp:coreProperties>
</file>